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SemiBold"/>
      <p:regular r:id="rId201316"/>
    </p:embeddedFont>
    <p:embeddedFont>
      <p:font typeface="Inter Bold"/>
      <p:regular r:id="rId201317"/>
    </p:embeddedFont>
    <p:embeddedFont>
      <p:font typeface="Montserrat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objetivo da aula: compreender o ciclo de vida completo de tokens JWT em arquiteturas escaláveis. Destaque que o foco será o comportamento do servidor ao emitir, validar e revogar acessos.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aos arquitetos que tokens JWT não escondem dados, apenas garantem integridade. Nunca armazene segredos de negócio ou senhas dentro do payload.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visualmente a anatomia do token: o header indica como validar, o payload informa quem é o usuário e a assinatura prova que ninguém adulterou o conteúdo em trânsito.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o JWT é a consequência de uma autenticação bem-sucedida, nunca o mecanismo inicial de verificação de senha. As regras de governança e MFA ocorrem antes da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middleware atua como barreira de contenção. Se o token não for válido ou estiver ausente, a requisição nem sequer consome recursos das camadas internas da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com clareza: 401 exige que o cliente se autentique novamente; 403 avisa que o cliente já está autenticado, mas não tem direito de mexer naquele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Alertar sobre a vulnerabilidade clássica do ataque de algoritmo "none": se a biblioteca do servidor apenas lê o header sem forçar a lista branca configurada no código, qualquer um forja tokens válidos.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estratégia de defesa em profundidade: como o access token é sem estado, não é fácil revogá-lo instantaneamente; logo, torná-lo de curta duração reduz drasticamente a janela de abuso.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a técnica de detecção de reuso: se o token X foi rotacionado para Y, mas o atacante tenta usar X novamente, ambos o cliente legítimo e o atacante têm seus acessos revogados por precaução.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Conclua resumindo que a arquitetura JWT desacopla o esforço: a emissão pesada fica no IdP, enquanto os serviços downstream validam tokens localmente em alta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711200"/>
            <a:ext cx="1031055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760367"/>
            <a:ext cx="138664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AUTH-01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710874"/>
            <a:ext cx="6095848" cy="1651000"/>
          </a:xfrm>
          <a:prstGeom prst="rect">
            <a:avLst/>
          </a:prstGeom>
          <a:noFill/>
          <a:ln/>
        </p:spPr>
        <p:txBody>
          <a:bodyPr wrap="square" lIns="0" tIns="165096" rIns="0" bIns="165096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Autenticação JWT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11182" y="3208135"/>
            <a:ext cx="6095848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Padrões de segurança em APIs modernas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1182" y="4364057"/>
            <a:ext cx="60958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Como o servidor emite, valida, expira e renova tokens sem estado de sessão.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1182" y="6172299"/>
            <a:ext cx="6095848" cy="76200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9" name="Text 7"/>
          <p:cNvSpPr/>
          <p:nvPr/>
        </p:nvSpPr>
        <p:spPr>
          <a:xfrm>
            <a:off x="711182" y="5745659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Arquitetura de microsserviços e backend · Guia de execução técnica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C6C9D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1981200"/>
            <a:ext cx="4876678" cy="4876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19649" y="6019800"/>
            <a:ext cx="355591" cy="355600"/>
          </a:xfrm>
          <a:prstGeom prst="ellipse">
            <a:avLst/>
          </a:prstGeom>
          <a:solidFill>
            <a:srgbClr val="F5F7FD"/>
          </a:solidFill>
          <a:ln w="76200">
            <a:solidFill>
              <a:srgbClr val="E5E0D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58800"/>
            <a:ext cx="1111917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07967"/>
            <a:ext cx="14675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CONCEITO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31449"/>
            <a:ext cx="10972526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JWT resolve um problema de confiança entre requisições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98737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transição da sessão em memória centralizada para credenciais assinadas e verificáveis.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495352"/>
            <a:ext cx="5333867" cy="327183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2495352"/>
            <a:ext cx="76198" cy="3271838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8" name="Shape 6"/>
          <p:cNvSpPr/>
          <p:nvPr/>
        </p:nvSpPr>
        <p:spPr>
          <a:xfrm>
            <a:off x="939776" y="2698552"/>
            <a:ext cx="2042565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9" name="Text 7"/>
          <p:cNvSpPr/>
          <p:nvPr/>
        </p:nvSpPr>
        <p:spPr>
          <a:xfrm>
            <a:off x="1066773" y="2747719"/>
            <a:ext cx="239815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SESSÃO TRADICIONAL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9776" y="3002224"/>
            <a:ext cx="4749681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Estado compartilhado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9776" y="3456682"/>
            <a:ext cx="474968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servidor armazena identificadores em Redis ou banco relacional. Cada requisição exige leitura externa para checar permissões, gerando gargalo de latência e dependência de infraestrutura central.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2495352"/>
            <a:ext cx="5333867" cy="327183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8244" y="2495352"/>
            <a:ext cx="76198" cy="3271838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8435" y="2698552"/>
            <a:ext cx="1711977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15" name="Text 13"/>
          <p:cNvSpPr/>
          <p:nvPr/>
        </p:nvSpPr>
        <p:spPr>
          <a:xfrm>
            <a:off x="6705432" y="2747719"/>
            <a:ext cx="206756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JSON WEB TOKEN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78435" y="3002224"/>
            <a:ext cx="4749681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Autocontido e assinado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78435" y="3456682"/>
            <a:ext cx="474968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token transporta claims verificáveis na própria requisição. A assinatura matemática garante autenticidade e integridade sem consultar banco a cada chamada, permitindo escalabilidade horizontal imediata.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585" y="5925939"/>
            <a:ext cx="57149" cy="474861"/>
          </a:xfrm>
          <a:prstGeom prst="rect">
            <a:avLst/>
          </a:prstGeom>
          <a:solidFill>
            <a:srgbClr val="E0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844529" y="5982454"/>
            <a:ext cx="107375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Nota de segurança: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 JWT não é criptografia por padrão. O conteúdo em Base64URL é visível a quem interceptar; a assinatura protege apenas contra alteração não autorizada.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1229587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158517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ESTRUTURA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10972526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O que existe dentro de um JWT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4895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Três segmentos serializados em Base64URL e delimitados por pontos estruturais.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1946771"/>
            <a:ext cx="3454314" cy="76200"/>
          </a:xfrm>
          <a:prstGeom prst="rect">
            <a:avLst/>
          </a:prstGeom>
          <a:solidFill>
            <a:srgbClr val="E0F5FB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261691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08454" y="2226171"/>
            <a:ext cx="907432" cy="278705"/>
          </a:xfrm>
          <a:prstGeom prst="roundRect">
            <a:avLst>
              <a:gd name="adj" fmla="val 49999"/>
            </a:avLst>
          </a:prstGeom>
          <a:solidFill>
            <a:srgbClr val="E0F5FB"/>
          </a:solidFill>
          <a:ln/>
        </p:spPr>
      </p:sp>
      <p:sp>
        <p:nvSpPr>
          <p:cNvPr id="9" name="Text 7"/>
          <p:cNvSpPr/>
          <p:nvPr/>
        </p:nvSpPr>
        <p:spPr>
          <a:xfrm>
            <a:off x="1335451" y="2275338"/>
            <a:ext cx="12630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HEADER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8454" y="2529844"/>
            <a:ext cx="262685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Metadados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08454" y="2984302"/>
            <a:ext cx="262685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Define o tipo do token e o algoritmo usado.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8454" y="5511899"/>
            <a:ext cx="262685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Exemplo: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{"alg": "RS256", "typ": "JWT"}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8691" y="1946771"/>
            <a:ext cx="3454314" cy="7620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4" name="Text 12"/>
          <p:cNvSpPr/>
          <p:nvPr/>
        </p:nvSpPr>
        <p:spPr>
          <a:xfrm>
            <a:off x="4597285" y="2261691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03179" y="2226171"/>
            <a:ext cx="993353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16" name="Text 14"/>
          <p:cNvSpPr/>
          <p:nvPr/>
        </p:nvSpPr>
        <p:spPr>
          <a:xfrm>
            <a:off x="5130176" y="2275338"/>
            <a:ext cx="13489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PAYLOAD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3179" y="2529844"/>
            <a:ext cx="2591231" cy="685800"/>
          </a:xfrm>
          <a:prstGeom prst="rect">
            <a:avLst/>
          </a:prstGeom>
          <a:noFill/>
          <a:ln/>
        </p:spPr>
        <p:txBody>
          <a:bodyPr wrap="square" lIns="0" tIns="63498" rIns="0" bIns="634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Claims de identidade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03179" y="3263702"/>
            <a:ext cx="25912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Claims como sub, iss, aud, exp, iat e escopos.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03179" y="5511899"/>
            <a:ext cx="25912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Claims-chave: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sub, iss, aud, exp, iat, escopos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7797" y="1946771"/>
            <a:ext cx="3454314" cy="76200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1" name="Text 19"/>
          <p:cNvSpPr/>
          <p:nvPr/>
        </p:nvSpPr>
        <p:spPr>
          <a:xfrm>
            <a:off x="8356391" y="2261691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4666" y="2226171"/>
            <a:ext cx="1176308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23" name="Text 21"/>
          <p:cNvSpPr/>
          <p:nvPr/>
        </p:nvSpPr>
        <p:spPr>
          <a:xfrm>
            <a:off x="8891663" y="2275338"/>
            <a:ext cx="153189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SIGNATURE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64666" y="2529844"/>
            <a:ext cx="2588850" cy="685800"/>
          </a:xfrm>
          <a:prstGeom prst="rect">
            <a:avLst/>
          </a:prstGeom>
          <a:noFill/>
          <a:ln/>
        </p:spPr>
        <p:txBody>
          <a:bodyPr wrap="square" lIns="0" tIns="63498" rIns="0" bIns="634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Prova de integridade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64666" y="3263702"/>
            <a:ext cx="258885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Prova de que o conteúdo não foi alterado desde a emissão.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64666" y="5511899"/>
            <a:ext cx="258885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Cálculo: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spc="11" kern="100" dirty="0">
                <a:solidFill>
                  <a:srgbClr val="3D3E44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HMACSHA256(h + "." + p, secret)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5" y="62706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As três partes são codificadas em Base64URL e separadas por pontos. A cadeia final é transmitida no formato compacto 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header.payload.signature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 no cabeçalho HTTP.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984523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13401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EMISSÃO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10972526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O servidor começa autenticando as credenciais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4895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ciclo de concessão de identidade antes da geração dos artefatos criptográficos.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1946771"/>
            <a:ext cx="2514537" cy="4108648"/>
          </a:xfrm>
          <a:prstGeom prst="roundRect">
            <a:avLst>
              <a:gd name="adj" fmla="val 6364"/>
            </a:avLst>
          </a:prstGeom>
          <a:noFill/>
          <a:ln w="19050">
            <a:solidFill>
              <a:srgbClr val="C5C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169021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6430" y="2417961"/>
            <a:ext cx="2120847" cy="1905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9" name="Shape 7"/>
          <p:cNvSpPr/>
          <p:nvPr/>
        </p:nvSpPr>
        <p:spPr>
          <a:xfrm>
            <a:off x="806430" y="25436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10" name="Text 8"/>
          <p:cNvSpPr/>
          <p:nvPr/>
        </p:nvSpPr>
        <p:spPr>
          <a:xfrm>
            <a:off x="933427" y="25928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6430" y="2854399"/>
            <a:ext cx="212084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Canal seguro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6430" y="3259832"/>
            <a:ext cx="212084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Recebe login e senha via TLS/HTTPS, prevenindo interceptação do segredo em trânsito.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8914" y="1946771"/>
            <a:ext cx="2514537" cy="4108648"/>
          </a:xfrm>
          <a:prstGeom prst="roundRect">
            <a:avLst>
              <a:gd name="adj" fmla="val 6364"/>
            </a:avLst>
          </a:prstGeom>
          <a:noFill/>
          <a:ln w="19050">
            <a:solidFill>
              <a:srgbClr val="C5C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5759" y="2169021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25759" y="2417961"/>
            <a:ext cx="2120847" cy="1905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25759" y="25436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17" name="Text 15"/>
          <p:cNvSpPr/>
          <p:nvPr/>
        </p:nvSpPr>
        <p:spPr>
          <a:xfrm>
            <a:off x="3752756" y="25928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25759" y="2854399"/>
            <a:ext cx="212084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Hash seguro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25759" y="3259832"/>
            <a:ext cx="21208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Consulta o usuário e valida o segredo contra função lenta de derivação (Argon2id ou BCrypt).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8244" y="1946771"/>
            <a:ext cx="2514537" cy="4108648"/>
          </a:xfrm>
          <a:prstGeom prst="roundRect">
            <a:avLst>
              <a:gd name="adj" fmla="val 6364"/>
            </a:avLst>
          </a:prstGeom>
          <a:noFill/>
          <a:ln w="19050">
            <a:solidFill>
              <a:srgbClr val="C5C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5089" y="2169021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5089" y="2417961"/>
            <a:ext cx="2120847" cy="1905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5089" y="25436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2086" y="25928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5089" y="2854399"/>
            <a:ext cx="212084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Políticas ativas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45089" y="3259832"/>
            <a:ext cx="21208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Verifica segundo fator (MFA), conta ativa, limite de tentativas e alertas de anomalia.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67573" y="1946771"/>
            <a:ext cx="2514537" cy="4108648"/>
          </a:xfrm>
          <a:prstGeom prst="roundRect">
            <a:avLst>
              <a:gd name="adj" fmla="val 6364"/>
            </a:avLst>
          </a:prstGeom>
          <a:noFill/>
          <a:ln w="19050">
            <a:solidFill>
              <a:srgbClr val="C5C7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4418" y="2169021"/>
            <a:ext cx="8453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264418" y="2417961"/>
            <a:ext cx="2120847" cy="1905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9264418" y="25436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C4D5EF"/>
          </a:solidFill>
          <a:ln/>
        </p:spPr>
      </p:sp>
      <p:sp>
        <p:nvSpPr>
          <p:cNvPr id="31" name="Text 29"/>
          <p:cNvSpPr/>
          <p:nvPr/>
        </p:nvSpPr>
        <p:spPr>
          <a:xfrm>
            <a:off x="9391415" y="25928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64418" y="2854399"/>
            <a:ext cx="212084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Emissão do par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64418" y="3259832"/>
            <a:ext cx="212084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Gera o access token de curta duração e registra o refresh token opaco no repositório.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585" y="62198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Apenas credenciais aprovadas em todas as etapas de política recebem um token assinado pela chave privada da autoridade.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263" y="627063"/>
            <a:ext cx="962993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4" name="Text 1"/>
          <p:cNvSpPr/>
          <p:nvPr/>
        </p:nvSpPr>
        <p:spPr>
          <a:xfrm>
            <a:off x="5613260" y="676230"/>
            <a:ext cx="131858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PIPELINE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38154" y="676230"/>
            <a:ext cx="226282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MIDDLEWARE DE API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263" y="917174"/>
            <a:ext cx="6095848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O fluxo de execução passa pelo middleware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45009" y="2560638"/>
            <a:ext cx="63498" cy="492720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263" y="2370138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38361" y="2471738"/>
            <a:ext cx="6862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45049" y="2088629"/>
            <a:ext cx="553706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Recebe o token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045049" y="2494062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cliente envia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Authorization: Bearer &lt;token&gt;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; formato ausente ou inválido é rejeitado.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45009" y="3053358"/>
            <a:ext cx="63498" cy="985341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263" y="3355479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0701" y="3457079"/>
            <a:ext cx="721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45049" y="3073970"/>
            <a:ext cx="553706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Valida o token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045049" y="3479403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Confere assinatura, algoritmo permitido, emissor, audiência e expiração.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45009" y="4038699"/>
            <a:ext cx="63498" cy="736402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263" y="4216400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9312" y="4318000"/>
            <a:ext cx="7243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45049" y="4059311"/>
            <a:ext cx="553706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Carrega a identidade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045049" y="4464745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Insere a identidade no contexto da requisição.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45009" y="4775200"/>
            <a:ext cx="63498" cy="736501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263" y="4953000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6633" y="5054600"/>
            <a:ext cx="72983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45049" y="4795812"/>
            <a:ext cx="553706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Autoriza a ação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045049" y="5201245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rota autoriza a ação e responde.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45009" y="5511800"/>
            <a:ext cx="63498" cy="368300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8" name="Shape 25"/>
          <p:cNvSpPr/>
          <p:nvPr/>
        </p:nvSpPr>
        <p:spPr>
          <a:xfrm>
            <a:off x="5486263" y="5689600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1395" y="5791200"/>
            <a:ext cx="7202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45049" y="5532412"/>
            <a:ext cx="553706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Trata falhas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6045049" y="5937845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Falhas viram 401 ou 403.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1401231" cy="278705"/>
          </a:xfrm>
          <a:prstGeom prst="roundRect">
            <a:avLst>
              <a:gd name="adj" fmla="val 49999"/>
            </a:avLst>
          </a:prstGeom>
          <a:solidFill>
            <a:srgbClr val="E0F5FB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175682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GOVERNANÇA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10972526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Autenticação e autorização são decisões diferentes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4895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identidade responde quem é o requisitante; a autorização decide o que ele pode executar.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1972171"/>
            <a:ext cx="5257668" cy="408324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1972171"/>
            <a:ext cx="76198" cy="4083248"/>
          </a:xfrm>
          <a:prstGeom prst="rect">
            <a:avLst/>
          </a:prstGeom>
          <a:solidFill>
            <a:srgbClr val="E0F5FB"/>
          </a:solidFill>
          <a:ln/>
        </p:spPr>
      </p:sp>
      <p:sp>
        <p:nvSpPr>
          <p:cNvPr id="8" name="Shape 6"/>
          <p:cNvSpPr/>
          <p:nvPr/>
        </p:nvSpPr>
        <p:spPr>
          <a:xfrm>
            <a:off x="965176" y="2200771"/>
            <a:ext cx="2395279" cy="278705"/>
          </a:xfrm>
          <a:prstGeom prst="roundRect">
            <a:avLst>
              <a:gd name="adj" fmla="val 49999"/>
            </a:avLst>
          </a:prstGeom>
          <a:solidFill>
            <a:srgbClr val="E0F5FB"/>
          </a:solidFill>
          <a:ln/>
        </p:spPr>
      </p:sp>
      <p:sp>
        <p:nvSpPr>
          <p:cNvPr id="9" name="Text 7"/>
          <p:cNvSpPr/>
          <p:nvPr/>
        </p:nvSpPr>
        <p:spPr>
          <a:xfrm>
            <a:off x="1092173" y="2249938"/>
            <a:ext cx="275087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HTTP 401 UNAUTHORIZED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5176" y="2504444"/>
            <a:ext cx="4622684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Falha de autenticação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5176" y="2958902"/>
            <a:ext cx="49020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servidor não reconhece a identidade apresentada.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5176" y="3312517"/>
            <a:ext cx="4622684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Token ausente no cabeçalho Authorization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Assinatura criptográfica inválida ou violada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Token expirado no claim exp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2" y="1972171"/>
            <a:ext cx="5257668" cy="408324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4442" y="1972171"/>
            <a:ext cx="76198" cy="4083248"/>
          </a:xfrm>
          <a:prstGeom prst="rect">
            <a:avLst/>
          </a:prstGeom>
          <a:solidFill>
            <a:srgbClr val="C4D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0033" y="2200771"/>
            <a:ext cx="2037704" cy="278705"/>
          </a:xfrm>
          <a:prstGeom prst="roundRect">
            <a:avLst>
              <a:gd name="adj" fmla="val 49999"/>
            </a:avLst>
          </a:prstGeom>
          <a:solidFill>
            <a:srgbClr val="C4D5EF"/>
          </a:solidFill>
          <a:ln/>
        </p:spPr>
      </p:sp>
      <p:sp>
        <p:nvSpPr>
          <p:cNvPr id="16" name="Text 14"/>
          <p:cNvSpPr/>
          <p:nvPr/>
        </p:nvSpPr>
        <p:spPr>
          <a:xfrm>
            <a:off x="6807030" y="2249938"/>
            <a:ext cx="239329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HTTP 403 FORBIDDEN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80033" y="2504444"/>
            <a:ext cx="4622684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Falha de autorização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80033" y="2958902"/>
            <a:ext cx="4622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identidade foi confirmada, mas o acesso à ação é negado.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80033" y="3561358"/>
            <a:ext cx="4622684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Falta de escopo exigido (scope: write)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Papel incompatível com o recurso requisitado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Tenant/organização divergente do registro acessado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62198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Claims como scope e role aceleram a triagem, mas regras de domínio específicas devem ser checadas pelo serviço de negócio.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1873203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222879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CHECKLIST CRÍTICO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10972526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Validação do token é uma cadeia de controles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4895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Cada elo do processo precisa ser satisfeito para que o token seja considerado legítimo.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5532" y="2954834"/>
            <a:ext cx="63498" cy="1033463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2777034"/>
            <a:ext cx="355591" cy="3556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8984" y="2865934"/>
            <a:ext cx="6862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17572" y="2022971"/>
            <a:ext cx="1014982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10" name="Text 8"/>
          <p:cNvSpPr/>
          <p:nvPr/>
        </p:nvSpPr>
        <p:spPr>
          <a:xfrm>
            <a:off x="1244569" y="2072138"/>
            <a:ext cx="13705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ETAPA 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7572" y="2333699"/>
            <a:ext cx="47496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Lista branca de algoritmos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17572" y="2739132"/>
            <a:ext cx="47496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Exigir explicitamente algoritmos aceitos (ex: RS256). Nunca confiar no campo "alg" do cabeçalho nem aceitar "none".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5532" y="3988395"/>
            <a:ext cx="63498" cy="1033463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4844058"/>
            <a:ext cx="355591" cy="3556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323" y="4932958"/>
            <a:ext cx="721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7572" y="4089995"/>
            <a:ext cx="1014982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569" y="4139163"/>
            <a:ext cx="13705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ETAPA 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7572" y="4400723"/>
            <a:ext cx="47496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Checagem da assinatura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7572" y="4806156"/>
            <a:ext cx="47496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Conferir com o segredo correto ou a chave pública correspondente ao kid emitido pelo Identity Provider.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0389" y="2954834"/>
            <a:ext cx="63498" cy="1033463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24442" y="2777034"/>
            <a:ext cx="355591" cy="3556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791" y="2865934"/>
            <a:ext cx="7243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32429" y="2022971"/>
            <a:ext cx="1014982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24" name="Text 22"/>
          <p:cNvSpPr/>
          <p:nvPr/>
        </p:nvSpPr>
        <p:spPr>
          <a:xfrm>
            <a:off x="6959426" y="2072138"/>
            <a:ext cx="13705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ETAPA 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2429" y="2333699"/>
            <a:ext cx="47496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Verificação de emissor e audiência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32429" y="2739132"/>
            <a:ext cx="47496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Garantir que o iss pertença ao IdP confiável e o aud corresponda estritamente à sua API receptora.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70389" y="3988395"/>
            <a:ext cx="63498" cy="1033463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4442" y="4844058"/>
            <a:ext cx="355591" cy="3556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5E0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2112" y="4932958"/>
            <a:ext cx="72983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74767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32429" y="4089995"/>
            <a:ext cx="1014982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31" name="Text 29"/>
          <p:cNvSpPr/>
          <p:nvPr/>
        </p:nvSpPr>
        <p:spPr>
          <a:xfrm>
            <a:off x="6959426" y="4139163"/>
            <a:ext cx="13705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ETAPA 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2429" y="4400723"/>
            <a:ext cx="47496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Janela temporal e sincronia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32429" y="4806156"/>
            <a:ext cx="47496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Conferir exp (expiração) e nbf (não antes de), aplicando margem mínima de tolerância de relógio (skew).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585" y="62198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quebra de qualquer validação nesta cadeia resulta em descarte imediato da requisição.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1629330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198492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TEMPORALIDADE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6146646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Expiração limita a janela de exposição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936571"/>
            <a:ext cx="614664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duração do token define o equilíbrio entre conveniência operacional e risco de vazamento.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78212"/>
            <a:ext cx="6146646" cy="12065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4037211"/>
            <a:ext cx="2920927" cy="13498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5" y="4037211"/>
            <a:ext cx="57149" cy="1349871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9" name="Text 6"/>
          <p:cNvSpPr/>
          <p:nvPr/>
        </p:nvSpPr>
        <p:spPr>
          <a:xfrm>
            <a:off x="844529" y="4097808"/>
            <a:ext cx="250818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Access Token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4529" y="4503241"/>
            <a:ext cx="250818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Vida útil reduzida. Se interceptado, perde o efeito em poucos minutos sem exigir blacklist pesada no servidor.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35304" y="4037211"/>
            <a:ext cx="2920927" cy="13498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3835304" y="4037211"/>
            <a:ext cx="57149" cy="1349871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13" name="Text 10"/>
          <p:cNvSpPr/>
          <p:nvPr/>
        </p:nvSpPr>
        <p:spPr>
          <a:xfrm>
            <a:off x="4070248" y="4097808"/>
            <a:ext cx="250818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Refresh Token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070248" y="4503241"/>
            <a:ext cx="250818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Permanece em armazenamento seguro (cookie HttpOnly/Secure). Exige rotação automática a cada uso para conter reuso.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585" y="6109454"/>
            <a:ext cx="614664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Ajuste os tempos à sensibilidade do negócio: finanças exigem minutos; portais de conteúdo admitem prazos maiores.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4876678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1964482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557167"/>
            <a:ext cx="23200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RENOVAÇÃO SEGURA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80649"/>
            <a:ext cx="10972526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Renovação não significa aceitar um token vencido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4895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troca controlada de credenciais com rotação e detecção de anomalias.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1972171"/>
            <a:ext cx="2514537" cy="76200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7" name="Shape 5"/>
          <p:cNvSpPr/>
          <p:nvPr/>
        </p:nvSpPr>
        <p:spPr>
          <a:xfrm>
            <a:off x="787380" y="22515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8" name="Text 6"/>
          <p:cNvSpPr/>
          <p:nvPr/>
        </p:nvSpPr>
        <p:spPr>
          <a:xfrm>
            <a:off x="914377" y="23007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7380" y="2562299"/>
            <a:ext cx="2158946" cy="582811"/>
          </a:xfrm>
          <a:prstGeom prst="rect">
            <a:avLst/>
          </a:prstGeom>
          <a:noFill/>
          <a:ln/>
        </p:spPr>
        <p:txBody>
          <a:bodyPr wrap="square" lIns="0" tIns="53974" rIns="0" bIns="5397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Solicitação ao endpoint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380" y="3205163"/>
            <a:ext cx="21589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cliente envia o refresh token a uma rota isolada de autenticação (/auth/refresh), nunca aos endpoints de API comuns.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8914" y="1972171"/>
            <a:ext cx="2514537" cy="76200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6710" y="22515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E5E0DF"/>
          </a:solidFill>
          <a:ln/>
        </p:spPr>
      </p:sp>
      <p:sp>
        <p:nvSpPr>
          <p:cNvPr id="13" name="Text 11"/>
          <p:cNvSpPr/>
          <p:nvPr/>
        </p:nvSpPr>
        <p:spPr>
          <a:xfrm>
            <a:off x="3733707" y="23007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6710" y="2562299"/>
            <a:ext cx="2158946" cy="582811"/>
          </a:xfrm>
          <a:prstGeom prst="rect">
            <a:avLst/>
          </a:prstGeom>
          <a:noFill/>
          <a:ln/>
        </p:spPr>
        <p:txBody>
          <a:bodyPr wrap="square" lIns="0" tIns="53974" rIns="0" bIns="5397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Validação de estado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06710" y="3205163"/>
            <a:ext cx="21589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O servidor confere assinatura, data limite, vínculo com a conta e ausência na lista de revogação de sessões.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8244" y="1972171"/>
            <a:ext cx="2514537" cy="76200"/>
          </a:xfrm>
          <a:prstGeom prst="rect">
            <a:avLst/>
          </a:prstGeom>
          <a:solidFill>
            <a:srgbClr val="C4D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6039" y="22515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C4D5EF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36" y="23007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6039" y="2562299"/>
            <a:ext cx="215894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Rotação de par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6039" y="2967732"/>
            <a:ext cx="21589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Emite um novo access token e invalida o refresh token anterior, devolvendo um novo refresh token atualizado.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67573" y="1972171"/>
            <a:ext cx="2514537" cy="76200"/>
          </a:xfrm>
          <a:prstGeom prst="rect">
            <a:avLst/>
          </a:prstGeom>
          <a:solidFill>
            <a:srgbClr val="E0F5FB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5369" y="2251571"/>
            <a:ext cx="1048518" cy="278705"/>
          </a:xfrm>
          <a:prstGeom prst="roundRect">
            <a:avLst>
              <a:gd name="adj" fmla="val 49999"/>
            </a:avLst>
          </a:prstGeom>
          <a:solidFill>
            <a:srgbClr val="E0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366" y="2300738"/>
            <a:ext cx="14041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PASSO 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45369" y="2562299"/>
            <a:ext cx="215894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Alerta de reuso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45369" y="2967732"/>
            <a:ext cx="2158946" cy="97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Se um refresh token já consumido for reenviado, o sistema assume roubo, revoga toda a família de tokens e força novo login.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585" y="62198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rotação contínua (Refresh Token Rotation) impede que um token vazado seja reutilizado indefinidamente sem disparar alarmes.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F5F7FD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177800"/>
            <a:ext cx="1405498" cy="278705"/>
          </a:xfrm>
          <a:prstGeom prst="roundRect">
            <a:avLst>
              <a:gd name="adj" fmla="val 49999"/>
            </a:avLst>
          </a:prstGeom>
          <a:solidFill>
            <a:srgbClr val="C6C9DC"/>
          </a:solidFill>
          <a:ln/>
        </p:spPr>
      </p:sp>
      <p:sp>
        <p:nvSpPr>
          <p:cNvPr id="4" name="Text 2"/>
          <p:cNvSpPr/>
          <p:nvPr/>
        </p:nvSpPr>
        <p:spPr>
          <a:xfrm>
            <a:off x="736582" y="226967"/>
            <a:ext cx="176108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ARQUITETURA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585" y="450449"/>
            <a:ext cx="6654634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Componentes que sustentam a arquitetura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585" y="1606371"/>
            <a:ext cx="665463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 distribuição clara de responsabilidades entre os serviços do ecossistema.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331" y="2969518"/>
            <a:ext cx="63498" cy="621506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2676743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C6C9D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684" y="2714843"/>
            <a:ext cx="304792" cy="30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8371" y="2720255"/>
            <a:ext cx="6095848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Identity Provider (IdP)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68371" y="3125688"/>
            <a:ext cx="609584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Autentica credenciais, processa MFA e assina os tokens criptográficos com chave privada.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331" y="3591024"/>
            <a:ext cx="63498" cy="1243013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5" y="3919756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C6C9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4" y="3957856"/>
            <a:ext cx="304792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68371" y="3963268"/>
            <a:ext cx="6095848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API Gateway / Middleware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168371" y="4368701"/>
            <a:ext cx="609584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Valida tokens na borda com chave pública e encaminha a identidade aos microsserviços.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68331" y="4834037"/>
            <a:ext cx="63498" cy="719237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585" y="5162768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C6C9D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4" y="5200868"/>
            <a:ext cx="304792" cy="304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68371" y="5206280"/>
            <a:ext cx="6095848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Key Store &amp; Revocation Store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168371" y="5611713"/>
            <a:ext cx="609584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0"/>
              </a:rPr>
              <a:t>Gerencia o JWKS (conjunto de chaves com rotação) e monitora a lista de refresh tokens revogados.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09585" y="6431359"/>
            <a:ext cx="71118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Arquitetura resiliente: validação distribuída, emissão centralizada.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F5F7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448766"/>
            <a:ext cx="4470288" cy="5960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2026-10-28T16:37:38Z</dcterms:created>
  <dcterms:modified xsi:type="dcterms:W3CDTF">2026-10-28T16:37:38Z</dcterms:modified>
</cp:coreProperties>
</file>