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0" r:id="rId7"/>
    <p:sldId id="261" r:id="rId8"/>
    <p:sldId id="258" r:id="rId9"/>
    <p:sldId id="259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61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15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35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80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73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90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055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2003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94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05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2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484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4373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522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1303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74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56ADC-957A-42C7-9610-10ABEEFEDFF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B2D13C1-E8A4-4F39-8BCC-AFE08B4600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92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Orientada à Objetos (POO)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Interfaces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4539104"/>
            <a:ext cx="1438275" cy="33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40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POO: Interfaces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Contrato que define os métodos que uma classe DEVE implementar;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Não possui implementação;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Usado para padronização e consistência;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4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2409"/>
          </a:xfrm>
        </p:spPr>
        <p:txBody>
          <a:bodyPr/>
          <a:lstStyle/>
          <a:p>
            <a:r>
              <a:rPr lang="pt-BR" dirty="0"/>
              <a:t>POO: Características das Interfaces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B1947812-4D26-EE4A-1674-B6929FDA1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133600"/>
            <a:ext cx="8915400" cy="3778250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Não podem ser instanciadas;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Não possuem atributos;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São ignoradas pelo compilador / interpretador;</a:t>
            </a:r>
          </a:p>
        </p:txBody>
      </p:sp>
    </p:spTree>
    <p:extLst>
      <p:ext uri="{BB962C8B-B14F-4D97-AF65-F5344CB8AC3E}">
        <p14:creationId xmlns:p14="http://schemas.microsoft.com/office/powerpoint/2010/main" val="46321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pt-BR"/>
              <a:t>POO: Interface X Classe Abstrata</a:t>
            </a:r>
            <a:endParaRPr lang="pt-BR" dirty="0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2D222586-76C3-4BB6-ADCE-A273211194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88221"/>
              </p:ext>
            </p:extLst>
          </p:nvPr>
        </p:nvGraphicFramePr>
        <p:xfrm>
          <a:off x="565265" y="2257452"/>
          <a:ext cx="10773293" cy="358500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406356">
                  <a:extLst>
                    <a:ext uri="{9D8B030D-6E8A-4147-A177-3AD203B41FA5}">
                      <a16:colId xmlns:a16="http://schemas.microsoft.com/office/drawing/2014/main" val="4063520689"/>
                    </a:ext>
                  </a:extLst>
                </a:gridCol>
                <a:gridCol w="3790050">
                  <a:extLst>
                    <a:ext uri="{9D8B030D-6E8A-4147-A177-3AD203B41FA5}">
                      <a16:colId xmlns:a16="http://schemas.microsoft.com/office/drawing/2014/main" val="4284929935"/>
                    </a:ext>
                  </a:extLst>
                </a:gridCol>
                <a:gridCol w="3576887">
                  <a:extLst>
                    <a:ext uri="{9D8B030D-6E8A-4147-A177-3AD203B41FA5}">
                      <a16:colId xmlns:a16="http://schemas.microsoft.com/office/drawing/2014/main" val="1735457154"/>
                    </a:ext>
                  </a:extLst>
                </a:gridCol>
              </a:tblGrid>
              <a:tr h="563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b="1" dirty="0"/>
                        <a:t>Característica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b="1" dirty="0"/>
                        <a:t>Interface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b="1" dirty="0"/>
                        <a:t>Classe Abstrata</a:t>
                      </a:r>
                    </a:p>
                  </a:txBody>
                  <a:tcPr marL="128036" marR="128036" marT="64018" marB="64018" anchor="ctr"/>
                </a:tc>
                <a:extLst>
                  <a:ext uri="{0D108BD9-81ED-4DB2-BD59-A6C34878D82A}">
                    <a16:rowId xmlns:a16="http://schemas.microsoft.com/office/drawing/2014/main" val="3849425922"/>
                  </a:ext>
                </a:extLst>
              </a:tr>
              <a:tr h="947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Métodos com corpo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Não (em geral)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Sim</a:t>
                      </a:r>
                    </a:p>
                  </a:txBody>
                  <a:tcPr marL="128036" marR="128036" marT="64018" marB="64018" anchor="ctr"/>
                </a:tc>
                <a:extLst>
                  <a:ext uri="{0D108BD9-81ED-4DB2-BD59-A6C34878D82A}">
                    <a16:rowId xmlns:a16="http://schemas.microsoft.com/office/drawing/2014/main" val="2468673702"/>
                  </a:ext>
                </a:extLst>
              </a:tr>
              <a:tr h="563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Atributos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Apenas constantes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Variáveis normais</a:t>
                      </a:r>
                    </a:p>
                  </a:txBody>
                  <a:tcPr marL="128036" marR="128036" marT="64018" marB="64018" anchor="ctr"/>
                </a:tc>
                <a:extLst>
                  <a:ext uri="{0D108BD9-81ED-4DB2-BD59-A6C34878D82A}">
                    <a16:rowId xmlns:a16="http://schemas.microsoft.com/office/drawing/2014/main" val="2330618251"/>
                  </a:ext>
                </a:extLst>
              </a:tr>
              <a:tr h="947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Herança múltipla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Sim (interfaces)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Não (uma só classe base)</a:t>
                      </a:r>
                    </a:p>
                  </a:txBody>
                  <a:tcPr marL="128036" marR="128036" marT="64018" marB="64018" anchor="ctr"/>
                </a:tc>
                <a:extLst>
                  <a:ext uri="{0D108BD9-81ED-4DB2-BD59-A6C34878D82A}">
                    <a16:rowId xmlns:a16="http://schemas.microsoft.com/office/drawing/2014/main" val="4293177694"/>
                  </a:ext>
                </a:extLst>
              </a:tr>
              <a:tr h="563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Uso principal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/>
                        <a:t>Contrato</a:t>
                      </a:r>
                    </a:p>
                  </a:txBody>
                  <a:tcPr marL="128036" marR="128036" marT="64018" marB="640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dirty="0"/>
                        <a:t>Herança parcial</a:t>
                      </a:r>
                    </a:p>
                  </a:txBody>
                  <a:tcPr marL="128036" marR="128036" marT="64018" marB="64018" anchor="ctr"/>
                </a:tc>
                <a:extLst>
                  <a:ext uri="{0D108BD9-81ED-4DB2-BD59-A6C34878D82A}">
                    <a16:rowId xmlns:a16="http://schemas.microsoft.com/office/drawing/2014/main" val="1156911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42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2409"/>
          </a:xfrm>
        </p:spPr>
        <p:txBody>
          <a:bodyPr/>
          <a:lstStyle/>
          <a:p>
            <a:r>
              <a:rPr lang="pt-BR" dirty="0"/>
              <a:t>POO: Pra quê usar Interfaces?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328179C-8BAF-D0D9-B86F-EE3188336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133600"/>
            <a:ext cx="8915400" cy="377825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Promove polimorfismo;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Favorece o Desenvolvimento Orientado à Contratos;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Facilita a testabilidade;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Aumenta a flexibilidade e reutilização do código.</a:t>
            </a:r>
          </a:p>
        </p:txBody>
      </p:sp>
    </p:spTree>
    <p:extLst>
      <p:ext uri="{BB962C8B-B14F-4D97-AF65-F5344CB8AC3E}">
        <p14:creationId xmlns:p14="http://schemas.microsoft.com/office/powerpoint/2010/main" val="57632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2409"/>
          </a:xfrm>
        </p:spPr>
        <p:txBody>
          <a:bodyPr/>
          <a:lstStyle/>
          <a:p>
            <a:r>
              <a:rPr lang="pt-BR" dirty="0"/>
              <a:t>POO: Boas práticas com interfaces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3F5124B-4689-DC27-7CBA-3402C21DA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Use interfaces para definir comportamentos genéricos;</a:t>
            </a:r>
          </a:p>
          <a:p>
            <a:endParaRPr lang="pt-BR" sz="2400" dirty="0"/>
          </a:p>
          <a:p>
            <a:r>
              <a:rPr lang="pt-BR" sz="2400" dirty="0"/>
              <a:t>Separe responsabilidades em interfaces específicas;</a:t>
            </a:r>
          </a:p>
          <a:p>
            <a:endParaRPr lang="pt-BR" sz="2400" dirty="0"/>
          </a:p>
          <a:p>
            <a:r>
              <a:rPr lang="pt-BR" sz="2400" dirty="0"/>
              <a:t>Evite interfaces com muitos métodos;</a:t>
            </a:r>
          </a:p>
        </p:txBody>
      </p:sp>
    </p:spTree>
    <p:extLst>
      <p:ext uri="{BB962C8B-B14F-4D97-AF65-F5344CB8AC3E}">
        <p14:creationId xmlns:p14="http://schemas.microsoft.com/office/powerpoint/2010/main" val="149423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POO: Interfaces, Conclusão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05304"/>
            <a:ext cx="1247775" cy="291169"/>
          </a:xfrm>
          <a:prstGeom prst="rect">
            <a:avLst/>
          </a:prstGeom>
        </p:spPr>
      </p:pic>
      <p:sp>
        <p:nvSpPr>
          <p:cNvPr id="8" name="Espaço Reservado para Conteúdo 1">
            <a:extLst>
              <a:ext uri="{FF2B5EF4-FFF2-40B4-BE49-F238E27FC236}">
                <a16:creationId xmlns:a16="http://schemas.microsoft.com/office/drawing/2014/main" id="{EED8806F-067B-8635-C916-0A200E174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133600"/>
            <a:ext cx="8915400" cy="3778250"/>
          </a:xfrm>
        </p:spPr>
        <p:txBody>
          <a:bodyPr>
            <a:normAutofit/>
          </a:bodyPr>
          <a:lstStyle/>
          <a:p>
            <a:r>
              <a:rPr lang="pt-BR" sz="2800" dirty="0"/>
              <a:t>Interfaces são essenciais na POO moderna;</a:t>
            </a:r>
          </a:p>
          <a:p>
            <a:endParaRPr lang="pt-BR" sz="2800" dirty="0"/>
          </a:p>
          <a:p>
            <a:r>
              <a:rPr lang="pt-BR" sz="2800" dirty="0"/>
              <a:t>Ajudam a organizar, escalar e manter o código;</a:t>
            </a:r>
          </a:p>
          <a:p>
            <a:endParaRPr lang="pt-BR" sz="2800" dirty="0"/>
          </a:p>
          <a:p>
            <a:r>
              <a:rPr lang="pt-BR" sz="2800" dirty="0"/>
              <a:t>Devem ser usadas com planejamento e clareza.</a:t>
            </a:r>
          </a:p>
        </p:txBody>
      </p:sp>
    </p:spTree>
    <p:extLst>
      <p:ext uri="{BB962C8B-B14F-4D97-AF65-F5344CB8AC3E}">
        <p14:creationId xmlns:p14="http://schemas.microsoft.com/office/powerpoint/2010/main" val="3131371936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Personalizada 1">
      <a:dk1>
        <a:sysClr val="windowText" lastClr="000000"/>
      </a:dk1>
      <a:lt1>
        <a:sysClr val="window" lastClr="FFFFFF"/>
      </a:lt1>
      <a:dk2>
        <a:srgbClr val="FF0000"/>
      </a:dk2>
      <a:lt2>
        <a:srgbClr val="FFFFFF"/>
      </a:lt2>
      <a:accent1>
        <a:srgbClr val="FF0000"/>
      </a:accent1>
      <a:accent2>
        <a:srgbClr val="D34817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683b45-61c4-4cdf-aa44-14cf457257f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28F3DA7C743224485A53C1B58CAF4DF" ma:contentTypeVersion="9" ma:contentTypeDescription="Crie um novo documento." ma:contentTypeScope="" ma:versionID="768895af51490883b819bf09e73dcd8e">
  <xsd:schema xmlns:xsd="http://www.w3.org/2001/XMLSchema" xmlns:xs="http://www.w3.org/2001/XMLSchema" xmlns:p="http://schemas.microsoft.com/office/2006/metadata/properties" xmlns:ns3="62683b45-61c4-4cdf-aa44-14cf457257fc" targetNamespace="http://schemas.microsoft.com/office/2006/metadata/properties" ma:root="true" ma:fieldsID="4e127245a2c3889ebd843725c3d98c8f" ns3:_="">
    <xsd:import namespace="62683b45-61c4-4cdf-aa44-14cf457257f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683b45-61c4-4cdf-aa44-14cf457257f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6D689A-9CCD-41F6-B4F6-5172EFF6E88B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62683b45-61c4-4cdf-aa44-14cf457257fc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10D82A3-6034-440C-908A-04CA86C123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540969-D0E6-4A27-BACF-AC046FBB3A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683b45-61c4-4cdf-aa44-14cf457257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193</TotalTime>
  <Words>179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Cacho</vt:lpstr>
      <vt:lpstr>Programação Orientada à Objetos (POO)</vt:lpstr>
      <vt:lpstr>POO: Interfaces</vt:lpstr>
      <vt:lpstr>POO: Características das Interfaces</vt:lpstr>
      <vt:lpstr>POO: Interface X Classe Abstrata</vt:lpstr>
      <vt:lpstr>POO: Pra quê usar Interfaces?</vt:lpstr>
      <vt:lpstr>POO: Boas práticas com interfaces</vt:lpstr>
      <vt:lpstr>POO: Interfaces, Conclusão</vt:lpstr>
    </vt:vector>
  </TitlesOfParts>
  <Company>SESI SENAI 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à Objetos</dc:title>
  <dc:creator>Alexandre Vinicius Dias Simoes Brito</dc:creator>
  <cp:lastModifiedBy>CFP 662 Escola SENAI - Matao</cp:lastModifiedBy>
  <cp:revision>10</cp:revision>
  <dcterms:created xsi:type="dcterms:W3CDTF">2025-09-05T13:56:40Z</dcterms:created>
  <dcterms:modified xsi:type="dcterms:W3CDTF">2025-09-22T11:03:00Z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0x010100E28F3DA7C743224485A53C1B58CAF4DF</vt:lpwstr>
  </property>
</Properties>
</file>