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42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74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36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49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973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11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749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6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378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90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7574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426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971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029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558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46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1830F-F302-414B-8C0C-F747259574E1}" type="datetimeFigureOut">
              <a:rPr lang="pt-BR" smtClean="0"/>
              <a:t>10/09/2025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28447C4-15D7-4AB5-9BC4-8E5318F80F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42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fe.fazenda.gov.br/portal/listaConteudo.aspx?tipoConteudo=ndIjl+iEFdE=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BCD: Dicionário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 smtClean="0"/>
              <a:t>Organização e Padronização das Informações num Banco de Dados</a:t>
            </a:r>
            <a:endParaRPr lang="pt-BR" sz="2000" dirty="0"/>
          </a:p>
        </p:txBody>
      </p:sp>
      <p:pic>
        <p:nvPicPr>
          <p:cNvPr id="1026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17" y="4545696"/>
            <a:ext cx="1353911" cy="34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13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um Dicionário de Dados?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000" dirty="0"/>
              <a:t>É um repositório de informações sobre os dados do banco de dados</a:t>
            </a:r>
            <a:r>
              <a:rPr lang="pt-BR" sz="2000" dirty="0" smtClean="0"/>
              <a:t>.</a:t>
            </a:r>
          </a:p>
          <a:p>
            <a:endParaRPr lang="pt-BR" sz="2000" dirty="0" smtClean="0"/>
          </a:p>
          <a:p>
            <a:r>
              <a:rPr lang="pt-BR" sz="2000" dirty="0" smtClean="0"/>
              <a:t>Também </a:t>
            </a:r>
            <a:r>
              <a:rPr lang="pt-BR" sz="2000" dirty="0"/>
              <a:t>chamado de </a:t>
            </a:r>
            <a:r>
              <a:rPr lang="pt-BR" sz="2000" dirty="0" err="1"/>
              <a:t>metadados</a:t>
            </a:r>
            <a:r>
              <a:rPr lang="pt-BR" sz="2000" dirty="0"/>
              <a:t> (dados sobre dados</a:t>
            </a:r>
            <a:r>
              <a:rPr lang="pt-BR" sz="2000" dirty="0" smtClean="0"/>
              <a:t>);</a:t>
            </a:r>
          </a:p>
          <a:p>
            <a:endParaRPr lang="pt-BR" sz="2000" dirty="0" smtClean="0"/>
          </a:p>
          <a:p>
            <a:r>
              <a:rPr lang="pt-BR" sz="2000" dirty="0" smtClean="0"/>
              <a:t>Funciona </a:t>
            </a:r>
            <a:r>
              <a:rPr lang="pt-BR" sz="2000" dirty="0"/>
              <a:t>como um manual que explica</a:t>
            </a:r>
            <a:r>
              <a:rPr lang="pt-BR" sz="2000" dirty="0" smtClean="0"/>
              <a:t>:</a:t>
            </a:r>
          </a:p>
          <a:p>
            <a:pPr lvl="1"/>
            <a:r>
              <a:rPr lang="pt-BR" sz="1800" dirty="0" smtClean="0"/>
              <a:t>O </a:t>
            </a:r>
            <a:r>
              <a:rPr lang="pt-BR" sz="1800" dirty="0"/>
              <a:t>que significa cada </a:t>
            </a:r>
            <a:r>
              <a:rPr lang="pt-BR" sz="1800" dirty="0" smtClean="0"/>
              <a:t>campo</a:t>
            </a:r>
            <a:r>
              <a:rPr lang="pt-BR" sz="1800" dirty="0"/>
              <a:t>;</a:t>
            </a:r>
            <a:endParaRPr lang="pt-BR" sz="1800" dirty="0" smtClean="0"/>
          </a:p>
          <a:p>
            <a:pPr lvl="1"/>
            <a:r>
              <a:rPr lang="pt-BR" sz="1800" dirty="0" smtClean="0"/>
              <a:t>Qual </a:t>
            </a:r>
            <a:r>
              <a:rPr lang="pt-BR" sz="1800" dirty="0"/>
              <a:t>o </a:t>
            </a:r>
            <a:r>
              <a:rPr lang="pt-BR" sz="1800" dirty="0" smtClean="0"/>
              <a:t>formato (tipo) </a:t>
            </a:r>
            <a:r>
              <a:rPr lang="pt-BR" sz="1800" dirty="0"/>
              <a:t>do dado (texto, número, data, etc</a:t>
            </a:r>
            <a:r>
              <a:rPr lang="pt-BR" sz="1800" dirty="0" smtClean="0"/>
              <a:t>.);</a:t>
            </a:r>
          </a:p>
          <a:p>
            <a:pPr lvl="1"/>
            <a:r>
              <a:rPr lang="pt-BR" sz="1800" dirty="0" smtClean="0"/>
              <a:t>Quais </a:t>
            </a:r>
            <a:r>
              <a:rPr lang="pt-BR" sz="1800" dirty="0"/>
              <a:t>valores são </a:t>
            </a:r>
            <a:r>
              <a:rPr lang="pt-BR" sz="1800" dirty="0" smtClean="0"/>
              <a:t>permitidos;</a:t>
            </a:r>
          </a:p>
          <a:p>
            <a:pPr lvl="1"/>
            <a:r>
              <a:rPr lang="pt-BR" sz="1800" dirty="0" smtClean="0"/>
              <a:t>O que significa cada valor (Para valores restritos).</a:t>
            </a:r>
            <a:endParaRPr lang="pt-BR" sz="1800" dirty="0"/>
          </a:p>
        </p:txBody>
      </p:sp>
      <p:pic>
        <p:nvPicPr>
          <p:cNvPr id="4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28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dirty="0" smtClean="0"/>
              <a:t>Por que é importante?</a:t>
            </a:r>
            <a:endParaRPr lang="pt-BR"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Evita confusões na interpretação dos </a:t>
            </a:r>
            <a:r>
              <a:rPr lang="pt-BR" sz="2400" dirty="0" smtClean="0"/>
              <a:t>dados;</a:t>
            </a:r>
          </a:p>
          <a:p>
            <a:endParaRPr lang="pt-BR" sz="2400" dirty="0" smtClean="0"/>
          </a:p>
          <a:p>
            <a:r>
              <a:rPr lang="pt-BR" sz="2400" dirty="0" smtClean="0"/>
              <a:t>Padroniza </a:t>
            </a:r>
            <a:r>
              <a:rPr lang="pt-BR" sz="2400" dirty="0"/>
              <a:t>os nomes e formatos usados no </a:t>
            </a:r>
            <a:r>
              <a:rPr lang="pt-BR" sz="2400" dirty="0" smtClean="0"/>
              <a:t>banco;</a:t>
            </a:r>
          </a:p>
          <a:p>
            <a:endParaRPr lang="pt-BR" sz="2400" dirty="0" smtClean="0"/>
          </a:p>
          <a:p>
            <a:r>
              <a:rPr lang="pt-BR" sz="2400" dirty="0" smtClean="0"/>
              <a:t>Facilita </a:t>
            </a:r>
            <a:r>
              <a:rPr lang="pt-BR" sz="2400" dirty="0"/>
              <a:t>a comunicação entre programadores, analistas e </a:t>
            </a:r>
            <a:r>
              <a:rPr lang="pt-BR" sz="2400" dirty="0" smtClean="0"/>
              <a:t>usuários;</a:t>
            </a:r>
          </a:p>
          <a:p>
            <a:endParaRPr lang="pt-BR" sz="2400" dirty="0" smtClean="0"/>
          </a:p>
          <a:p>
            <a:r>
              <a:rPr lang="pt-BR" sz="2400" dirty="0" smtClean="0"/>
              <a:t>Ajuda </a:t>
            </a:r>
            <a:r>
              <a:rPr lang="pt-BR" sz="2400" dirty="0"/>
              <a:t>na manutenção e evolução do sistema.</a:t>
            </a:r>
          </a:p>
        </p:txBody>
      </p:sp>
      <p:pic>
        <p:nvPicPr>
          <p:cNvPr id="6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12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9350" y="624110"/>
            <a:ext cx="9477373" cy="671290"/>
          </a:xfrm>
        </p:spPr>
        <p:txBody>
          <a:bodyPr/>
          <a:lstStyle/>
          <a:p>
            <a:r>
              <a:rPr lang="pt-BR" dirty="0" smtClean="0"/>
              <a:t>Exemplo de Dicionário de Dados</a:t>
            </a:r>
            <a:endParaRPr lang="pt-BR" dirty="0"/>
          </a:p>
        </p:txBody>
      </p:sp>
      <p:pic>
        <p:nvPicPr>
          <p:cNvPr id="5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678" y="1904787"/>
            <a:ext cx="9451705" cy="385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3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de Problema que pode ser resolvido com Dicionário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9211" y="2133600"/>
            <a:ext cx="9220407" cy="695325"/>
          </a:xfrm>
        </p:spPr>
        <p:txBody>
          <a:bodyPr>
            <a:noAutofit/>
          </a:bodyPr>
          <a:lstStyle/>
          <a:p>
            <a:r>
              <a:rPr lang="pt-BR" sz="2000" dirty="0" smtClean="0"/>
              <a:t>Imagine que na tabela </a:t>
            </a:r>
            <a:r>
              <a:rPr lang="pt-BR" sz="2000" b="1" dirty="0" smtClean="0">
                <a:solidFill>
                  <a:srgbClr val="FF0000"/>
                </a:solidFill>
              </a:rPr>
              <a:t>NOTA_FISCAL</a:t>
            </a:r>
            <a:r>
              <a:rPr lang="pt-BR" sz="2000" dirty="0" smtClean="0"/>
              <a:t> existe uma nota com o campo </a:t>
            </a:r>
            <a:r>
              <a:rPr lang="pt-BR" sz="2000" b="1" dirty="0" smtClean="0">
                <a:solidFill>
                  <a:srgbClr val="FF0000"/>
                </a:solidFill>
              </a:rPr>
              <a:t>STATUS_NOTA</a:t>
            </a:r>
            <a:r>
              <a:rPr lang="pt-BR" sz="2000" dirty="0" smtClean="0"/>
              <a:t> cujo valor é </a:t>
            </a:r>
            <a:r>
              <a:rPr lang="pt-BR" sz="2000" dirty="0"/>
              <a:t>"</a:t>
            </a:r>
            <a:r>
              <a:rPr lang="pt-BR" sz="2000" b="1" dirty="0">
                <a:solidFill>
                  <a:srgbClr val="FF0000"/>
                </a:solidFill>
              </a:rPr>
              <a:t>C</a:t>
            </a:r>
            <a:r>
              <a:rPr lang="pt-BR" sz="2000" dirty="0" smtClean="0"/>
              <a:t>".</a:t>
            </a:r>
          </a:p>
          <a:p>
            <a:pPr marL="0" indent="0">
              <a:buNone/>
            </a:pPr>
            <a:endParaRPr lang="pt-BR" sz="2000" dirty="0"/>
          </a:p>
        </p:txBody>
      </p:sp>
      <p:pic>
        <p:nvPicPr>
          <p:cNvPr id="4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47028"/>
            <a:ext cx="5523118" cy="1590801"/>
          </a:xfrm>
          <a:prstGeom prst="rect">
            <a:avLst/>
          </a:prstGeom>
        </p:spPr>
      </p:pic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589211" y="2950831"/>
            <a:ext cx="3582989" cy="361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 smtClean="0"/>
              <a:t>Qual é o status da nota?</a:t>
            </a:r>
          </a:p>
          <a:p>
            <a:pPr lvl="1"/>
            <a:r>
              <a:rPr lang="pt-BR" sz="1800" dirty="0" smtClean="0"/>
              <a:t>Autorizada;</a:t>
            </a:r>
          </a:p>
          <a:p>
            <a:pPr lvl="1"/>
            <a:r>
              <a:rPr lang="pt-BR" sz="1800" dirty="0" smtClean="0"/>
              <a:t>Rejeitada;</a:t>
            </a:r>
          </a:p>
          <a:p>
            <a:pPr lvl="1"/>
            <a:r>
              <a:rPr lang="pt-BR" sz="1800" dirty="0" smtClean="0"/>
              <a:t>Denegada;</a:t>
            </a:r>
          </a:p>
          <a:p>
            <a:pPr lvl="1"/>
            <a:r>
              <a:rPr lang="pt-BR" sz="1800" dirty="0" smtClean="0"/>
              <a:t>Cancelada;</a:t>
            </a:r>
          </a:p>
          <a:p>
            <a:pPr lvl="1"/>
            <a:r>
              <a:rPr lang="pt-BR" sz="1800" dirty="0" smtClean="0"/>
              <a:t>Inutilizada;</a:t>
            </a:r>
          </a:p>
          <a:p>
            <a:pPr lvl="1"/>
            <a:r>
              <a:rPr lang="pt-BR" sz="1800" dirty="0" smtClean="0"/>
              <a:t>Contingência.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0835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do Problema, usando Dicionário de Dados</a:t>
            </a:r>
            <a:endParaRPr lang="pt-BR" dirty="0"/>
          </a:p>
        </p:txBody>
      </p:sp>
      <p:pic>
        <p:nvPicPr>
          <p:cNvPr id="5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00" y="1923839"/>
            <a:ext cx="9213844" cy="39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0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dirty="0" smtClean="0"/>
              <a:t>Outros problemas resolvidos pelo Dicionário de Dados</a:t>
            </a:r>
            <a:endParaRPr lang="pt-BR"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2589211" y="2133600"/>
            <a:ext cx="9348323" cy="3777622"/>
          </a:xfrm>
        </p:spPr>
        <p:txBody>
          <a:bodyPr>
            <a:noAutofit/>
          </a:bodyPr>
          <a:lstStyle/>
          <a:p>
            <a:r>
              <a:rPr lang="pt-BR" dirty="0" smtClean="0"/>
              <a:t>Formatos </a:t>
            </a:r>
            <a:r>
              <a:rPr lang="pt-BR" dirty="0"/>
              <a:t>diferentes do mesmo </a:t>
            </a:r>
            <a:r>
              <a:rPr lang="pt-BR" dirty="0" smtClean="0"/>
              <a:t>dado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Telefone</a:t>
            </a:r>
            <a:r>
              <a:rPr lang="pt-BR" dirty="0" smtClean="0"/>
              <a:t> </a:t>
            </a:r>
            <a:r>
              <a:rPr lang="pt-BR" dirty="0"/>
              <a:t>armazenado em sistemas diferentes: (11)91234-5678 ou 11912345678</a:t>
            </a:r>
            <a:r>
              <a:rPr lang="pt-BR" dirty="0" smtClean="0"/>
              <a:t>?</a:t>
            </a:r>
          </a:p>
          <a:p>
            <a:pPr lvl="1"/>
            <a:r>
              <a:rPr lang="pt-BR" dirty="0" smtClean="0"/>
              <a:t>O </a:t>
            </a:r>
            <a:r>
              <a:rPr lang="pt-BR" dirty="0"/>
              <a:t>dicionário padroniza o formato</a:t>
            </a:r>
            <a:r>
              <a:rPr lang="pt-BR" dirty="0" smtClean="0"/>
              <a:t>.</a:t>
            </a:r>
          </a:p>
          <a:p>
            <a:pPr lvl="1"/>
            <a:endParaRPr lang="pt-BR" dirty="0" smtClean="0"/>
          </a:p>
          <a:p>
            <a:r>
              <a:rPr lang="pt-BR" dirty="0" smtClean="0"/>
              <a:t>Campos </a:t>
            </a:r>
            <a:r>
              <a:rPr lang="pt-BR" dirty="0"/>
              <a:t>com múltiplos </a:t>
            </a:r>
            <a:r>
              <a:rPr lang="pt-BR" dirty="0" smtClean="0"/>
              <a:t>significados</a:t>
            </a:r>
          </a:p>
          <a:p>
            <a:pPr lvl="1"/>
            <a:r>
              <a:rPr lang="pt-BR" dirty="0" smtClean="0"/>
              <a:t>Campo “</a:t>
            </a:r>
            <a:r>
              <a:rPr lang="pt-BR" b="1" dirty="0" err="1" smtClean="0">
                <a:solidFill>
                  <a:srgbClr val="FF0000"/>
                </a:solidFill>
              </a:rPr>
              <a:t>ValorTotal</a:t>
            </a:r>
            <a:r>
              <a:rPr lang="pt-BR" dirty="0" smtClean="0"/>
              <a:t>" </a:t>
            </a:r>
            <a:r>
              <a:rPr lang="pt-BR" dirty="0"/>
              <a:t>→ Pode </a:t>
            </a:r>
            <a:r>
              <a:rPr lang="pt-BR" dirty="0" smtClean="0"/>
              <a:t>ser valor bruto, valor líquido ou valor pago?</a:t>
            </a:r>
          </a:p>
          <a:p>
            <a:pPr lvl="1"/>
            <a:r>
              <a:rPr lang="pt-BR" dirty="0" smtClean="0"/>
              <a:t>O </a:t>
            </a:r>
            <a:r>
              <a:rPr lang="pt-BR" dirty="0"/>
              <a:t>dicionário especifica qual é qual</a:t>
            </a:r>
            <a:r>
              <a:rPr lang="pt-BR" dirty="0" smtClean="0"/>
              <a:t>.</a:t>
            </a:r>
          </a:p>
          <a:p>
            <a:pPr lvl="1"/>
            <a:endParaRPr lang="pt-BR" dirty="0"/>
          </a:p>
          <a:p>
            <a:r>
              <a:rPr lang="pt-BR" dirty="0" smtClean="0"/>
              <a:t>Entender o formato do campo</a:t>
            </a:r>
            <a:endParaRPr lang="pt-BR" dirty="0"/>
          </a:p>
          <a:p>
            <a:pPr lvl="1"/>
            <a:r>
              <a:rPr lang="pt-BR" dirty="0"/>
              <a:t>Campo </a:t>
            </a:r>
            <a:r>
              <a:rPr lang="pt-BR" dirty="0" smtClean="0"/>
              <a:t>“</a:t>
            </a:r>
            <a:r>
              <a:rPr lang="pt-BR" b="1" dirty="0" smtClean="0">
                <a:solidFill>
                  <a:srgbClr val="FF0000"/>
                </a:solidFill>
              </a:rPr>
              <a:t>Vencimento</a:t>
            </a:r>
            <a:r>
              <a:rPr lang="pt-BR" dirty="0" smtClean="0"/>
              <a:t>“ </a:t>
            </a:r>
            <a:r>
              <a:rPr lang="pt-BR" dirty="0" smtClean="0"/>
              <a:t>com o valor “</a:t>
            </a:r>
            <a:r>
              <a:rPr lang="pt-BR" b="1" dirty="0" smtClean="0">
                <a:solidFill>
                  <a:srgbClr val="FF0000"/>
                </a:solidFill>
              </a:rPr>
              <a:t>10/12</a:t>
            </a:r>
            <a:r>
              <a:rPr lang="pt-BR" dirty="0" smtClean="0"/>
              <a:t>” </a:t>
            </a:r>
            <a:r>
              <a:rPr lang="pt-BR" dirty="0"/>
              <a:t>→ </a:t>
            </a:r>
            <a:r>
              <a:rPr lang="pt-BR" dirty="0" smtClean="0"/>
              <a:t>É </a:t>
            </a:r>
            <a:r>
              <a:rPr lang="pt-BR" b="1" dirty="0" smtClean="0">
                <a:solidFill>
                  <a:srgbClr val="FF0000"/>
                </a:solidFill>
              </a:rPr>
              <a:t>10 </a:t>
            </a:r>
            <a:r>
              <a:rPr lang="pt-BR" b="1" dirty="0" smtClean="0">
                <a:solidFill>
                  <a:srgbClr val="FF0000"/>
                </a:solidFill>
              </a:rPr>
              <a:t>de Dezembro </a:t>
            </a:r>
            <a:r>
              <a:rPr lang="pt-BR" dirty="0" smtClean="0"/>
              <a:t>ou </a:t>
            </a:r>
            <a:r>
              <a:rPr lang="pt-BR" b="1" dirty="0" smtClean="0">
                <a:solidFill>
                  <a:srgbClr val="FF0000"/>
                </a:solidFill>
              </a:rPr>
              <a:t>12 de </a:t>
            </a:r>
            <a:r>
              <a:rPr lang="pt-BR" b="1" dirty="0" smtClean="0">
                <a:solidFill>
                  <a:srgbClr val="FF0000"/>
                </a:solidFill>
              </a:rPr>
              <a:t>Outubro</a:t>
            </a:r>
            <a:r>
              <a:rPr lang="pt-BR" dirty="0" smtClean="0"/>
              <a:t>?</a:t>
            </a:r>
            <a:endParaRPr lang="pt-BR" dirty="0"/>
          </a:p>
          <a:p>
            <a:pPr lvl="1"/>
            <a:r>
              <a:rPr lang="pt-BR" dirty="0" smtClean="0"/>
              <a:t>O dicionário me permite saber especificando o formato </a:t>
            </a:r>
            <a:r>
              <a:rPr lang="pt-BR" b="1" dirty="0" smtClean="0">
                <a:solidFill>
                  <a:srgbClr val="FF0000"/>
                </a:solidFill>
              </a:rPr>
              <a:t>DD/MM</a:t>
            </a:r>
            <a:r>
              <a:rPr lang="pt-BR" dirty="0" smtClean="0"/>
              <a:t> </a:t>
            </a:r>
            <a:r>
              <a:rPr lang="pt-BR" dirty="0" smtClean="0"/>
              <a:t>ou </a:t>
            </a:r>
            <a:r>
              <a:rPr lang="pt-BR" b="1" dirty="0" smtClean="0">
                <a:solidFill>
                  <a:srgbClr val="FF0000"/>
                </a:solidFill>
              </a:rPr>
              <a:t>MM/DD</a:t>
            </a:r>
            <a:endParaRPr lang="pt-BR" b="1" dirty="0">
              <a:solidFill>
                <a:srgbClr val="FF0000"/>
              </a:solidFill>
            </a:endParaRPr>
          </a:p>
          <a:p>
            <a:pPr lvl="1"/>
            <a:endParaRPr lang="pt-BR" sz="1800" dirty="0"/>
          </a:p>
        </p:txBody>
      </p:sp>
      <p:pic>
        <p:nvPicPr>
          <p:cNvPr id="6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82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Benefícios para o dia-a-dia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Mais clareza na análise de </a:t>
            </a:r>
            <a:r>
              <a:rPr lang="pt-BR" sz="2400" dirty="0" smtClean="0"/>
              <a:t>dados;</a:t>
            </a:r>
          </a:p>
          <a:p>
            <a:endParaRPr lang="pt-BR" sz="2400" dirty="0" smtClean="0"/>
          </a:p>
          <a:p>
            <a:r>
              <a:rPr lang="pt-BR" sz="2400" dirty="0" smtClean="0"/>
              <a:t>Redução </a:t>
            </a:r>
            <a:r>
              <a:rPr lang="pt-BR" sz="2400" dirty="0"/>
              <a:t>de erros de </a:t>
            </a:r>
            <a:r>
              <a:rPr lang="pt-BR" sz="2400" dirty="0" smtClean="0"/>
              <a:t>interpretação;</a:t>
            </a:r>
          </a:p>
          <a:p>
            <a:endParaRPr lang="pt-BR" sz="2400" dirty="0" smtClean="0"/>
          </a:p>
          <a:p>
            <a:r>
              <a:rPr lang="pt-BR" sz="2400" dirty="0" smtClean="0"/>
              <a:t>Maior </a:t>
            </a:r>
            <a:r>
              <a:rPr lang="pt-BR" sz="2400" dirty="0"/>
              <a:t>produtividade para programadores e </a:t>
            </a:r>
            <a:r>
              <a:rPr lang="pt-BR" sz="2400" dirty="0" smtClean="0"/>
              <a:t>analistas;</a:t>
            </a:r>
          </a:p>
          <a:p>
            <a:endParaRPr lang="pt-BR" sz="2400" dirty="0" smtClean="0"/>
          </a:p>
          <a:p>
            <a:r>
              <a:rPr lang="pt-BR" sz="2400" dirty="0" smtClean="0"/>
              <a:t>Confiança </a:t>
            </a:r>
            <a:r>
              <a:rPr lang="pt-BR" sz="2400" dirty="0"/>
              <a:t>nas informações do sistema.</a:t>
            </a:r>
          </a:p>
        </p:txBody>
      </p:sp>
      <p:pic>
        <p:nvPicPr>
          <p:cNvPr id="6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4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800" dirty="0"/>
              <a:t>O </a:t>
            </a:r>
            <a:r>
              <a:rPr lang="pt-BR" sz="2800" b="1" dirty="0"/>
              <a:t>Dicionário de Dados</a:t>
            </a:r>
            <a:r>
              <a:rPr lang="pt-BR" sz="2800" dirty="0"/>
              <a:t> é como um </a:t>
            </a:r>
            <a:r>
              <a:rPr lang="pt-BR" sz="2800" b="1" dirty="0"/>
              <a:t>guia oficial</a:t>
            </a:r>
            <a:r>
              <a:rPr lang="pt-BR" sz="2800" dirty="0"/>
              <a:t> que garante que todos entendam os dados do mesmo </a:t>
            </a:r>
            <a:r>
              <a:rPr lang="pt-BR" sz="2800" dirty="0" smtClean="0"/>
              <a:t>jeito;</a:t>
            </a:r>
          </a:p>
          <a:p>
            <a:endParaRPr lang="pt-BR" sz="2800" dirty="0" smtClean="0"/>
          </a:p>
          <a:p>
            <a:r>
              <a:rPr lang="pt-BR" sz="2800" dirty="0" smtClean="0"/>
              <a:t>Sem </a:t>
            </a:r>
            <a:r>
              <a:rPr lang="pt-BR" sz="2800" dirty="0"/>
              <a:t>ele, cada pessoa pode interpretar de uma forma diferente</a:t>
            </a:r>
            <a:r>
              <a:rPr lang="pt-BR" sz="2800" dirty="0" smtClean="0"/>
              <a:t>.</a:t>
            </a:r>
          </a:p>
          <a:p>
            <a:endParaRPr lang="pt-BR" sz="2800" dirty="0"/>
          </a:p>
          <a:p>
            <a:r>
              <a:rPr lang="pt-BR" sz="2800" dirty="0" smtClean="0"/>
              <a:t>Ver também: Manuais da Nota Fiscal Eletrônica: </a:t>
            </a:r>
            <a:br>
              <a:rPr lang="pt-BR" sz="2800" dirty="0" smtClean="0"/>
            </a:br>
            <a:r>
              <a:rPr lang="pt-BR" sz="2800" dirty="0">
                <a:hlinkClick r:id="rId2"/>
              </a:rPr>
              <a:t>Portal da Nota Fiscal Eletrônica</a:t>
            </a:r>
            <a:endParaRPr lang="pt-BR" sz="2800" dirty="0"/>
          </a:p>
        </p:txBody>
      </p:sp>
      <p:pic>
        <p:nvPicPr>
          <p:cNvPr id="4" name="Picture 2" descr="SENAI Logo – PNG e Vetor – Download d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811896"/>
            <a:ext cx="1201815" cy="3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71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Personalizada 1">
      <a:dk1>
        <a:sysClr val="windowText" lastClr="000000"/>
      </a:dk1>
      <a:lt1>
        <a:sysClr val="window" lastClr="FFFFFF"/>
      </a:lt1>
      <a:dk2>
        <a:srgbClr val="FF0000"/>
      </a:dk2>
      <a:lt2>
        <a:srgbClr val="FFFFFF"/>
      </a:lt2>
      <a:accent1>
        <a:srgbClr val="FF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8F3DA7C743224485A53C1B58CAF4DF" ma:contentTypeVersion="9" ma:contentTypeDescription="Crie um novo documento." ma:contentTypeScope="" ma:versionID="768895af51490883b819bf09e73dcd8e">
  <xsd:schema xmlns:xsd="http://www.w3.org/2001/XMLSchema" xmlns:xs="http://www.w3.org/2001/XMLSchema" xmlns:p="http://schemas.microsoft.com/office/2006/metadata/properties" xmlns:ns3="62683b45-61c4-4cdf-aa44-14cf457257fc" targetNamespace="http://schemas.microsoft.com/office/2006/metadata/properties" ma:root="true" ma:fieldsID="4e127245a2c3889ebd843725c3d98c8f" ns3:_="">
    <xsd:import namespace="62683b45-61c4-4cdf-aa44-14cf457257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83b45-61c4-4cdf-aa44-14cf457257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683b45-61c4-4cdf-aa44-14cf457257fc" xsi:nil="true"/>
  </documentManagement>
</p:properties>
</file>

<file path=customXml/itemProps1.xml><?xml version="1.0" encoding="utf-8"?>
<ds:datastoreItem xmlns:ds="http://schemas.openxmlformats.org/officeDocument/2006/customXml" ds:itemID="{8045600D-0227-4568-8DF7-DC80E511E4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683b45-61c4-4cdf-aa44-14cf45725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D7D5EA-E5EB-4042-98D9-91E6B2E155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D0138F-E5CA-4AB4-98D7-9BC2A16DE629}">
  <ds:schemaRefs>
    <ds:schemaRef ds:uri="http://www.w3.org/XML/1998/namespace"/>
    <ds:schemaRef ds:uri="http://purl.org/dc/dcmitype/"/>
    <ds:schemaRef ds:uri="62683b45-61c4-4cdf-aa44-14cf457257fc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111</TotalTime>
  <Words>359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Cacho</vt:lpstr>
      <vt:lpstr>BCD: Dicionário de Dados</vt:lpstr>
      <vt:lpstr>O que é um Dicionário de Dados?</vt:lpstr>
      <vt:lpstr>Por que é importante?</vt:lpstr>
      <vt:lpstr>Exemplo de Dicionário de Dados</vt:lpstr>
      <vt:lpstr>Exemplo de Problema que pode ser resolvido com Dicionário de Dados</vt:lpstr>
      <vt:lpstr>Solução do Problema, usando Dicionário de Dados</vt:lpstr>
      <vt:lpstr>Outros problemas resolvidos pelo Dicionário de Dados</vt:lpstr>
      <vt:lpstr>Benefícios para o dia-a-dia</vt:lpstr>
      <vt:lpstr>Conclusão</vt:lpstr>
    </vt:vector>
  </TitlesOfParts>
  <Company>SESI SENAI 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BCD: Dicionário de Dados</dc:title>
  <dc:creator>Alexandre Vinicius Dias Simoes Brito</dc:creator>
  <cp:lastModifiedBy>Alexandre Vinicius Dias Simoes Brito</cp:lastModifiedBy>
  <cp:revision>11</cp:revision>
  <dcterms:created xsi:type="dcterms:W3CDTF">2025-09-10T11:50:35Z</dcterms:created>
  <dcterms:modified xsi:type="dcterms:W3CDTF">2025-09-10T14:00:32Z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0x010100E28F3DA7C743224485A53C1B58CAF4DF</vt:lpwstr>
  </property>
</Properties>
</file>