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8" r:id="rId6"/>
    <p:sldId id="278" r:id="rId7"/>
    <p:sldId id="281" r:id="rId8"/>
    <p:sldId id="282" r:id="rId9"/>
    <p:sldId id="283" r:id="rId10"/>
    <p:sldId id="284" r:id="rId11"/>
    <p:sldId id="285" r:id="rId12"/>
    <p:sldId id="286" r:id="rId13"/>
    <p:sldId id="289" r:id="rId14"/>
    <p:sldId id="287" r:id="rId15"/>
    <p:sldId id="277" r:id="rId16"/>
  </p:sldIdLst>
  <p:sldSz cx="20104100" cy="11309350"/>
  <p:notesSz cx="20104100" cy="11309350"/>
  <p:embeddedFontLst>
    <p:embeddedFont>
      <p:font typeface="Montserrat Light" panose="020B0604020202020204" charset="0"/>
      <p:regular r:id="rId17"/>
      <p:italic r:id="rId18"/>
    </p:embeddedFont>
    <p:embeddedFont>
      <p:font typeface="Montserrat ExtraBold" panose="020B0604020202020204" charset="0"/>
      <p:bold r:id="rId19"/>
      <p:boldItalic r:id="rId20"/>
    </p:embeddedFont>
    <p:embeddedFont>
      <p:font typeface="Montserrat" panose="020B060402020202020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632" y="6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66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67" name="object 67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/>
          <p:nvPr/>
        </p:nvSpPr>
        <p:spPr>
          <a:xfrm flipH="1">
            <a:off x="603250" y="1047088"/>
            <a:ext cx="443838" cy="2778787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3267385" cy="30386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 smtClean="0">
                <a:solidFill>
                  <a:srgbClr val="FFFFFF"/>
                </a:solidFill>
                <a:latin typeface="Montserrat ExtraBold"/>
                <a:cs typeface="Montserrat ExtraBold"/>
              </a:rPr>
              <a:t>SQL </a:t>
            </a:r>
            <a:r>
              <a:rPr lang="pt-BR" sz="4950" b="1" spc="-15" dirty="0" err="1" smtClean="0">
                <a:solidFill>
                  <a:srgbClr val="FFFFFF"/>
                </a:solidFill>
                <a:latin typeface="Montserrat ExtraBold"/>
                <a:cs typeface="Montserrat ExtraBold"/>
              </a:rPr>
              <a:t>Injection</a:t>
            </a:r>
            <a:r>
              <a:rPr lang="pt-BR" sz="4950" b="1" spc="-15" dirty="0" smtClean="0">
                <a:solidFill>
                  <a:srgbClr val="FFFFFF"/>
                </a:solidFill>
                <a:latin typeface="Montserrat ExtraBold"/>
                <a:cs typeface="Montserrat ExtraBold"/>
              </a:rPr>
              <a:t/>
            </a:r>
            <a:br>
              <a:rPr lang="pt-BR" sz="4950" b="1" spc="-15" dirty="0" smtClean="0">
                <a:solidFill>
                  <a:srgbClr val="FFFFFF"/>
                </a:solidFill>
                <a:latin typeface="Montserrat ExtraBold"/>
                <a:cs typeface="Montserrat ExtraBold"/>
              </a:rPr>
            </a:br>
            <a:endParaRPr lang="pt-BR" sz="4950" b="1" spc="-15" dirty="0" smtClean="0">
              <a:solidFill>
                <a:srgbClr val="FFFFFF"/>
              </a:solidFill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6000" b="0" spc="-25" dirty="0" smtClean="0">
                <a:solidFill>
                  <a:srgbClr val="FFFFFF"/>
                </a:solidFill>
                <a:latin typeface="Montserrat"/>
                <a:cs typeface="Montserrat"/>
              </a:rPr>
              <a:t>Como se proteger do golpe que manipula o seu Banco de Dados</a:t>
            </a:r>
            <a:endParaRPr sz="6000" dirty="0">
              <a:latin typeface="Montserrat"/>
              <a:cs typeface="Montserrat"/>
            </a:endParaRPr>
          </a:p>
        </p:txBody>
      </p:sp>
      <p:sp>
        <p:nvSpPr>
          <p:cNvPr id="72" name="object 35"/>
          <p:cNvSpPr txBox="1"/>
          <p:nvPr/>
        </p:nvSpPr>
        <p:spPr>
          <a:xfrm>
            <a:off x="2081476" y="9829517"/>
            <a:ext cx="10027973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300" b="1" spc="-5" dirty="0" smtClean="0">
                <a:solidFill>
                  <a:srgbClr val="F1F1F1"/>
                </a:solidFill>
                <a:latin typeface="Montserrat ExtraBold"/>
                <a:cs typeface="Montserrat ExtraBold"/>
              </a:rPr>
              <a:t>ALEXANDRE VINÍCIUS DIAS SIMÕES BRITO</a:t>
            </a:r>
            <a:endParaRPr sz="3300" dirty="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20104100" cy="11369675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366176" y="2816668"/>
            <a:ext cx="9476740" cy="8230234"/>
            <a:chOff x="10366176" y="2816668"/>
            <a:chExt cx="9476740" cy="823023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6176" y="2816668"/>
              <a:ext cx="9476151" cy="34449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53377" y="3603879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10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6176" y="5204030"/>
              <a:ext cx="9476151" cy="34553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53377" y="5997587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6176" y="7601862"/>
              <a:ext cx="9476151" cy="344492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153377" y="8391304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1643501" y="3979601"/>
            <a:ext cx="79502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100" b="1" spc="-10" dirty="0">
                <a:solidFill>
                  <a:schemeClr val="accent2">
                    <a:lumMod val="50000"/>
                  </a:schemeClr>
                </a:solidFill>
                <a:latin typeface="Montserrat Light"/>
                <a:cs typeface="Montserrat Light"/>
              </a:rPr>
              <a:t>01</a:t>
            </a:r>
            <a:endParaRPr sz="6100" b="1" dirty="0">
              <a:solidFill>
                <a:schemeClr val="accent2">
                  <a:lumMod val="50000"/>
                </a:schemeClr>
              </a:solidFill>
              <a:latin typeface="Montserrat Light"/>
              <a:cs typeface="Montserrat Ligh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855097" y="4054475"/>
            <a:ext cx="5401310" cy="7688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800" spc="-20" dirty="0" smtClean="0">
                <a:solidFill>
                  <a:schemeClr val="accent6">
                    <a:lumMod val="50000"/>
                  </a:schemeClr>
                </a:solidFill>
                <a:latin typeface="Montserrat"/>
                <a:cs typeface="Montserrat"/>
              </a:rPr>
              <a:t>Vulnerabilidade antiga, mas ainda muito explorada</a:t>
            </a:r>
            <a:endParaRPr sz="2800" dirty="0">
              <a:solidFill>
                <a:schemeClr val="accent6">
                  <a:lumMod val="50000"/>
                </a:schemeClr>
              </a:solidFill>
              <a:latin typeface="Montserrat"/>
              <a:cs typeface="Montserra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562143" y="6373312"/>
            <a:ext cx="95758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100" b="1" spc="-10" dirty="0">
                <a:solidFill>
                  <a:schemeClr val="accent2">
                    <a:lumMod val="50000"/>
                  </a:schemeClr>
                </a:solidFill>
                <a:latin typeface="Montserrat Light"/>
                <a:cs typeface="Montserrat Light"/>
              </a:rPr>
              <a:t>02</a:t>
            </a:r>
            <a:endParaRPr sz="6100" b="1" dirty="0">
              <a:solidFill>
                <a:schemeClr val="accent2">
                  <a:lumMod val="50000"/>
                </a:schemeClr>
              </a:solidFill>
              <a:latin typeface="Montserrat Light"/>
              <a:cs typeface="Montserrat Ligh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855097" y="6503003"/>
            <a:ext cx="5401310" cy="1140697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800" spc="-20" dirty="0">
                <a:solidFill>
                  <a:schemeClr val="accent6">
                    <a:lumMod val="50000"/>
                  </a:schemeClr>
                </a:solidFill>
                <a:latin typeface="Montserrat"/>
                <a:cs typeface="Montserrat"/>
              </a:rPr>
              <a:t>Afeta aplicações web, </a:t>
            </a:r>
            <a:r>
              <a:rPr lang="pt-BR" sz="2800" spc="-20" dirty="0" err="1">
                <a:solidFill>
                  <a:schemeClr val="accent6">
                    <a:lumMod val="50000"/>
                  </a:schemeClr>
                </a:solidFill>
                <a:latin typeface="Montserrat"/>
                <a:cs typeface="Montserrat"/>
              </a:rPr>
              <a:t>APIs</a:t>
            </a:r>
            <a:r>
              <a:rPr lang="pt-BR" sz="2800" spc="-20" dirty="0">
                <a:solidFill>
                  <a:schemeClr val="accent6">
                    <a:lumMod val="50000"/>
                  </a:schemeClr>
                </a:solidFill>
                <a:latin typeface="Montserrat"/>
                <a:cs typeface="Montserrat"/>
              </a:rPr>
              <a:t> e sistemas internos que usam SQL</a:t>
            </a:r>
            <a:endParaRPr sz="2800" dirty="0">
              <a:solidFill>
                <a:schemeClr val="accent6">
                  <a:lumMod val="50000"/>
                </a:schemeClr>
              </a:solidFill>
              <a:latin typeface="Montserrat"/>
              <a:cs typeface="Montserra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567567" y="8767025"/>
            <a:ext cx="93980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100" b="1" spc="-65" dirty="0">
                <a:solidFill>
                  <a:schemeClr val="accent2">
                    <a:lumMod val="50000"/>
                  </a:schemeClr>
                </a:solidFill>
                <a:latin typeface="Montserrat Light"/>
                <a:cs typeface="Montserrat Light"/>
              </a:rPr>
              <a:t>03</a:t>
            </a:r>
            <a:endParaRPr sz="6100" b="1" dirty="0">
              <a:solidFill>
                <a:schemeClr val="accent2">
                  <a:lumMod val="50000"/>
                </a:schemeClr>
              </a:solidFill>
              <a:latin typeface="Montserrat Light"/>
              <a:cs typeface="Montserrat Ligh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855097" y="8728848"/>
            <a:ext cx="5401310" cy="1140697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800" spc="-20" dirty="0">
                <a:solidFill>
                  <a:schemeClr val="accent6">
                    <a:lumMod val="50000"/>
                  </a:schemeClr>
                </a:solidFill>
                <a:latin typeface="Montserrat"/>
                <a:cs typeface="Montserrat"/>
              </a:rPr>
              <a:t>Pode resultar em vazamento de dados, escalada de privilégios e controle do banco</a:t>
            </a:r>
            <a:endParaRPr sz="2800" dirty="0">
              <a:solidFill>
                <a:schemeClr val="accent6">
                  <a:lumMod val="50000"/>
                </a:schemeClr>
              </a:solidFill>
              <a:latin typeface="Montserrat"/>
              <a:cs typeface="Montserrat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xfrm>
            <a:off x="11086438" y="797973"/>
            <a:ext cx="6871970" cy="195566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lang="pt-BR" b="1" spc="-15" dirty="0" smtClean="0">
                <a:solidFill>
                  <a:schemeClr val="bg1"/>
                </a:solidFill>
                <a:latin typeface="Montserrat ExtraBold"/>
                <a:cs typeface="Montserrat ExtraBold"/>
              </a:rPr>
              <a:t>POR QUÊ ISSO IMPORTA?</a:t>
            </a:r>
            <a:endParaRPr spc="-40" dirty="0">
              <a:solidFill>
                <a:schemeClr val="bg1"/>
              </a:solidFill>
            </a:endParaRPr>
          </a:p>
        </p:txBody>
      </p:sp>
      <p:pic>
        <p:nvPicPr>
          <p:cNvPr id="58" name="Imagem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613" y="-22225"/>
            <a:ext cx="10800204" cy="11246822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0" y="11212195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3"/>
          <p:cNvGrpSpPr/>
          <p:nvPr/>
        </p:nvGrpSpPr>
        <p:grpSpPr>
          <a:xfrm>
            <a:off x="45809" y="10186514"/>
            <a:ext cx="3693160" cy="942975"/>
            <a:chOff x="15364003" y="1047088"/>
            <a:chExt cx="3693160" cy="942975"/>
          </a:xfrm>
        </p:grpSpPr>
        <p:sp>
          <p:nvSpPr>
            <p:cNvPr id="60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6486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/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560101"/>
              <a:ext cx="11821629" cy="77484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 smtClean="0">
                <a:latin typeface="Montserrat ExtraBold"/>
                <a:cs typeface="Montserrat ExtraBold"/>
              </a:rPr>
              <a:t>PASSOS DO GOLPE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 smtClean="0">
                <a:latin typeface="Montserrat"/>
                <a:cs typeface="Montserrat"/>
              </a:rPr>
              <a:t>COMO FUNCIONA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32678" y="4968875"/>
            <a:ext cx="6158865" cy="543610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469900" marR="5080" indent="-457200" algn="just">
              <a:lnSpc>
                <a:spcPts val="2870"/>
              </a:lnSpc>
              <a:spcBef>
                <a:spcPts val="190"/>
              </a:spcBef>
              <a:buFont typeface="+mj-lt"/>
              <a:buAutoNum type="arabicPeriod"/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O atacante identifica um ponto de entrada (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form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, parâmetro GET/POST, header, cookie, API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);</a:t>
            </a: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469900" marR="5080" indent="-457200" algn="just">
              <a:lnSpc>
                <a:spcPts val="2870"/>
              </a:lnSpc>
              <a:spcBef>
                <a:spcPts val="190"/>
              </a:spcBef>
              <a:buFont typeface="+mj-lt"/>
              <a:buAutoNum type="arabicPeriod"/>
            </a:pP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469900" marR="5080" indent="-457200" algn="just">
              <a:lnSpc>
                <a:spcPts val="2870"/>
              </a:lnSpc>
              <a:spcBef>
                <a:spcPts val="190"/>
              </a:spcBef>
              <a:buFont typeface="+mj-lt"/>
              <a:buAutoNum type="arabicPeriod"/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Envia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entradas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contendo partes de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SQL;</a:t>
            </a: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469900" marR="5080" indent="-457200" algn="just">
              <a:lnSpc>
                <a:spcPts val="2870"/>
              </a:lnSpc>
              <a:spcBef>
                <a:spcPts val="190"/>
              </a:spcBef>
              <a:buFont typeface="+mj-lt"/>
              <a:buAutoNum type="arabicPeriod"/>
            </a:pP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469900" marR="5080" indent="-457200" algn="just">
              <a:lnSpc>
                <a:spcPts val="2870"/>
              </a:lnSpc>
              <a:spcBef>
                <a:spcPts val="190"/>
              </a:spcBef>
              <a:buFont typeface="+mj-lt"/>
              <a:buAutoNum type="arabicPeriod"/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A aplicação incorpora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a entrada no SQL;</a:t>
            </a:r>
          </a:p>
          <a:p>
            <a:pPr marL="469900" marR="5080" indent="-457200" algn="just">
              <a:lnSpc>
                <a:spcPts val="2870"/>
              </a:lnSpc>
              <a:spcBef>
                <a:spcPts val="190"/>
              </a:spcBef>
              <a:buFont typeface="+mj-lt"/>
              <a:buAutoNum type="arabicPeriod"/>
            </a:pP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469900" marR="5080" indent="-457200" algn="just">
              <a:lnSpc>
                <a:spcPts val="2870"/>
              </a:lnSpc>
              <a:spcBef>
                <a:spcPts val="190"/>
              </a:spcBef>
              <a:buFont typeface="+mj-lt"/>
              <a:buAutoNum type="arabicPeriod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O banco executa o SQL alterado;</a:t>
            </a: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469900" marR="5080" indent="-457200" algn="just">
              <a:lnSpc>
                <a:spcPts val="2870"/>
              </a:lnSpc>
              <a:spcBef>
                <a:spcPts val="190"/>
              </a:spcBef>
              <a:buFont typeface="+mj-lt"/>
              <a:buAutoNum type="arabicPeriod"/>
            </a:pP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469900" marR="5080" indent="-457200" algn="just">
              <a:lnSpc>
                <a:spcPts val="2870"/>
              </a:lnSpc>
              <a:spcBef>
                <a:spcPts val="190"/>
              </a:spcBef>
              <a:buFont typeface="+mj-lt"/>
              <a:buAutoNum type="arabicPeriod"/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Atacante obtém dados, modifica dados ou executa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comandos.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32678" y="4098774"/>
            <a:ext cx="4194810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 smtClean="0">
                <a:solidFill>
                  <a:srgbClr val="333333"/>
                </a:solidFill>
                <a:latin typeface="Montserrat Light"/>
                <a:cs typeface="Montserrat Light"/>
              </a:rPr>
              <a:t>PASSO À PASSO</a:t>
            </a:r>
            <a:endParaRPr sz="3600" dirty="0">
              <a:latin typeface="Montserrat ExtraBold"/>
              <a:cs typeface="Montserrat ExtraBold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749" y="3520150"/>
            <a:ext cx="12039600" cy="778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5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65062" y="0"/>
            <a:ext cx="7539355" cy="11308715"/>
            <a:chOff x="12565062" y="0"/>
            <a:chExt cx="7539355" cy="11308715"/>
          </a:xfrm>
          <a:solidFill>
            <a:schemeClr val="accent2">
              <a:lumMod val="50000"/>
            </a:schemeClr>
          </a:solidFill>
        </p:grpSpPr>
        <p:sp>
          <p:nvSpPr>
            <p:cNvPr id="3" name="object 3"/>
            <p:cNvSpPr/>
            <p:nvPr/>
          </p:nvSpPr>
          <p:spPr>
            <a:xfrm>
              <a:off x="12565062" y="0"/>
              <a:ext cx="6492240" cy="11151870"/>
            </a:xfrm>
            <a:custGeom>
              <a:avLst/>
              <a:gdLst/>
              <a:ahLst/>
              <a:cxnLst/>
              <a:rect l="l" t="t" r="r" b="b"/>
              <a:pathLst>
                <a:path w="6492240" h="11151870">
                  <a:moveTo>
                    <a:pt x="0" y="11151492"/>
                  </a:moveTo>
                  <a:lnTo>
                    <a:pt x="6491948" y="11151492"/>
                  </a:lnTo>
                  <a:lnTo>
                    <a:pt x="6491948" y="0"/>
                  </a:lnTo>
                  <a:lnTo>
                    <a:pt x="0" y="0"/>
                  </a:lnTo>
                  <a:lnTo>
                    <a:pt x="0" y="11151492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057011" y="0"/>
              <a:ext cx="1047115" cy="11308715"/>
            </a:xfrm>
            <a:custGeom>
              <a:avLst/>
              <a:gdLst/>
              <a:ahLst/>
              <a:cxnLst/>
              <a:rect l="l" t="t" r="r" b="b"/>
              <a:pathLst>
                <a:path w="1047115" h="11308715">
                  <a:moveTo>
                    <a:pt x="1047088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1047088" y="11308556"/>
                  </a:lnTo>
                  <a:lnTo>
                    <a:pt x="104708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1047088"/>
            <a:ext cx="11308715" cy="9214485"/>
          </a:xfrm>
          <a:custGeom>
            <a:avLst/>
            <a:gdLst/>
            <a:ahLst/>
            <a:cxnLst/>
            <a:rect l="l" t="t" r="r" b="b"/>
            <a:pathLst>
              <a:path w="11308715" h="9214485">
                <a:moveTo>
                  <a:pt x="11308556" y="0"/>
                </a:moveTo>
                <a:lnTo>
                  <a:pt x="0" y="0"/>
                </a:lnTo>
                <a:lnTo>
                  <a:pt x="0" y="9214379"/>
                </a:lnTo>
                <a:lnTo>
                  <a:pt x="11308556" y="9214379"/>
                </a:lnTo>
                <a:lnTo>
                  <a:pt x="11308556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10479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10479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10479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172252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172252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172252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434024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434024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434024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695795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695795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695795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57569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957569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219340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481112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481112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742885" y="1780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15182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742885" y="125650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21981" y="3065901"/>
            <a:ext cx="7196469" cy="70102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3200" spc="-10" dirty="0">
                <a:solidFill>
                  <a:srgbClr val="FFFFFF"/>
                </a:solidFill>
                <a:latin typeface="Montserrat"/>
                <a:cs typeface="Montserrat"/>
              </a:rPr>
              <a:t>Vazamento de dados pessoais e sensíveis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pt-BR" sz="3200" spc="-10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3200" spc="-10" dirty="0">
                <a:solidFill>
                  <a:srgbClr val="FFFFFF"/>
                </a:solidFill>
                <a:latin typeface="Montserrat"/>
                <a:cs typeface="Montserrat"/>
              </a:rPr>
              <a:t>Alteração/remoção de dados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pt-BR" sz="3200" spc="-10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3200" spc="-10" dirty="0">
                <a:solidFill>
                  <a:srgbClr val="FFFFFF"/>
                </a:solidFill>
                <a:latin typeface="Montserrat"/>
                <a:cs typeface="Montserrat"/>
              </a:rPr>
              <a:t>Escalada de privilégios e execução remota (dependendo do banco)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pt-BR" sz="3200" spc="-10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3200" spc="-10" dirty="0">
                <a:solidFill>
                  <a:srgbClr val="FFFFFF"/>
                </a:solidFill>
                <a:latin typeface="Montserrat"/>
                <a:cs typeface="Montserrat"/>
              </a:rPr>
              <a:t>Interrupção do serviço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pt-BR" sz="3200" spc="-10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3200" spc="-10" dirty="0">
                <a:solidFill>
                  <a:srgbClr val="FFFFFF"/>
                </a:solidFill>
                <a:latin typeface="Montserrat"/>
                <a:cs typeface="Montserrat"/>
              </a:rPr>
              <a:t>Reputação, multas (LGPD/GDPR), custo de recuperação</a:t>
            </a:r>
            <a:endParaRPr sz="3200" dirty="0">
              <a:latin typeface="Montserrat"/>
              <a:cs typeface="Montserra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755650" y="2094177"/>
            <a:ext cx="7162800" cy="8508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5400" b="1" spc="20" dirty="0" smtClean="0">
                <a:solidFill>
                  <a:srgbClr val="FFFFFF"/>
                </a:solidFill>
              </a:rPr>
              <a:t>IMPACTOS E RISCOS</a:t>
            </a:r>
            <a:endParaRPr sz="5400" b="1" dirty="0">
              <a:latin typeface="Montserrat ExtraBold"/>
              <a:cs typeface="Montserrat ExtraBold"/>
            </a:endParaRP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050" y="1768475"/>
            <a:ext cx="9454827" cy="7863263"/>
          </a:xfrm>
          <a:prstGeom prst="rect">
            <a:avLst/>
          </a:prstGeom>
        </p:spPr>
      </p:pic>
      <p:grpSp>
        <p:nvGrpSpPr>
          <p:cNvPr id="35" name="object 3"/>
          <p:cNvGrpSpPr/>
          <p:nvPr/>
        </p:nvGrpSpPr>
        <p:grpSpPr>
          <a:xfrm>
            <a:off x="15274290" y="777875"/>
            <a:ext cx="3693160" cy="942975"/>
            <a:chOff x="15364003" y="1047088"/>
            <a:chExt cx="3693160" cy="942975"/>
          </a:xfrm>
        </p:grpSpPr>
        <p:sp>
          <p:nvSpPr>
            <p:cNvPr id="36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3154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417" cy="11308973"/>
            <a:chOff x="0" y="0"/>
            <a:chExt cx="20104417" cy="11308973"/>
          </a:xfrm>
        </p:grpSpPr>
        <p:sp>
          <p:nvSpPr>
            <p:cNvPr id="3" name="object 3"/>
            <p:cNvSpPr/>
            <p:nvPr/>
          </p:nvSpPr>
          <p:spPr>
            <a:xfrm>
              <a:off x="0" y="11151493"/>
              <a:ext cx="12565380" cy="157480"/>
            </a:xfrm>
            <a:custGeom>
              <a:avLst/>
              <a:gdLst/>
              <a:ahLst/>
              <a:cxnLst/>
              <a:rect l="l" t="t" r="r" b="b"/>
              <a:pathLst>
                <a:path w="12565380" h="157479">
                  <a:moveTo>
                    <a:pt x="0" y="157063"/>
                  </a:moveTo>
                  <a:lnTo>
                    <a:pt x="12565062" y="157063"/>
                  </a:lnTo>
                  <a:lnTo>
                    <a:pt x="12565062" y="0"/>
                  </a:lnTo>
                  <a:lnTo>
                    <a:pt x="0" y="0"/>
                  </a:lnTo>
                  <a:lnTo>
                    <a:pt x="0" y="1570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661650" y="0"/>
              <a:ext cx="9442767" cy="11308715"/>
            </a:xfrm>
            <a:custGeom>
              <a:avLst/>
              <a:gdLst/>
              <a:ahLst/>
              <a:cxnLst/>
              <a:rect l="l" t="t" r="r" b="b"/>
              <a:pathLst>
                <a:path w="7539355" h="11308715">
                  <a:moveTo>
                    <a:pt x="753903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7539037" y="11308556"/>
                  </a:lnTo>
                  <a:lnTo>
                    <a:pt x="7539037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767050" y="10087255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2779915" y="545020"/>
                  </a:moveTo>
                  <a:lnTo>
                    <a:pt x="2753639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59" h="942975">
                  <a:moveTo>
                    <a:pt x="3692982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81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24" y="0"/>
                  </a:lnTo>
                  <a:lnTo>
                    <a:pt x="3024924" y="806462"/>
                  </a:lnTo>
                  <a:lnTo>
                    <a:pt x="2814574" y="806462"/>
                  </a:lnTo>
                  <a:lnTo>
                    <a:pt x="2797810" y="675284"/>
                  </a:lnTo>
                  <a:lnTo>
                    <a:pt x="2525153" y="675284"/>
                  </a:lnTo>
                  <a:lnTo>
                    <a:pt x="2453538" y="806462"/>
                  </a:lnTo>
                  <a:lnTo>
                    <a:pt x="2267356" y="806462"/>
                  </a:lnTo>
                  <a:lnTo>
                    <a:pt x="2675407" y="134556"/>
                  </a:lnTo>
                  <a:lnTo>
                    <a:pt x="2902521" y="134556"/>
                  </a:lnTo>
                  <a:lnTo>
                    <a:pt x="3024924" y="806462"/>
                  </a:lnTo>
                  <a:lnTo>
                    <a:pt x="3024924" y="0"/>
                  </a:lnTo>
                  <a:lnTo>
                    <a:pt x="2341283" y="0"/>
                  </a:lnTo>
                  <a:lnTo>
                    <a:pt x="2341283" y="134556"/>
                  </a:lnTo>
                  <a:lnTo>
                    <a:pt x="2198459" y="806462"/>
                  </a:lnTo>
                  <a:lnTo>
                    <a:pt x="1940674" y="806462"/>
                  </a:lnTo>
                  <a:lnTo>
                    <a:pt x="1822030" y="291833"/>
                  </a:lnTo>
                  <a:lnTo>
                    <a:pt x="1820151" y="291833"/>
                  </a:lnTo>
                  <a:lnTo>
                    <a:pt x="1710829" y="806462"/>
                  </a:lnTo>
                  <a:lnTo>
                    <a:pt x="1543304" y="806462"/>
                  </a:lnTo>
                  <a:lnTo>
                    <a:pt x="1686115" y="134556"/>
                  </a:lnTo>
                  <a:lnTo>
                    <a:pt x="1946744" y="134556"/>
                  </a:lnTo>
                  <a:lnTo>
                    <a:pt x="2065477" y="635266"/>
                  </a:lnTo>
                  <a:lnTo>
                    <a:pt x="2067687" y="633399"/>
                  </a:lnTo>
                  <a:lnTo>
                    <a:pt x="2173744" y="134556"/>
                  </a:lnTo>
                  <a:lnTo>
                    <a:pt x="2341283" y="134556"/>
                  </a:lnTo>
                  <a:lnTo>
                    <a:pt x="2341283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391" y="264820"/>
                  </a:lnTo>
                  <a:lnTo>
                    <a:pt x="1197965" y="403555"/>
                  </a:lnTo>
                  <a:lnTo>
                    <a:pt x="1497647" y="403555"/>
                  </a:lnTo>
                  <a:lnTo>
                    <a:pt x="1469999" y="533819"/>
                  </a:lnTo>
                  <a:lnTo>
                    <a:pt x="1170330" y="533819"/>
                  </a:lnTo>
                  <a:lnTo>
                    <a:pt x="1140066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37" y="331825"/>
                  </a:lnTo>
                  <a:lnTo>
                    <a:pt x="1069073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69" y="0"/>
                  </a:lnTo>
                  <a:lnTo>
                    <a:pt x="908469" y="281914"/>
                  </a:lnTo>
                  <a:lnTo>
                    <a:pt x="899655" y="331825"/>
                  </a:lnTo>
                  <a:lnTo>
                    <a:pt x="713587" y="331825"/>
                  </a:lnTo>
                  <a:lnTo>
                    <a:pt x="716394" y="313486"/>
                  </a:lnTo>
                  <a:lnTo>
                    <a:pt x="715302" y="297522"/>
                  </a:lnTo>
                  <a:lnTo>
                    <a:pt x="690422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60" y="343458"/>
                  </a:lnTo>
                  <a:lnTo>
                    <a:pt x="566470" y="364985"/>
                  </a:lnTo>
                  <a:lnTo>
                    <a:pt x="598462" y="379704"/>
                  </a:lnTo>
                  <a:lnTo>
                    <a:pt x="634009" y="390474"/>
                  </a:lnTo>
                  <a:lnTo>
                    <a:pt x="710336" y="409155"/>
                  </a:lnTo>
                  <a:lnTo>
                    <a:pt x="749350" y="420395"/>
                  </a:lnTo>
                  <a:lnTo>
                    <a:pt x="786155" y="434962"/>
                  </a:lnTo>
                  <a:lnTo>
                    <a:pt x="844689" y="480275"/>
                  </a:lnTo>
                  <a:lnTo>
                    <a:pt x="862241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69" y="728903"/>
                  </a:lnTo>
                  <a:lnTo>
                    <a:pt x="760653" y="757161"/>
                  </a:lnTo>
                  <a:lnTo>
                    <a:pt x="719594" y="780161"/>
                  </a:lnTo>
                  <a:lnTo>
                    <a:pt x="674408" y="797941"/>
                  </a:lnTo>
                  <a:lnTo>
                    <a:pt x="626084" y="810577"/>
                  </a:lnTo>
                  <a:lnTo>
                    <a:pt x="575627" y="818121"/>
                  </a:lnTo>
                  <a:lnTo>
                    <a:pt x="524065" y="820610"/>
                  </a:lnTo>
                  <a:lnTo>
                    <a:pt x="473151" y="818794"/>
                  </a:lnTo>
                  <a:lnTo>
                    <a:pt x="425462" y="812838"/>
                  </a:lnTo>
                  <a:lnTo>
                    <a:pt x="382104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04" y="732675"/>
                  </a:lnTo>
                  <a:lnTo>
                    <a:pt x="274345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57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16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24" y="572452"/>
                  </a:lnTo>
                  <a:lnTo>
                    <a:pt x="628230" y="556996"/>
                  </a:lnTo>
                  <a:lnTo>
                    <a:pt x="594906" y="545071"/>
                  </a:lnTo>
                  <a:lnTo>
                    <a:pt x="508914" y="522744"/>
                  </a:lnTo>
                  <a:lnTo>
                    <a:pt x="460235" y="507771"/>
                  </a:lnTo>
                  <a:lnTo>
                    <a:pt x="410451" y="487222"/>
                  </a:lnTo>
                  <a:lnTo>
                    <a:pt x="371919" y="459282"/>
                  </a:lnTo>
                  <a:lnTo>
                    <a:pt x="348335" y="421398"/>
                  </a:lnTo>
                  <a:lnTo>
                    <a:pt x="339153" y="375475"/>
                  </a:lnTo>
                  <a:lnTo>
                    <a:pt x="343865" y="323443"/>
                  </a:lnTo>
                  <a:lnTo>
                    <a:pt x="361442" y="274574"/>
                  </a:lnTo>
                  <a:lnTo>
                    <a:pt x="386054" y="233654"/>
                  </a:lnTo>
                  <a:lnTo>
                    <a:pt x="416725" y="200101"/>
                  </a:lnTo>
                  <a:lnTo>
                    <a:pt x="452513" y="173329"/>
                  </a:lnTo>
                  <a:lnTo>
                    <a:pt x="492455" y="152742"/>
                  </a:lnTo>
                  <a:lnTo>
                    <a:pt x="535597" y="137756"/>
                  </a:lnTo>
                  <a:lnTo>
                    <a:pt x="580974" y="127787"/>
                  </a:lnTo>
                  <a:lnTo>
                    <a:pt x="627634" y="122237"/>
                  </a:lnTo>
                  <a:lnTo>
                    <a:pt x="674636" y="120523"/>
                  </a:lnTo>
                  <a:lnTo>
                    <a:pt x="720356" y="122428"/>
                  </a:lnTo>
                  <a:lnTo>
                    <a:pt x="764184" y="128524"/>
                  </a:lnTo>
                  <a:lnTo>
                    <a:pt x="804684" y="139306"/>
                  </a:lnTo>
                  <a:lnTo>
                    <a:pt x="840486" y="155308"/>
                  </a:lnTo>
                  <a:lnTo>
                    <a:pt x="892314" y="205041"/>
                  </a:lnTo>
                  <a:lnTo>
                    <a:pt x="908469" y="281914"/>
                  </a:lnTo>
                  <a:lnTo>
                    <a:pt x="908469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82" y="942378"/>
                  </a:lnTo>
                  <a:lnTo>
                    <a:pt x="3692982" y="820610"/>
                  </a:lnTo>
                  <a:lnTo>
                    <a:pt x="3692982" y="806462"/>
                  </a:lnTo>
                  <a:lnTo>
                    <a:pt x="3494544" y="806361"/>
                  </a:lnTo>
                  <a:lnTo>
                    <a:pt x="3494544" y="781545"/>
                  </a:lnTo>
                  <a:lnTo>
                    <a:pt x="3692982" y="781545"/>
                  </a:lnTo>
                  <a:lnTo>
                    <a:pt x="3692982" y="647623"/>
                  </a:lnTo>
                  <a:lnTo>
                    <a:pt x="3494544" y="647623"/>
                  </a:lnTo>
                  <a:lnTo>
                    <a:pt x="3494544" y="622820"/>
                  </a:lnTo>
                  <a:lnTo>
                    <a:pt x="3692982" y="622820"/>
                  </a:lnTo>
                  <a:lnTo>
                    <a:pt x="3692982" y="482930"/>
                  </a:lnTo>
                  <a:lnTo>
                    <a:pt x="3494544" y="482930"/>
                  </a:lnTo>
                  <a:lnTo>
                    <a:pt x="3494544" y="458101"/>
                  </a:lnTo>
                  <a:lnTo>
                    <a:pt x="3692982" y="458101"/>
                  </a:lnTo>
                  <a:lnTo>
                    <a:pt x="3692982" y="320408"/>
                  </a:lnTo>
                  <a:lnTo>
                    <a:pt x="3494544" y="320408"/>
                  </a:lnTo>
                  <a:lnTo>
                    <a:pt x="3494544" y="295605"/>
                  </a:lnTo>
                  <a:lnTo>
                    <a:pt x="3692982" y="295605"/>
                  </a:lnTo>
                  <a:lnTo>
                    <a:pt x="3692982" y="162204"/>
                  </a:lnTo>
                  <a:lnTo>
                    <a:pt x="3494544" y="162204"/>
                  </a:lnTo>
                  <a:lnTo>
                    <a:pt x="3494544" y="137388"/>
                  </a:lnTo>
                  <a:lnTo>
                    <a:pt x="3692982" y="137388"/>
                  </a:lnTo>
                  <a:lnTo>
                    <a:pt x="3692982" y="134556"/>
                  </a:lnTo>
                  <a:lnTo>
                    <a:pt x="3692982" y="120523"/>
                  </a:lnTo>
                  <a:lnTo>
                    <a:pt x="3692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1759" y="9004966"/>
              <a:ext cx="1885314" cy="1885314"/>
            </a:xfrm>
            <a:custGeom>
              <a:avLst/>
              <a:gdLst/>
              <a:ahLst/>
              <a:cxnLst/>
              <a:rect l="l" t="t" r="r" b="b"/>
              <a:pathLst>
                <a:path w="1885314" h="1885315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77"/>
                  </a:lnTo>
                  <a:lnTo>
                    <a:pt x="36372" y="1834464"/>
                  </a:lnTo>
                  <a:lnTo>
                    <a:pt x="26187" y="1832406"/>
                  </a:lnTo>
                  <a:lnTo>
                    <a:pt x="15989" y="1834464"/>
                  </a:lnTo>
                  <a:lnTo>
                    <a:pt x="7670" y="1840077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79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87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79"/>
                  </a:lnTo>
                  <a:lnTo>
                    <a:pt x="52362" y="1858581"/>
                  </a:lnTo>
                  <a:close/>
                </a:path>
                <a:path w="1885314" h="1885315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305"/>
                  </a:lnTo>
                  <a:lnTo>
                    <a:pt x="36372" y="1572691"/>
                  </a:lnTo>
                  <a:lnTo>
                    <a:pt x="26187" y="1570634"/>
                  </a:lnTo>
                  <a:lnTo>
                    <a:pt x="15989" y="1572691"/>
                  </a:lnTo>
                  <a:lnTo>
                    <a:pt x="7670" y="1578305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7007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87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7007"/>
                  </a:lnTo>
                  <a:lnTo>
                    <a:pt x="52362" y="1596809"/>
                  </a:lnTo>
                  <a:close/>
                </a:path>
                <a:path w="1885314" h="1885315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32"/>
                  </a:lnTo>
                  <a:lnTo>
                    <a:pt x="36372" y="1310919"/>
                  </a:lnTo>
                  <a:lnTo>
                    <a:pt x="26187" y="1308862"/>
                  </a:lnTo>
                  <a:lnTo>
                    <a:pt x="15989" y="1310919"/>
                  </a:lnTo>
                  <a:lnTo>
                    <a:pt x="7670" y="1316532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34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87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34"/>
                  </a:lnTo>
                  <a:lnTo>
                    <a:pt x="52362" y="1335036"/>
                  </a:lnTo>
                  <a:close/>
                </a:path>
                <a:path w="1885314" h="1885315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60"/>
                  </a:lnTo>
                  <a:lnTo>
                    <a:pt x="36372" y="1049147"/>
                  </a:lnTo>
                  <a:lnTo>
                    <a:pt x="26187" y="1047089"/>
                  </a:lnTo>
                  <a:lnTo>
                    <a:pt x="15989" y="1049147"/>
                  </a:lnTo>
                  <a:lnTo>
                    <a:pt x="7670" y="1054760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62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87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62"/>
                  </a:lnTo>
                  <a:lnTo>
                    <a:pt x="52362" y="1073264"/>
                  </a:lnTo>
                  <a:close/>
                </a:path>
                <a:path w="1885314" h="1885315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88"/>
                  </a:lnTo>
                  <a:lnTo>
                    <a:pt x="36372" y="787374"/>
                  </a:lnTo>
                  <a:lnTo>
                    <a:pt x="26187" y="785317"/>
                  </a:lnTo>
                  <a:lnTo>
                    <a:pt x="15989" y="787374"/>
                  </a:lnTo>
                  <a:lnTo>
                    <a:pt x="7670" y="792988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90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87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90"/>
                  </a:lnTo>
                  <a:lnTo>
                    <a:pt x="52362" y="811491"/>
                  </a:lnTo>
                  <a:close/>
                </a:path>
                <a:path w="1885314" h="188531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15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15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17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17"/>
                  </a:lnTo>
                  <a:lnTo>
                    <a:pt x="52362" y="549719"/>
                  </a:lnTo>
                  <a:close/>
                </a:path>
                <a:path w="1885314" h="188531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77"/>
                  </a:lnTo>
                  <a:lnTo>
                    <a:pt x="26187" y="314121"/>
                  </a:lnTo>
                  <a:lnTo>
                    <a:pt x="36372" y="312077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1885314" h="188531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304"/>
                  </a:lnTo>
                  <a:lnTo>
                    <a:pt x="26187" y="52349"/>
                  </a:lnTo>
                  <a:lnTo>
                    <a:pt x="36372" y="50304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1885314" h="1885315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77"/>
                  </a:lnTo>
                  <a:lnTo>
                    <a:pt x="298145" y="1834464"/>
                  </a:lnTo>
                  <a:lnTo>
                    <a:pt x="287959" y="1832406"/>
                  </a:lnTo>
                  <a:lnTo>
                    <a:pt x="277761" y="1834464"/>
                  </a:lnTo>
                  <a:lnTo>
                    <a:pt x="269443" y="1840077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79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59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79"/>
                  </a:lnTo>
                  <a:lnTo>
                    <a:pt x="314134" y="1858581"/>
                  </a:lnTo>
                  <a:close/>
                </a:path>
                <a:path w="1885314" h="1885315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305"/>
                  </a:lnTo>
                  <a:lnTo>
                    <a:pt x="298145" y="1572691"/>
                  </a:lnTo>
                  <a:lnTo>
                    <a:pt x="287959" y="1570634"/>
                  </a:lnTo>
                  <a:lnTo>
                    <a:pt x="277761" y="1572691"/>
                  </a:lnTo>
                  <a:lnTo>
                    <a:pt x="269443" y="1578305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7007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59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7007"/>
                  </a:lnTo>
                  <a:lnTo>
                    <a:pt x="314134" y="1596809"/>
                  </a:lnTo>
                  <a:close/>
                </a:path>
                <a:path w="1885314" h="1885315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32"/>
                  </a:lnTo>
                  <a:lnTo>
                    <a:pt x="298145" y="1310919"/>
                  </a:lnTo>
                  <a:lnTo>
                    <a:pt x="287959" y="1308862"/>
                  </a:lnTo>
                  <a:lnTo>
                    <a:pt x="277761" y="1310919"/>
                  </a:lnTo>
                  <a:lnTo>
                    <a:pt x="269443" y="1316532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34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59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34"/>
                  </a:lnTo>
                  <a:lnTo>
                    <a:pt x="314134" y="1335036"/>
                  </a:lnTo>
                  <a:close/>
                </a:path>
                <a:path w="1885314" h="1885315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60"/>
                  </a:lnTo>
                  <a:lnTo>
                    <a:pt x="298145" y="1049147"/>
                  </a:lnTo>
                  <a:lnTo>
                    <a:pt x="287959" y="1047089"/>
                  </a:lnTo>
                  <a:lnTo>
                    <a:pt x="277761" y="1049147"/>
                  </a:lnTo>
                  <a:lnTo>
                    <a:pt x="269443" y="1054760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62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59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62"/>
                  </a:lnTo>
                  <a:lnTo>
                    <a:pt x="314134" y="1073264"/>
                  </a:lnTo>
                  <a:close/>
                </a:path>
                <a:path w="1885314" h="1885315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88"/>
                  </a:lnTo>
                  <a:lnTo>
                    <a:pt x="298145" y="787374"/>
                  </a:lnTo>
                  <a:lnTo>
                    <a:pt x="287959" y="785317"/>
                  </a:lnTo>
                  <a:lnTo>
                    <a:pt x="277761" y="787374"/>
                  </a:lnTo>
                  <a:lnTo>
                    <a:pt x="269443" y="792988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90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59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90"/>
                  </a:lnTo>
                  <a:lnTo>
                    <a:pt x="314134" y="811491"/>
                  </a:lnTo>
                  <a:close/>
                </a:path>
                <a:path w="1885314" h="188531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15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15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17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17"/>
                  </a:lnTo>
                  <a:lnTo>
                    <a:pt x="314134" y="549719"/>
                  </a:lnTo>
                  <a:close/>
                </a:path>
                <a:path w="1885314" h="188531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77"/>
                  </a:lnTo>
                  <a:lnTo>
                    <a:pt x="287959" y="314121"/>
                  </a:lnTo>
                  <a:lnTo>
                    <a:pt x="298145" y="312077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1885314" h="188531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304"/>
                  </a:lnTo>
                  <a:lnTo>
                    <a:pt x="287959" y="52349"/>
                  </a:lnTo>
                  <a:lnTo>
                    <a:pt x="298145" y="50304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1885314" h="1885315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77"/>
                  </a:lnTo>
                  <a:lnTo>
                    <a:pt x="559917" y="1834464"/>
                  </a:lnTo>
                  <a:lnTo>
                    <a:pt x="549732" y="1832406"/>
                  </a:lnTo>
                  <a:lnTo>
                    <a:pt x="539534" y="1834464"/>
                  </a:lnTo>
                  <a:lnTo>
                    <a:pt x="531215" y="1840077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79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32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79"/>
                  </a:lnTo>
                  <a:lnTo>
                    <a:pt x="575906" y="1858581"/>
                  </a:lnTo>
                  <a:close/>
                </a:path>
                <a:path w="1885314" h="1885315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305"/>
                  </a:lnTo>
                  <a:lnTo>
                    <a:pt x="559917" y="1572691"/>
                  </a:lnTo>
                  <a:lnTo>
                    <a:pt x="549732" y="1570634"/>
                  </a:lnTo>
                  <a:lnTo>
                    <a:pt x="539534" y="1572691"/>
                  </a:lnTo>
                  <a:lnTo>
                    <a:pt x="531215" y="1578305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7007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32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7007"/>
                  </a:lnTo>
                  <a:lnTo>
                    <a:pt x="575906" y="1596809"/>
                  </a:lnTo>
                  <a:close/>
                </a:path>
                <a:path w="1885314" h="1885315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32"/>
                  </a:lnTo>
                  <a:lnTo>
                    <a:pt x="559917" y="1310919"/>
                  </a:lnTo>
                  <a:lnTo>
                    <a:pt x="549732" y="1308862"/>
                  </a:lnTo>
                  <a:lnTo>
                    <a:pt x="539534" y="1310919"/>
                  </a:lnTo>
                  <a:lnTo>
                    <a:pt x="531215" y="1316532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34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32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34"/>
                  </a:lnTo>
                  <a:lnTo>
                    <a:pt x="575906" y="1335036"/>
                  </a:lnTo>
                  <a:close/>
                </a:path>
                <a:path w="1885314" h="1885315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60"/>
                  </a:lnTo>
                  <a:lnTo>
                    <a:pt x="559917" y="1049147"/>
                  </a:lnTo>
                  <a:lnTo>
                    <a:pt x="549732" y="1047089"/>
                  </a:lnTo>
                  <a:lnTo>
                    <a:pt x="539534" y="1049147"/>
                  </a:lnTo>
                  <a:lnTo>
                    <a:pt x="531215" y="1054760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62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32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62"/>
                  </a:lnTo>
                  <a:lnTo>
                    <a:pt x="575906" y="1073264"/>
                  </a:lnTo>
                  <a:close/>
                </a:path>
                <a:path w="1885314" h="1885315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88"/>
                  </a:lnTo>
                  <a:lnTo>
                    <a:pt x="559917" y="787374"/>
                  </a:lnTo>
                  <a:lnTo>
                    <a:pt x="549732" y="785317"/>
                  </a:lnTo>
                  <a:lnTo>
                    <a:pt x="539534" y="787374"/>
                  </a:lnTo>
                  <a:lnTo>
                    <a:pt x="531215" y="792988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90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32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90"/>
                  </a:lnTo>
                  <a:lnTo>
                    <a:pt x="575906" y="811491"/>
                  </a:lnTo>
                  <a:close/>
                </a:path>
                <a:path w="1885314" h="188531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15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15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17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17"/>
                  </a:lnTo>
                  <a:lnTo>
                    <a:pt x="575906" y="549719"/>
                  </a:lnTo>
                  <a:close/>
                </a:path>
                <a:path w="1885314" h="188531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77"/>
                  </a:lnTo>
                  <a:lnTo>
                    <a:pt x="549732" y="314121"/>
                  </a:lnTo>
                  <a:lnTo>
                    <a:pt x="559917" y="312077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1885314" h="188531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304"/>
                  </a:lnTo>
                  <a:lnTo>
                    <a:pt x="549732" y="52349"/>
                  </a:lnTo>
                  <a:lnTo>
                    <a:pt x="559917" y="50304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  <a:path w="1885314" h="1885315">
                  <a:moveTo>
                    <a:pt x="837679" y="1858581"/>
                  </a:moveTo>
                  <a:lnTo>
                    <a:pt x="835621" y="1848396"/>
                  </a:lnTo>
                  <a:lnTo>
                    <a:pt x="830008" y="1840077"/>
                  </a:lnTo>
                  <a:lnTo>
                    <a:pt x="821690" y="1834464"/>
                  </a:lnTo>
                  <a:lnTo>
                    <a:pt x="811504" y="1832406"/>
                  </a:lnTo>
                  <a:lnTo>
                    <a:pt x="801306" y="1834464"/>
                  </a:lnTo>
                  <a:lnTo>
                    <a:pt x="792988" y="1840077"/>
                  </a:lnTo>
                  <a:lnTo>
                    <a:pt x="787374" y="1848396"/>
                  </a:lnTo>
                  <a:lnTo>
                    <a:pt x="785317" y="1858581"/>
                  </a:lnTo>
                  <a:lnTo>
                    <a:pt x="787374" y="1868779"/>
                  </a:lnTo>
                  <a:lnTo>
                    <a:pt x="792988" y="1877098"/>
                  </a:lnTo>
                  <a:lnTo>
                    <a:pt x="801306" y="1882698"/>
                  </a:lnTo>
                  <a:lnTo>
                    <a:pt x="811504" y="1884756"/>
                  </a:lnTo>
                  <a:lnTo>
                    <a:pt x="821690" y="1882698"/>
                  </a:lnTo>
                  <a:lnTo>
                    <a:pt x="830008" y="1877098"/>
                  </a:lnTo>
                  <a:lnTo>
                    <a:pt x="835621" y="1868779"/>
                  </a:lnTo>
                  <a:lnTo>
                    <a:pt x="837679" y="1858581"/>
                  </a:lnTo>
                  <a:close/>
                </a:path>
                <a:path w="1885314" h="1885315">
                  <a:moveTo>
                    <a:pt x="837679" y="1596809"/>
                  </a:moveTo>
                  <a:lnTo>
                    <a:pt x="835621" y="1586623"/>
                  </a:lnTo>
                  <a:lnTo>
                    <a:pt x="830008" y="1578305"/>
                  </a:lnTo>
                  <a:lnTo>
                    <a:pt x="821690" y="1572691"/>
                  </a:lnTo>
                  <a:lnTo>
                    <a:pt x="811504" y="1570634"/>
                  </a:lnTo>
                  <a:lnTo>
                    <a:pt x="801306" y="1572691"/>
                  </a:lnTo>
                  <a:lnTo>
                    <a:pt x="792988" y="1578305"/>
                  </a:lnTo>
                  <a:lnTo>
                    <a:pt x="787374" y="1586623"/>
                  </a:lnTo>
                  <a:lnTo>
                    <a:pt x="785317" y="1596809"/>
                  </a:lnTo>
                  <a:lnTo>
                    <a:pt x="787374" y="1607007"/>
                  </a:lnTo>
                  <a:lnTo>
                    <a:pt x="792988" y="1615325"/>
                  </a:lnTo>
                  <a:lnTo>
                    <a:pt x="801306" y="1620926"/>
                  </a:lnTo>
                  <a:lnTo>
                    <a:pt x="811504" y="1622983"/>
                  </a:lnTo>
                  <a:lnTo>
                    <a:pt x="821690" y="1620926"/>
                  </a:lnTo>
                  <a:lnTo>
                    <a:pt x="830008" y="1615325"/>
                  </a:lnTo>
                  <a:lnTo>
                    <a:pt x="835621" y="1607007"/>
                  </a:lnTo>
                  <a:lnTo>
                    <a:pt x="837679" y="1596809"/>
                  </a:lnTo>
                  <a:close/>
                </a:path>
                <a:path w="1885314" h="1885315">
                  <a:moveTo>
                    <a:pt x="837679" y="1335036"/>
                  </a:moveTo>
                  <a:lnTo>
                    <a:pt x="835621" y="1324851"/>
                  </a:lnTo>
                  <a:lnTo>
                    <a:pt x="830008" y="1316532"/>
                  </a:lnTo>
                  <a:lnTo>
                    <a:pt x="821690" y="1310919"/>
                  </a:lnTo>
                  <a:lnTo>
                    <a:pt x="811504" y="1308862"/>
                  </a:lnTo>
                  <a:lnTo>
                    <a:pt x="801306" y="1310919"/>
                  </a:lnTo>
                  <a:lnTo>
                    <a:pt x="792988" y="1316532"/>
                  </a:lnTo>
                  <a:lnTo>
                    <a:pt x="787374" y="1324851"/>
                  </a:lnTo>
                  <a:lnTo>
                    <a:pt x="785317" y="1335036"/>
                  </a:lnTo>
                  <a:lnTo>
                    <a:pt x="787374" y="1345234"/>
                  </a:lnTo>
                  <a:lnTo>
                    <a:pt x="792988" y="1353553"/>
                  </a:lnTo>
                  <a:lnTo>
                    <a:pt x="801306" y="1359154"/>
                  </a:lnTo>
                  <a:lnTo>
                    <a:pt x="811504" y="1361211"/>
                  </a:lnTo>
                  <a:lnTo>
                    <a:pt x="821690" y="1359154"/>
                  </a:lnTo>
                  <a:lnTo>
                    <a:pt x="830008" y="1353553"/>
                  </a:lnTo>
                  <a:lnTo>
                    <a:pt x="835621" y="1345234"/>
                  </a:lnTo>
                  <a:lnTo>
                    <a:pt x="837679" y="1335036"/>
                  </a:lnTo>
                  <a:close/>
                </a:path>
                <a:path w="1885314" h="1885315">
                  <a:moveTo>
                    <a:pt x="837679" y="1073264"/>
                  </a:moveTo>
                  <a:lnTo>
                    <a:pt x="835621" y="1063078"/>
                  </a:lnTo>
                  <a:lnTo>
                    <a:pt x="830008" y="1054760"/>
                  </a:lnTo>
                  <a:lnTo>
                    <a:pt x="821690" y="1049147"/>
                  </a:lnTo>
                  <a:lnTo>
                    <a:pt x="811504" y="1047089"/>
                  </a:lnTo>
                  <a:lnTo>
                    <a:pt x="801306" y="1049147"/>
                  </a:lnTo>
                  <a:lnTo>
                    <a:pt x="792988" y="1054760"/>
                  </a:lnTo>
                  <a:lnTo>
                    <a:pt x="787374" y="1063078"/>
                  </a:lnTo>
                  <a:lnTo>
                    <a:pt x="785317" y="1073264"/>
                  </a:lnTo>
                  <a:lnTo>
                    <a:pt x="787374" y="1083462"/>
                  </a:lnTo>
                  <a:lnTo>
                    <a:pt x="792988" y="1091780"/>
                  </a:lnTo>
                  <a:lnTo>
                    <a:pt x="801306" y="1097381"/>
                  </a:lnTo>
                  <a:lnTo>
                    <a:pt x="811504" y="1099439"/>
                  </a:lnTo>
                  <a:lnTo>
                    <a:pt x="821690" y="1097381"/>
                  </a:lnTo>
                  <a:lnTo>
                    <a:pt x="830008" y="1091780"/>
                  </a:lnTo>
                  <a:lnTo>
                    <a:pt x="835621" y="1083462"/>
                  </a:lnTo>
                  <a:lnTo>
                    <a:pt x="837679" y="1073264"/>
                  </a:lnTo>
                  <a:close/>
                </a:path>
                <a:path w="1885314" h="1885315">
                  <a:moveTo>
                    <a:pt x="837679" y="811491"/>
                  </a:moveTo>
                  <a:lnTo>
                    <a:pt x="835621" y="801306"/>
                  </a:lnTo>
                  <a:lnTo>
                    <a:pt x="830008" y="792988"/>
                  </a:lnTo>
                  <a:lnTo>
                    <a:pt x="821690" y="787374"/>
                  </a:lnTo>
                  <a:lnTo>
                    <a:pt x="811504" y="785317"/>
                  </a:lnTo>
                  <a:lnTo>
                    <a:pt x="801306" y="787374"/>
                  </a:lnTo>
                  <a:lnTo>
                    <a:pt x="792988" y="792988"/>
                  </a:lnTo>
                  <a:lnTo>
                    <a:pt x="787374" y="801306"/>
                  </a:lnTo>
                  <a:lnTo>
                    <a:pt x="785317" y="811491"/>
                  </a:lnTo>
                  <a:lnTo>
                    <a:pt x="787374" y="821690"/>
                  </a:lnTo>
                  <a:lnTo>
                    <a:pt x="792988" y="830008"/>
                  </a:lnTo>
                  <a:lnTo>
                    <a:pt x="801306" y="835609"/>
                  </a:lnTo>
                  <a:lnTo>
                    <a:pt x="811504" y="837666"/>
                  </a:lnTo>
                  <a:lnTo>
                    <a:pt x="821690" y="835609"/>
                  </a:lnTo>
                  <a:lnTo>
                    <a:pt x="830008" y="830008"/>
                  </a:lnTo>
                  <a:lnTo>
                    <a:pt x="835621" y="821690"/>
                  </a:lnTo>
                  <a:lnTo>
                    <a:pt x="837679" y="811491"/>
                  </a:lnTo>
                  <a:close/>
                </a:path>
                <a:path w="1885314" h="188531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15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15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17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17"/>
                  </a:lnTo>
                  <a:lnTo>
                    <a:pt x="837679" y="549719"/>
                  </a:lnTo>
                  <a:close/>
                </a:path>
                <a:path w="1885314" h="188531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43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43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45"/>
                  </a:lnTo>
                  <a:lnTo>
                    <a:pt x="792988" y="306463"/>
                  </a:lnTo>
                  <a:lnTo>
                    <a:pt x="801306" y="312077"/>
                  </a:lnTo>
                  <a:lnTo>
                    <a:pt x="811504" y="314121"/>
                  </a:lnTo>
                  <a:lnTo>
                    <a:pt x="821690" y="312077"/>
                  </a:lnTo>
                  <a:lnTo>
                    <a:pt x="830008" y="306463"/>
                  </a:lnTo>
                  <a:lnTo>
                    <a:pt x="835621" y="298145"/>
                  </a:lnTo>
                  <a:lnTo>
                    <a:pt x="837679" y="287947"/>
                  </a:lnTo>
                  <a:close/>
                </a:path>
                <a:path w="1885314" h="188531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70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70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72"/>
                  </a:lnTo>
                  <a:lnTo>
                    <a:pt x="792988" y="44691"/>
                  </a:lnTo>
                  <a:lnTo>
                    <a:pt x="801306" y="50304"/>
                  </a:lnTo>
                  <a:lnTo>
                    <a:pt x="811504" y="52349"/>
                  </a:lnTo>
                  <a:lnTo>
                    <a:pt x="821690" y="50304"/>
                  </a:lnTo>
                  <a:lnTo>
                    <a:pt x="830008" y="44691"/>
                  </a:lnTo>
                  <a:lnTo>
                    <a:pt x="835621" y="36372"/>
                  </a:lnTo>
                  <a:lnTo>
                    <a:pt x="837679" y="26174"/>
                  </a:lnTo>
                  <a:close/>
                </a:path>
                <a:path w="1885314" h="1885315">
                  <a:moveTo>
                    <a:pt x="1099451" y="1858581"/>
                  </a:moveTo>
                  <a:lnTo>
                    <a:pt x="1097394" y="1848396"/>
                  </a:lnTo>
                  <a:lnTo>
                    <a:pt x="1091780" y="1840077"/>
                  </a:lnTo>
                  <a:lnTo>
                    <a:pt x="1083462" y="1834464"/>
                  </a:lnTo>
                  <a:lnTo>
                    <a:pt x="1073277" y="1832406"/>
                  </a:lnTo>
                  <a:lnTo>
                    <a:pt x="1063078" y="1834464"/>
                  </a:lnTo>
                  <a:lnTo>
                    <a:pt x="1054760" y="1840077"/>
                  </a:lnTo>
                  <a:lnTo>
                    <a:pt x="1049147" y="1848396"/>
                  </a:lnTo>
                  <a:lnTo>
                    <a:pt x="1047089" y="1858581"/>
                  </a:lnTo>
                  <a:lnTo>
                    <a:pt x="1049147" y="1868779"/>
                  </a:lnTo>
                  <a:lnTo>
                    <a:pt x="1054760" y="1877098"/>
                  </a:lnTo>
                  <a:lnTo>
                    <a:pt x="1063078" y="1882698"/>
                  </a:lnTo>
                  <a:lnTo>
                    <a:pt x="1073277" y="1884756"/>
                  </a:lnTo>
                  <a:lnTo>
                    <a:pt x="1083462" y="1882698"/>
                  </a:lnTo>
                  <a:lnTo>
                    <a:pt x="1091780" y="1877098"/>
                  </a:lnTo>
                  <a:lnTo>
                    <a:pt x="1097394" y="1868779"/>
                  </a:lnTo>
                  <a:lnTo>
                    <a:pt x="1099451" y="1858581"/>
                  </a:lnTo>
                  <a:close/>
                </a:path>
                <a:path w="1885314" h="1885315">
                  <a:moveTo>
                    <a:pt x="1099451" y="1596809"/>
                  </a:moveTo>
                  <a:lnTo>
                    <a:pt x="1097394" y="1586623"/>
                  </a:lnTo>
                  <a:lnTo>
                    <a:pt x="1091780" y="1578305"/>
                  </a:lnTo>
                  <a:lnTo>
                    <a:pt x="1083462" y="1572691"/>
                  </a:lnTo>
                  <a:lnTo>
                    <a:pt x="1073277" y="1570634"/>
                  </a:lnTo>
                  <a:lnTo>
                    <a:pt x="1063078" y="1572691"/>
                  </a:lnTo>
                  <a:lnTo>
                    <a:pt x="1054760" y="1578305"/>
                  </a:lnTo>
                  <a:lnTo>
                    <a:pt x="1049147" y="1586623"/>
                  </a:lnTo>
                  <a:lnTo>
                    <a:pt x="1047089" y="1596809"/>
                  </a:lnTo>
                  <a:lnTo>
                    <a:pt x="1049147" y="1607007"/>
                  </a:lnTo>
                  <a:lnTo>
                    <a:pt x="1054760" y="1615325"/>
                  </a:lnTo>
                  <a:lnTo>
                    <a:pt x="1063078" y="1620926"/>
                  </a:lnTo>
                  <a:lnTo>
                    <a:pt x="1073277" y="1622983"/>
                  </a:lnTo>
                  <a:lnTo>
                    <a:pt x="1083462" y="1620926"/>
                  </a:lnTo>
                  <a:lnTo>
                    <a:pt x="1091780" y="1615325"/>
                  </a:lnTo>
                  <a:lnTo>
                    <a:pt x="1097394" y="1607007"/>
                  </a:lnTo>
                  <a:lnTo>
                    <a:pt x="1099451" y="1596809"/>
                  </a:lnTo>
                  <a:close/>
                </a:path>
                <a:path w="1885314" h="1885315">
                  <a:moveTo>
                    <a:pt x="1099451" y="1335036"/>
                  </a:moveTo>
                  <a:lnTo>
                    <a:pt x="1097394" y="1324851"/>
                  </a:lnTo>
                  <a:lnTo>
                    <a:pt x="1091780" y="1316532"/>
                  </a:lnTo>
                  <a:lnTo>
                    <a:pt x="1083462" y="1310919"/>
                  </a:lnTo>
                  <a:lnTo>
                    <a:pt x="1073277" y="1308862"/>
                  </a:lnTo>
                  <a:lnTo>
                    <a:pt x="1063078" y="1310919"/>
                  </a:lnTo>
                  <a:lnTo>
                    <a:pt x="1054760" y="1316532"/>
                  </a:lnTo>
                  <a:lnTo>
                    <a:pt x="1049147" y="1324851"/>
                  </a:lnTo>
                  <a:lnTo>
                    <a:pt x="1047089" y="1335036"/>
                  </a:lnTo>
                  <a:lnTo>
                    <a:pt x="1049147" y="1345234"/>
                  </a:lnTo>
                  <a:lnTo>
                    <a:pt x="1054760" y="1353553"/>
                  </a:lnTo>
                  <a:lnTo>
                    <a:pt x="1063078" y="1359154"/>
                  </a:lnTo>
                  <a:lnTo>
                    <a:pt x="1073277" y="1361211"/>
                  </a:lnTo>
                  <a:lnTo>
                    <a:pt x="1083462" y="1359154"/>
                  </a:lnTo>
                  <a:lnTo>
                    <a:pt x="1091780" y="1353553"/>
                  </a:lnTo>
                  <a:lnTo>
                    <a:pt x="1097394" y="1345234"/>
                  </a:lnTo>
                  <a:lnTo>
                    <a:pt x="1099451" y="1335036"/>
                  </a:lnTo>
                  <a:close/>
                </a:path>
                <a:path w="1885314" h="1885315">
                  <a:moveTo>
                    <a:pt x="1099451" y="1073264"/>
                  </a:moveTo>
                  <a:lnTo>
                    <a:pt x="1097394" y="1063078"/>
                  </a:lnTo>
                  <a:lnTo>
                    <a:pt x="1091780" y="1054760"/>
                  </a:lnTo>
                  <a:lnTo>
                    <a:pt x="1083462" y="1049147"/>
                  </a:lnTo>
                  <a:lnTo>
                    <a:pt x="1073277" y="1047089"/>
                  </a:lnTo>
                  <a:lnTo>
                    <a:pt x="1063078" y="1049147"/>
                  </a:lnTo>
                  <a:lnTo>
                    <a:pt x="1054760" y="1054760"/>
                  </a:lnTo>
                  <a:lnTo>
                    <a:pt x="1049147" y="1063078"/>
                  </a:lnTo>
                  <a:lnTo>
                    <a:pt x="1047089" y="1073264"/>
                  </a:lnTo>
                  <a:lnTo>
                    <a:pt x="1049147" y="1083462"/>
                  </a:lnTo>
                  <a:lnTo>
                    <a:pt x="1054760" y="1091780"/>
                  </a:lnTo>
                  <a:lnTo>
                    <a:pt x="1063078" y="1097381"/>
                  </a:lnTo>
                  <a:lnTo>
                    <a:pt x="1073277" y="1099439"/>
                  </a:lnTo>
                  <a:lnTo>
                    <a:pt x="1083462" y="1097381"/>
                  </a:lnTo>
                  <a:lnTo>
                    <a:pt x="1091780" y="1091780"/>
                  </a:lnTo>
                  <a:lnTo>
                    <a:pt x="1097394" y="1083462"/>
                  </a:lnTo>
                  <a:lnTo>
                    <a:pt x="1099451" y="1073264"/>
                  </a:lnTo>
                  <a:close/>
                </a:path>
                <a:path w="1885314" h="1885315">
                  <a:moveTo>
                    <a:pt x="1099451" y="811491"/>
                  </a:moveTo>
                  <a:lnTo>
                    <a:pt x="1097394" y="801306"/>
                  </a:lnTo>
                  <a:lnTo>
                    <a:pt x="1091780" y="792988"/>
                  </a:lnTo>
                  <a:lnTo>
                    <a:pt x="1083462" y="787374"/>
                  </a:lnTo>
                  <a:lnTo>
                    <a:pt x="1073277" y="785317"/>
                  </a:lnTo>
                  <a:lnTo>
                    <a:pt x="1063078" y="787374"/>
                  </a:lnTo>
                  <a:lnTo>
                    <a:pt x="1054760" y="792988"/>
                  </a:lnTo>
                  <a:lnTo>
                    <a:pt x="1049147" y="801306"/>
                  </a:lnTo>
                  <a:lnTo>
                    <a:pt x="1047089" y="811491"/>
                  </a:lnTo>
                  <a:lnTo>
                    <a:pt x="1049147" y="821690"/>
                  </a:lnTo>
                  <a:lnTo>
                    <a:pt x="1054760" y="830008"/>
                  </a:lnTo>
                  <a:lnTo>
                    <a:pt x="1063078" y="835609"/>
                  </a:lnTo>
                  <a:lnTo>
                    <a:pt x="1073277" y="837666"/>
                  </a:lnTo>
                  <a:lnTo>
                    <a:pt x="1083462" y="835609"/>
                  </a:lnTo>
                  <a:lnTo>
                    <a:pt x="1091780" y="830008"/>
                  </a:lnTo>
                  <a:lnTo>
                    <a:pt x="1097394" y="821690"/>
                  </a:lnTo>
                  <a:lnTo>
                    <a:pt x="1099451" y="811491"/>
                  </a:lnTo>
                  <a:close/>
                </a:path>
                <a:path w="1885314" h="188531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15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15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17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17"/>
                  </a:lnTo>
                  <a:lnTo>
                    <a:pt x="1099451" y="549719"/>
                  </a:lnTo>
                  <a:close/>
                </a:path>
                <a:path w="1885314" h="188531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43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43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45"/>
                  </a:lnTo>
                  <a:lnTo>
                    <a:pt x="1054760" y="306463"/>
                  </a:lnTo>
                  <a:lnTo>
                    <a:pt x="1063078" y="312077"/>
                  </a:lnTo>
                  <a:lnTo>
                    <a:pt x="1073277" y="314121"/>
                  </a:lnTo>
                  <a:lnTo>
                    <a:pt x="1083462" y="312077"/>
                  </a:lnTo>
                  <a:lnTo>
                    <a:pt x="1091780" y="306463"/>
                  </a:lnTo>
                  <a:lnTo>
                    <a:pt x="1097394" y="298145"/>
                  </a:lnTo>
                  <a:lnTo>
                    <a:pt x="1099451" y="287947"/>
                  </a:lnTo>
                  <a:close/>
                </a:path>
                <a:path w="1885314" h="188531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70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70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72"/>
                  </a:lnTo>
                  <a:lnTo>
                    <a:pt x="1054760" y="44691"/>
                  </a:lnTo>
                  <a:lnTo>
                    <a:pt x="1063078" y="50304"/>
                  </a:lnTo>
                  <a:lnTo>
                    <a:pt x="1073277" y="52349"/>
                  </a:lnTo>
                  <a:lnTo>
                    <a:pt x="1083462" y="50304"/>
                  </a:lnTo>
                  <a:lnTo>
                    <a:pt x="1091780" y="44691"/>
                  </a:lnTo>
                  <a:lnTo>
                    <a:pt x="1097394" y="36372"/>
                  </a:lnTo>
                  <a:lnTo>
                    <a:pt x="1099451" y="26174"/>
                  </a:lnTo>
                  <a:close/>
                </a:path>
                <a:path w="1885314" h="1885315">
                  <a:moveTo>
                    <a:pt x="1361224" y="1858581"/>
                  </a:moveTo>
                  <a:lnTo>
                    <a:pt x="1359166" y="1848396"/>
                  </a:lnTo>
                  <a:lnTo>
                    <a:pt x="1353553" y="1840077"/>
                  </a:lnTo>
                  <a:lnTo>
                    <a:pt x="1345234" y="1834464"/>
                  </a:lnTo>
                  <a:lnTo>
                    <a:pt x="1335049" y="1832406"/>
                  </a:lnTo>
                  <a:lnTo>
                    <a:pt x="1324851" y="1834464"/>
                  </a:lnTo>
                  <a:lnTo>
                    <a:pt x="1316532" y="1840077"/>
                  </a:lnTo>
                  <a:lnTo>
                    <a:pt x="1310919" y="1848396"/>
                  </a:lnTo>
                  <a:lnTo>
                    <a:pt x="1308862" y="1858581"/>
                  </a:lnTo>
                  <a:lnTo>
                    <a:pt x="1310919" y="1868779"/>
                  </a:lnTo>
                  <a:lnTo>
                    <a:pt x="1316532" y="1877098"/>
                  </a:lnTo>
                  <a:lnTo>
                    <a:pt x="1324851" y="1882698"/>
                  </a:lnTo>
                  <a:lnTo>
                    <a:pt x="1335049" y="1884756"/>
                  </a:lnTo>
                  <a:lnTo>
                    <a:pt x="1345234" y="1882698"/>
                  </a:lnTo>
                  <a:lnTo>
                    <a:pt x="1353553" y="1877098"/>
                  </a:lnTo>
                  <a:lnTo>
                    <a:pt x="1359166" y="1868779"/>
                  </a:lnTo>
                  <a:lnTo>
                    <a:pt x="1361224" y="1858581"/>
                  </a:lnTo>
                  <a:close/>
                </a:path>
                <a:path w="1885314" h="1885315">
                  <a:moveTo>
                    <a:pt x="1361224" y="1596809"/>
                  </a:moveTo>
                  <a:lnTo>
                    <a:pt x="1359166" y="1586623"/>
                  </a:lnTo>
                  <a:lnTo>
                    <a:pt x="1353553" y="1578305"/>
                  </a:lnTo>
                  <a:lnTo>
                    <a:pt x="1345234" y="1572691"/>
                  </a:lnTo>
                  <a:lnTo>
                    <a:pt x="1335049" y="1570634"/>
                  </a:lnTo>
                  <a:lnTo>
                    <a:pt x="1324851" y="1572691"/>
                  </a:lnTo>
                  <a:lnTo>
                    <a:pt x="1316532" y="1578305"/>
                  </a:lnTo>
                  <a:lnTo>
                    <a:pt x="1310919" y="1586623"/>
                  </a:lnTo>
                  <a:lnTo>
                    <a:pt x="1308862" y="1596809"/>
                  </a:lnTo>
                  <a:lnTo>
                    <a:pt x="1310919" y="1607007"/>
                  </a:lnTo>
                  <a:lnTo>
                    <a:pt x="1316532" y="1615325"/>
                  </a:lnTo>
                  <a:lnTo>
                    <a:pt x="1324851" y="1620926"/>
                  </a:lnTo>
                  <a:lnTo>
                    <a:pt x="1335049" y="1622983"/>
                  </a:lnTo>
                  <a:lnTo>
                    <a:pt x="1345234" y="1620926"/>
                  </a:lnTo>
                  <a:lnTo>
                    <a:pt x="1353553" y="1615325"/>
                  </a:lnTo>
                  <a:lnTo>
                    <a:pt x="1359166" y="1607007"/>
                  </a:lnTo>
                  <a:lnTo>
                    <a:pt x="1361224" y="1596809"/>
                  </a:lnTo>
                  <a:close/>
                </a:path>
                <a:path w="1885314" h="1885315">
                  <a:moveTo>
                    <a:pt x="1361224" y="1335036"/>
                  </a:moveTo>
                  <a:lnTo>
                    <a:pt x="1359166" y="1324851"/>
                  </a:lnTo>
                  <a:lnTo>
                    <a:pt x="1353553" y="1316532"/>
                  </a:lnTo>
                  <a:lnTo>
                    <a:pt x="1345234" y="1310919"/>
                  </a:lnTo>
                  <a:lnTo>
                    <a:pt x="1335049" y="1308862"/>
                  </a:lnTo>
                  <a:lnTo>
                    <a:pt x="1324851" y="1310919"/>
                  </a:lnTo>
                  <a:lnTo>
                    <a:pt x="1316532" y="1316532"/>
                  </a:lnTo>
                  <a:lnTo>
                    <a:pt x="1310919" y="1324851"/>
                  </a:lnTo>
                  <a:lnTo>
                    <a:pt x="1308862" y="1335036"/>
                  </a:lnTo>
                  <a:lnTo>
                    <a:pt x="1310919" y="1345234"/>
                  </a:lnTo>
                  <a:lnTo>
                    <a:pt x="1316532" y="1353553"/>
                  </a:lnTo>
                  <a:lnTo>
                    <a:pt x="1324851" y="1359154"/>
                  </a:lnTo>
                  <a:lnTo>
                    <a:pt x="1335049" y="1361211"/>
                  </a:lnTo>
                  <a:lnTo>
                    <a:pt x="1345234" y="1359154"/>
                  </a:lnTo>
                  <a:lnTo>
                    <a:pt x="1353553" y="1353553"/>
                  </a:lnTo>
                  <a:lnTo>
                    <a:pt x="1359166" y="1345234"/>
                  </a:lnTo>
                  <a:lnTo>
                    <a:pt x="1361224" y="1335036"/>
                  </a:lnTo>
                  <a:close/>
                </a:path>
                <a:path w="1885314" h="1885315">
                  <a:moveTo>
                    <a:pt x="1361224" y="1073264"/>
                  </a:moveTo>
                  <a:lnTo>
                    <a:pt x="1359166" y="1063078"/>
                  </a:lnTo>
                  <a:lnTo>
                    <a:pt x="1353553" y="1054760"/>
                  </a:lnTo>
                  <a:lnTo>
                    <a:pt x="1345234" y="1049147"/>
                  </a:lnTo>
                  <a:lnTo>
                    <a:pt x="1335049" y="1047089"/>
                  </a:lnTo>
                  <a:lnTo>
                    <a:pt x="1324851" y="1049147"/>
                  </a:lnTo>
                  <a:lnTo>
                    <a:pt x="1316532" y="1054760"/>
                  </a:lnTo>
                  <a:lnTo>
                    <a:pt x="1310919" y="1063078"/>
                  </a:lnTo>
                  <a:lnTo>
                    <a:pt x="1308862" y="1073264"/>
                  </a:lnTo>
                  <a:lnTo>
                    <a:pt x="1310919" y="1083462"/>
                  </a:lnTo>
                  <a:lnTo>
                    <a:pt x="1316532" y="1091780"/>
                  </a:lnTo>
                  <a:lnTo>
                    <a:pt x="1324851" y="1097381"/>
                  </a:lnTo>
                  <a:lnTo>
                    <a:pt x="1335049" y="1099439"/>
                  </a:lnTo>
                  <a:lnTo>
                    <a:pt x="1345234" y="1097381"/>
                  </a:lnTo>
                  <a:lnTo>
                    <a:pt x="1353553" y="1091780"/>
                  </a:lnTo>
                  <a:lnTo>
                    <a:pt x="1359166" y="1083462"/>
                  </a:lnTo>
                  <a:lnTo>
                    <a:pt x="1361224" y="1073264"/>
                  </a:lnTo>
                  <a:close/>
                </a:path>
                <a:path w="1885314" h="1885315">
                  <a:moveTo>
                    <a:pt x="1361224" y="811491"/>
                  </a:moveTo>
                  <a:lnTo>
                    <a:pt x="1359166" y="801306"/>
                  </a:lnTo>
                  <a:lnTo>
                    <a:pt x="1353553" y="792988"/>
                  </a:lnTo>
                  <a:lnTo>
                    <a:pt x="1345234" y="787374"/>
                  </a:lnTo>
                  <a:lnTo>
                    <a:pt x="1335049" y="785317"/>
                  </a:lnTo>
                  <a:lnTo>
                    <a:pt x="1324851" y="787374"/>
                  </a:lnTo>
                  <a:lnTo>
                    <a:pt x="1316532" y="792988"/>
                  </a:lnTo>
                  <a:lnTo>
                    <a:pt x="1310919" y="801306"/>
                  </a:lnTo>
                  <a:lnTo>
                    <a:pt x="1308862" y="811491"/>
                  </a:lnTo>
                  <a:lnTo>
                    <a:pt x="1310919" y="821690"/>
                  </a:lnTo>
                  <a:lnTo>
                    <a:pt x="1316532" y="830008"/>
                  </a:lnTo>
                  <a:lnTo>
                    <a:pt x="1324851" y="835609"/>
                  </a:lnTo>
                  <a:lnTo>
                    <a:pt x="1335049" y="837666"/>
                  </a:lnTo>
                  <a:lnTo>
                    <a:pt x="1345234" y="835609"/>
                  </a:lnTo>
                  <a:lnTo>
                    <a:pt x="1353553" y="830008"/>
                  </a:lnTo>
                  <a:lnTo>
                    <a:pt x="1359166" y="821690"/>
                  </a:lnTo>
                  <a:lnTo>
                    <a:pt x="1361224" y="811491"/>
                  </a:lnTo>
                  <a:close/>
                </a:path>
                <a:path w="1885314" h="188531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15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15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17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17"/>
                  </a:lnTo>
                  <a:lnTo>
                    <a:pt x="1361224" y="549719"/>
                  </a:lnTo>
                  <a:close/>
                </a:path>
                <a:path w="1885314" h="188531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43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43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45"/>
                  </a:lnTo>
                  <a:lnTo>
                    <a:pt x="1316532" y="306463"/>
                  </a:lnTo>
                  <a:lnTo>
                    <a:pt x="1324851" y="312077"/>
                  </a:lnTo>
                  <a:lnTo>
                    <a:pt x="1335049" y="314121"/>
                  </a:lnTo>
                  <a:lnTo>
                    <a:pt x="1345234" y="312077"/>
                  </a:lnTo>
                  <a:lnTo>
                    <a:pt x="1353553" y="306463"/>
                  </a:lnTo>
                  <a:lnTo>
                    <a:pt x="1359166" y="298145"/>
                  </a:lnTo>
                  <a:lnTo>
                    <a:pt x="1361224" y="287947"/>
                  </a:lnTo>
                  <a:close/>
                </a:path>
                <a:path w="1885314" h="188531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70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70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72"/>
                  </a:lnTo>
                  <a:lnTo>
                    <a:pt x="1316532" y="44691"/>
                  </a:lnTo>
                  <a:lnTo>
                    <a:pt x="1324851" y="50304"/>
                  </a:lnTo>
                  <a:lnTo>
                    <a:pt x="1335049" y="52349"/>
                  </a:lnTo>
                  <a:lnTo>
                    <a:pt x="1345234" y="50304"/>
                  </a:lnTo>
                  <a:lnTo>
                    <a:pt x="1353553" y="44691"/>
                  </a:lnTo>
                  <a:lnTo>
                    <a:pt x="1359166" y="36372"/>
                  </a:lnTo>
                  <a:lnTo>
                    <a:pt x="1361224" y="26174"/>
                  </a:lnTo>
                  <a:close/>
                </a:path>
                <a:path w="1885314" h="1885315">
                  <a:moveTo>
                    <a:pt x="1622996" y="1858581"/>
                  </a:moveTo>
                  <a:lnTo>
                    <a:pt x="1620939" y="1848396"/>
                  </a:lnTo>
                  <a:lnTo>
                    <a:pt x="1615325" y="1840077"/>
                  </a:lnTo>
                  <a:lnTo>
                    <a:pt x="1607007" y="1834464"/>
                  </a:lnTo>
                  <a:lnTo>
                    <a:pt x="1596821" y="1832406"/>
                  </a:lnTo>
                  <a:lnTo>
                    <a:pt x="1586623" y="1834464"/>
                  </a:lnTo>
                  <a:lnTo>
                    <a:pt x="1578305" y="1840077"/>
                  </a:lnTo>
                  <a:lnTo>
                    <a:pt x="1572691" y="1848396"/>
                  </a:lnTo>
                  <a:lnTo>
                    <a:pt x="1570634" y="1858581"/>
                  </a:lnTo>
                  <a:lnTo>
                    <a:pt x="1572691" y="1868779"/>
                  </a:lnTo>
                  <a:lnTo>
                    <a:pt x="1578305" y="1877098"/>
                  </a:lnTo>
                  <a:lnTo>
                    <a:pt x="1586623" y="1882698"/>
                  </a:lnTo>
                  <a:lnTo>
                    <a:pt x="1596821" y="1884756"/>
                  </a:lnTo>
                  <a:lnTo>
                    <a:pt x="1607007" y="1882698"/>
                  </a:lnTo>
                  <a:lnTo>
                    <a:pt x="1615325" y="1877098"/>
                  </a:lnTo>
                  <a:lnTo>
                    <a:pt x="1620939" y="1868779"/>
                  </a:lnTo>
                  <a:lnTo>
                    <a:pt x="1622996" y="1858581"/>
                  </a:lnTo>
                  <a:close/>
                </a:path>
                <a:path w="1885314" h="1885315">
                  <a:moveTo>
                    <a:pt x="1622996" y="1596809"/>
                  </a:moveTo>
                  <a:lnTo>
                    <a:pt x="1620939" y="1586623"/>
                  </a:lnTo>
                  <a:lnTo>
                    <a:pt x="1615325" y="1578305"/>
                  </a:lnTo>
                  <a:lnTo>
                    <a:pt x="1607007" y="1572691"/>
                  </a:lnTo>
                  <a:lnTo>
                    <a:pt x="1596821" y="1570634"/>
                  </a:lnTo>
                  <a:lnTo>
                    <a:pt x="1586623" y="1572691"/>
                  </a:lnTo>
                  <a:lnTo>
                    <a:pt x="1578305" y="1578305"/>
                  </a:lnTo>
                  <a:lnTo>
                    <a:pt x="1572691" y="1586623"/>
                  </a:lnTo>
                  <a:lnTo>
                    <a:pt x="1570634" y="1596809"/>
                  </a:lnTo>
                  <a:lnTo>
                    <a:pt x="1572691" y="1607007"/>
                  </a:lnTo>
                  <a:lnTo>
                    <a:pt x="1578305" y="1615325"/>
                  </a:lnTo>
                  <a:lnTo>
                    <a:pt x="1586623" y="1620926"/>
                  </a:lnTo>
                  <a:lnTo>
                    <a:pt x="1596821" y="1622983"/>
                  </a:lnTo>
                  <a:lnTo>
                    <a:pt x="1607007" y="1620926"/>
                  </a:lnTo>
                  <a:lnTo>
                    <a:pt x="1615325" y="1615325"/>
                  </a:lnTo>
                  <a:lnTo>
                    <a:pt x="1620939" y="1607007"/>
                  </a:lnTo>
                  <a:lnTo>
                    <a:pt x="1622996" y="1596809"/>
                  </a:lnTo>
                  <a:close/>
                </a:path>
                <a:path w="1885314" h="1885315">
                  <a:moveTo>
                    <a:pt x="1622996" y="1335036"/>
                  </a:moveTo>
                  <a:lnTo>
                    <a:pt x="1620939" y="1324851"/>
                  </a:lnTo>
                  <a:lnTo>
                    <a:pt x="1615325" y="1316532"/>
                  </a:lnTo>
                  <a:lnTo>
                    <a:pt x="1607007" y="1310919"/>
                  </a:lnTo>
                  <a:lnTo>
                    <a:pt x="1596821" y="1308862"/>
                  </a:lnTo>
                  <a:lnTo>
                    <a:pt x="1586623" y="1310919"/>
                  </a:lnTo>
                  <a:lnTo>
                    <a:pt x="1578305" y="1316532"/>
                  </a:lnTo>
                  <a:lnTo>
                    <a:pt x="1572691" y="1324851"/>
                  </a:lnTo>
                  <a:lnTo>
                    <a:pt x="1570634" y="1335036"/>
                  </a:lnTo>
                  <a:lnTo>
                    <a:pt x="1572691" y="1345234"/>
                  </a:lnTo>
                  <a:lnTo>
                    <a:pt x="1578305" y="1353553"/>
                  </a:lnTo>
                  <a:lnTo>
                    <a:pt x="1586623" y="1359154"/>
                  </a:lnTo>
                  <a:lnTo>
                    <a:pt x="1596821" y="1361211"/>
                  </a:lnTo>
                  <a:lnTo>
                    <a:pt x="1607007" y="1359154"/>
                  </a:lnTo>
                  <a:lnTo>
                    <a:pt x="1615325" y="1353553"/>
                  </a:lnTo>
                  <a:lnTo>
                    <a:pt x="1620939" y="1345234"/>
                  </a:lnTo>
                  <a:lnTo>
                    <a:pt x="1622996" y="1335036"/>
                  </a:lnTo>
                  <a:close/>
                </a:path>
                <a:path w="1885314" h="1885315">
                  <a:moveTo>
                    <a:pt x="1622996" y="1073264"/>
                  </a:moveTo>
                  <a:lnTo>
                    <a:pt x="1620939" y="1063078"/>
                  </a:lnTo>
                  <a:lnTo>
                    <a:pt x="1615325" y="1054760"/>
                  </a:lnTo>
                  <a:lnTo>
                    <a:pt x="1607007" y="1049147"/>
                  </a:lnTo>
                  <a:lnTo>
                    <a:pt x="1596821" y="1047089"/>
                  </a:lnTo>
                  <a:lnTo>
                    <a:pt x="1586623" y="1049147"/>
                  </a:lnTo>
                  <a:lnTo>
                    <a:pt x="1578305" y="1054760"/>
                  </a:lnTo>
                  <a:lnTo>
                    <a:pt x="1572691" y="1063078"/>
                  </a:lnTo>
                  <a:lnTo>
                    <a:pt x="1570634" y="1073264"/>
                  </a:lnTo>
                  <a:lnTo>
                    <a:pt x="1572691" y="1083462"/>
                  </a:lnTo>
                  <a:lnTo>
                    <a:pt x="1578305" y="1091780"/>
                  </a:lnTo>
                  <a:lnTo>
                    <a:pt x="1586623" y="1097381"/>
                  </a:lnTo>
                  <a:lnTo>
                    <a:pt x="1596821" y="1099439"/>
                  </a:lnTo>
                  <a:lnTo>
                    <a:pt x="1607007" y="1097381"/>
                  </a:lnTo>
                  <a:lnTo>
                    <a:pt x="1615325" y="1091780"/>
                  </a:lnTo>
                  <a:lnTo>
                    <a:pt x="1620939" y="1083462"/>
                  </a:lnTo>
                  <a:lnTo>
                    <a:pt x="1622996" y="1073264"/>
                  </a:lnTo>
                  <a:close/>
                </a:path>
                <a:path w="1885314" h="1885315">
                  <a:moveTo>
                    <a:pt x="1622996" y="811491"/>
                  </a:moveTo>
                  <a:lnTo>
                    <a:pt x="1620939" y="801306"/>
                  </a:lnTo>
                  <a:lnTo>
                    <a:pt x="1615325" y="792988"/>
                  </a:lnTo>
                  <a:lnTo>
                    <a:pt x="1607007" y="787374"/>
                  </a:lnTo>
                  <a:lnTo>
                    <a:pt x="1596821" y="785317"/>
                  </a:lnTo>
                  <a:lnTo>
                    <a:pt x="1586623" y="787374"/>
                  </a:lnTo>
                  <a:lnTo>
                    <a:pt x="1578305" y="792988"/>
                  </a:lnTo>
                  <a:lnTo>
                    <a:pt x="1572691" y="801306"/>
                  </a:lnTo>
                  <a:lnTo>
                    <a:pt x="1570634" y="811491"/>
                  </a:lnTo>
                  <a:lnTo>
                    <a:pt x="1572691" y="821690"/>
                  </a:lnTo>
                  <a:lnTo>
                    <a:pt x="1578305" y="830008"/>
                  </a:lnTo>
                  <a:lnTo>
                    <a:pt x="1586623" y="835609"/>
                  </a:lnTo>
                  <a:lnTo>
                    <a:pt x="1596821" y="837666"/>
                  </a:lnTo>
                  <a:lnTo>
                    <a:pt x="1607007" y="835609"/>
                  </a:lnTo>
                  <a:lnTo>
                    <a:pt x="1615325" y="830008"/>
                  </a:lnTo>
                  <a:lnTo>
                    <a:pt x="1620939" y="821690"/>
                  </a:lnTo>
                  <a:lnTo>
                    <a:pt x="1622996" y="811491"/>
                  </a:lnTo>
                  <a:close/>
                </a:path>
                <a:path w="1885314" h="188531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15"/>
                  </a:lnTo>
                  <a:lnTo>
                    <a:pt x="1607007" y="525602"/>
                  </a:lnTo>
                  <a:lnTo>
                    <a:pt x="1596821" y="523544"/>
                  </a:lnTo>
                  <a:lnTo>
                    <a:pt x="1586623" y="525602"/>
                  </a:lnTo>
                  <a:lnTo>
                    <a:pt x="1578305" y="531215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17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21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17"/>
                  </a:lnTo>
                  <a:lnTo>
                    <a:pt x="1622996" y="549719"/>
                  </a:lnTo>
                  <a:close/>
                </a:path>
                <a:path w="1885314" h="188531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43"/>
                  </a:lnTo>
                  <a:lnTo>
                    <a:pt x="1607007" y="263829"/>
                  </a:lnTo>
                  <a:lnTo>
                    <a:pt x="1596821" y="261772"/>
                  </a:lnTo>
                  <a:lnTo>
                    <a:pt x="1586623" y="263829"/>
                  </a:lnTo>
                  <a:lnTo>
                    <a:pt x="1578305" y="269443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45"/>
                  </a:lnTo>
                  <a:lnTo>
                    <a:pt x="1578305" y="306463"/>
                  </a:lnTo>
                  <a:lnTo>
                    <a:pt x="1586623" y="312077"/>
                  </a:lnTo>
                  <a:lnTo>
                    <a:pt x="1596821" y="314121"/>
                  </a:lnTo>
                  <a:lnTo>
                    <a:pt x="1607007" y="312077"/>
                  </a:lnTo>
                  <a:lnTo>
                    <a:pt x="1615325" y="306463"/>
                  </a:lnTo>
                  <a:lnTo>
                    <a:pt x="1620939" y="298145"/>
                  </a:lnTo>
                  <a:lnTo>
                    <a:pt x="1622996" y="287947"/>
                  </a:lnTo>
                  <a:close/>
                </a:path>
                <a:path w="1885314" h="188531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70"/>
                  </a:lnTo>
                  <a:lnTo>
                    <a:pt x="1607007" y="2057"/>
                  </a:lnTo>
                  <a:lnTo>
                    <a:pt x="1596821" y="0"/>
                  </a:lnTo>
                  <a:lnTo>
                    <a:pt x="1586623" y="2057"/>
                  </a:lnTo>
                  <a:lnTo>
                    <a:pt x="1578305" y="7670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72"/>
                  </a:lnTo>
                  <a:lnTo>
                    <a:pt x="1578305" y="44691"/>
                  </a:lnTo>
                  <a:lnTo>
                    <a:pt x="1586623" y="50304"/>
                  </a:lnTo>
                  <a:lnTo>
                    <a:pt x="1596821" y="52349"/>
                  </a:lnTo>
                  <a:lnTo>
                    <a:pt x="1607007" y="50304"/>
                  </a:lnTo>
                  <a:lnTo>
                    <a:pt x="1615325" y="44691"/>
                  </a:lnTo>
                  <a:lnTo>
                    <a:pt x="1620939" y="36372"/>
                  </a:lnTo>
                  <a:lnTo>
                    <a:pt x="1622996" y="26174"/>
                  </a:lnTo>
                  <a:close/>
                </a:path>
                <a:path w="1885314" h="1885315">
                  <a:moveTo>
                    <a:pt x="1884768" y="1858581"/>
                  </a:moveTo>
                  <a:lnTo>
                    <a:pt x="1882711" y="1848396"/>
                  </a:lnTo>
                  <a:lnTo>
                    <a:pt x="1877098" y="1840077"/>
                  </a:lnTo>
                  <a:lnTo>
                    <a:pt x="1868779" y="1834464"/>
                  </a:lnTo>
                  <a:lnTo>
                    <a:pt x="1858594" y="1832406"/>
                  </a:lnTo>
                  <a:lnTo>
                    <a:pt x="1848396" y="1834464"/>
                  </a:lnTo>
                  <a:lnTo>
                    <a:pt x="1840077" y="1840077"/>
                  </a:lnTo>
                  <a:lnTo>
                    <a:pt x="1834464" y="1848396"/>
                  </a:lnTo>
                  <a:lnTo>
                    <a:pt x="1832406" y="1858581"/>
                  </a:lnTo>
                  <a:lnTo>
                    <a:pt x="1834464" y="1868779"/>
                  </a:lnTo>
                  <a:lnTo>
                    <a:pt x="1840077" y="1877098"/>
                  </a:lnTo>
                  <a:lnTo>
                    <a:pt x="1848396" y="1882698"/>
                  </a:lnTo>
                  <a:lnTo>
                    <a:pt x="1858594" y="1884756"/>
                  </a:lnTo>
                  <a:lnTo>
                    <a:pt x="1868779" y="1882698"/>
                  </a:lnTo>
                  <a:lnTo>
                    <a:pt x="1877098" y="1877098"/>
                  </a:lnTo>
                  <a:lnTo>
                    <a:pt x="1882711" y="1868779"/>
                  </a:lnTo>
                  <a:lnTo>
                    <a:pt x="1884768" y="1858581"/>
                  </a:lnTo>
                  <a:close/>
                </a:path>
                <a:path w="1885314" h="1885315">
                  <a:moveTo>
                    <a:pt x="1884768" y="1596809"/>
                  </a:moveTo>
                  <a:lnTo>
                    <a:pt x="1882711" y="1586623"/>
                  </a:lnTo>
                  <a:lnTo>
                    <a:pt x="1877098" y="1578305"/>
                  </a:lnTo>
                  <a:lnTo>
                    <a:pt x="1868779" y="1572691"/>
                  </a:lnTo>
                  <a:lnTo>
                    <a:pt x="1858594" y="1570634"/>
                  </a:lnTo>
                  <a:lnTo>
                    <a:pt x="1848396" y="1572691"/>
                  </a:lnTo>
                  <a:lnTo>
                    <a:pt x="1840077" y="1578305"/>
                  </a:lnTo>
                  <a:lnTo>
                    <a:pt x="1834464" y="1586623"/>
                  </a:lnTo>
                  <a:lnTo>
                    <a:pt x="1832406" y="1596809"/>
                  </a:lnTo>
                  <a:lnTo>
                    <a:pt x="1834464" y="1607007"/>
                  </a:lnTo>
                  <a:lnTo>
                    <a:pt x="1840077" y="1615325"/>
                  </a:lnTo>
                  <a:lnTo>
                    <a:pt x="1848396" y="1620926"/>
                  </a:lnTo>
                  <a:lnTo>
                    <a:pt x="1858594" y="1622983"/>
                  </a:lnTo>
                  <a:lnTo>
                    <a:pt x="1868779" y="1620926"/>
                  </a:lnTo>
                  <a:lnTo>
                    <a:pt x="1877098" y="1615325"/>
                  </a:lnTo>
                  <a:lnTo>
                    <a:pt x="1882711" y="1607007"/>
                  </a:lnTo>
                  <a:lnTo>
                    <a:pt x="1884768" y="1596809"/>
                  </a:lnTo>
                  <a:close/>
                </a:path>
                <a:path w="1885314" h="1885315">
                  <a:moveTo>
                    <a:pt x="1884768" y="1335036"/>
                  </a:moveTo>
                  <a:lnTo>
                    <a:pt x="1882711" y="1324851"/>
                  </a:lnTo>
                  <a:lnTo>
                    <a:pt x="1877098" y="1316532"/>
                  </a:lnTo>
                  <a:lnTo>
                    <a:pt x="1868779" y="1310919"/>
                  </a:lnTo>
                  <a:lnTo>
                    <a:pt x="1858594" y="1308862"/>
                  </a:lnTo>
                  <a:lnTo>
                    <a:pt x="1848396" y="1310919"/>
                  </a:lnTo>
                  <a:lnTo>
                    <a:pt x="1840077" y="1316532"/>
                  </a:lnTo>
                  <a:lnTo>
                    <a:pt x="1834464" y="1324851"/>
                  </a:lnTo>
                  <a:lnTo>
                    <a:pt x="1832406" y="1335036"/>
                  </a:lnTo>
                  <a:lnTo>
                    <a:pt x="1834464" y="1345234"/>
                  </a:lnTo>
                  <a:lnTo>
                    <a:pt x="1840077" y="1353553"/>
                  </a:lnTo>
                  <a:lnTo>
                    <a:pt x="1848396" y="1359154"/>
                  </a:lnTo>
                  <a:lnTo>
                    <a:pt x="1858594" y="1361211"/>
                  </a:lnTo>
                  <a:lnTo>
                    <a:pt x="1868779" y="1359154"/>
                  </a:lnTo>
                  <a:lnTo>
                    <a:pt x="1877098" y="1353553"/>
                  </a:lnTo>
                  <a:lnTo>
                    <a:pt x="1882711" y="1345234"/>
                  </a:lnTo>
                  <a:lnTo>
                    <a:pt x="1884768" y="1335036"/>
                  </a:lnTo>
                  <a:close/>
                </a:path>
                <a:path w="1885314" h="1885315">
                  <a:moveTo>
                    <a:pt x="1884768" y="1073264"/>
                  </a:moveTo>
                  <a:lnTo>
                    <a:pt x="1882711" y="1063078"/>
                  </a:lnTo>
                  <a:lnTo>
                    <a:pt x="1877098" y="1054760"/>
                  </a:lnTo>
                  <a:lnTo>
                    <a:pt x="1868779" y="1049147"/>
                  </a:lnTo>
                  <a:lnTo>
                    <a:pt x="1858594" y="1047089"/>
                  </a:lnTo>
                  <a:lnTo>
                    <a:pt x="1848396" y="1049147"/>
                  </a:lnTo>
                  <a:lnTo>
                    <a:pt x="1840077" y="1054760"/>
                  </a:lnTo>
                  <a:lnTo>
                    <a:pt x="1834464" y="1063078"/>
                  </a:lnTo>
                  <a:lnTo>
                    <a:pt x="1832406" y="1073264"/>
                  </a:lnTo>
                  <a:lnTo>
                    <a:pt x="1834464" y="1083462"/>
                  </a:lnTo>
                  <a:lnTo>
                    <a:pt x="1840077" y="1091780"/>
                  </a:lnTo>
                  <a:lnTo>
                    <a:pt x="1848396" y="1097381"/>
                  </a:lnTo>
                  <a:lnTo>
                    <a:pt x="1858594" y="1099439"/>
                  </a:lnTo>
                  <a:lnTo>
                    <a:pt x="1868779" y="1097381"/>
                  </a:lnTo>
                  <a:lnTo>
                    <a:pt x="1877098" y="1091780"/>
                  </a:lnTo>
                  <a:lnTo>
                    <a:pt x="1882711" y="1083462"/>
                  </a:lnTo>
                  <a:lnTo>
                    <a:pt x="1884768" y="1073264"/>
                  </a:lnTo>
                  <a:close/>
                </a:path>
                <a:path w="1885314" h="1885315">
                  <a:moveTo>
                    <a:pt x="1884768" y="811491"/>
                  </a:moveTo>
                  <a:lnTo>
                    <a:pt x="1882711" y="801306"/>
                  </a:lnTo>
                  <a:lnTo>
                    <a:pt x="1877098" y="792988"/>
                  </a:lnTo>
                  <a:lnTo>
                    <a:pt x="1868779" y="787374"/>
                  </a:lnTo>
                  <a:lnTo>
                    <a:pt x="1858594" y="785317"/>
                  </a:lnTo>
                  <a:lnTo>
                    <a:pt x="1848396" y="787374"/>
                  </a:lnTo>
                  <a:lnTo>
                    <a:pt x="1840077" y="792988"/>
                  </a:lnTo>
                  <a:lnTo>
                    <a:pt x="1834464" y="801306"/>
                  </a:lnTo>
                  <a:lnTo>
                    <a:pt x="1832406" y="811491"/>
                  </a:lnTo>
                  <a:lnTo>
                    <a:pt x="1834464" y="821690"/>
                  </a:lnTo>
                  <a:lnTo>
                    <a:pt x="1840077" y="830008"/>
                  </a:lnTo>
                  <a:lnTo>
                    <a:pt x="1848396" y="835609"/>
                  </a:lnTo>
                  <a:lnTo>
                    <a:pt x="1858594" y="837666"/>
                  </a:lnTo>
                  <a:lnTo>
                    <a:pt x="1868779" y="835609"/>
                  </a:lnTo>
                  <a:lnTo>
                    <a:pt x="1877098" y="830008"/>
                  </a:lnTo>
                  <a:lnTo>
                    <a:pt x="1882711" y="821690"/>
                  </a:lnTo>
                  <a:lnTo>
                    <a:pt x="1884768" y="811491"/>
                  </a:lnTo>
                  <a:close/>
                </a:path>
                <a:path w="1885314" h="188531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15"/>
                  </a:lnTo>
                  <a:lnTo>
                    <a:pt x="1868779" y="525602"/>
                  </a:lnTo>
                  <a:lnTo>
                    <a:pt x="1858594" y="523544"/>
                  </a:lnTo>
                  <a:lnTo>
                    <a:pt x="1848396" y="525602"/>
                  </a:lnTo>
                  <a:lnTo>
                    <a:pt x="1840077" y="531215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17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94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17"/>
                  </a:lnTo>
                  <a:lnTo>
                    <a:pt x="1884768" y="549719"/>
                  </a:lnTo>
                  <a:close/>
                </a:path>
                <a:path w="1885314" h="188531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43"/>
                  </a:lnTo>
                  <a:lnTo>
                    <a:pt x="1868779" y="263829"/>
                  </a:lnTo>
                  <a:lnTo>
                    <a:pt x="1858594" y="261772"/>
                  </a:lnTo>
                  <a:lnTo>
                    <a:pt x="1848396" y="263829"/>
                  </a:lnTo>
                  <a:lnTo>
                    <a:pt x="1840077" y="269443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45"/>
                  </a:lnTo>
                  <a:lnTo>
                    <a:pt x="1840077" y="306463"/>
                  </a:lnTo>
                  <a:lnTo>
                    <a:pt x="1848396" y="312077"/>
                  </a:lnTo>
                  <a:lnTo>
                    <a:pt x="1858594" y="314121"/>
                  </a:lnTo>
                  <a:lnTo>
                    <a:pt x="1868779" y="312077"/>
                  </a:lnTo>
                  <a:lnTo>
                    <a:pt x="1877098" y="306463"/>
                  </a:lnTo>
                  <a:lnTo>
                    <a:pt x="1882711" y="298145"/>
                  </a:lnTo>
                  <a:lnTo>
                    <a:pt x="1884768" y="287947"/>
                  </a:lnTo>
                  <a:close/>
                </a:path>
                <a:path w="1885314" h="188531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70"/>
                  </a:lnTo>
                  <a:lnTo>
                    <a:pt x="1868779" y="2057"/>
                  </a:lnTo>
                  <a:lnTo>
                    <a:pt x="1858594" y="0"/>
                  </a:lnTo>
                  <a:lnTo>
                    <a:pt x="1848396" y="2057"/>
                  </a:lnTo>
                  <a:lnTo>
                    <a:pt x="1840077" y="7670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72"/>
                  </a:lnTo>
                  <a:lnTo>
                    <a:pt x="1840077" y="44691"/>
                  </a:lnTo>
                  <a:lnTo>
                    <a:pt x="1848396" y="50304"/>
                  </a:lnTo>
                  <a:lnTo>
                    <a:pt x="1858594" y="52349"/>
                  </a:lnTo>
                  <a:lnTo>
                    <a:pt x="1868779" y="50304"/>
                  </a:lnTo>
                  <a:lnTo>
                    <a:pt x="1877098" y="44691"/>
                  </a:lnTo>
                  <a:lnTo>
                    <a:pt x="1882711" y="36372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2250" y="7264054"/>
            <a:ext cx="9837420" cy="10252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915"/>
              </a:lnSpc>
              <a:spcBef>
                <a:spcPts val="95"/>
              </a:spcBef>
            </a:pPr>
            <a:r>
              <a:rPr lang="pt-BR" sz="6600" b="1" spc="-20" dirty="0" smtClean="0">
                <a:solidFill>
                  <a:srgbClr val="333333"/>
                </a:solidFill>
                <a:latin typeface="Montserrat ExtraBold"/>
                <a:cs typeface="Montserrat ExtraBold"/>
              </a:rPr>
              <a:t>COMO SE PROTEGER</a:t>
            </a:r>
            <a:endParaRPr sz="6600" dirty="0">
              <a:latin typeface="Montserrat ExtraBold"/>
              <a:cs typeface="Montserrat Extra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2650" y="2157013"/>
            <a:ext cx="8662669" cy="77863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800" spc="-10" dirty="0">
                <a:solidFill>
                  <a:srgbClr val="FFFFFF"/>
                </a:solidFill>
                <a:latin typeface="Montserrat"/>
                <a:cs typeface="Montserrat"/>
              </a:rPr>
              <a:t>Use queries parametrizadas </a:t>
            </a:r>
            <a:r>
              <a:rPr lang="pt-BR" sz="2800" spc="-10" dirty="0" smtClean="0">
                <a:solidFill>
                  <a:srgbClr val="FFFFFF"/>
                </a:solidFill>
                <a:latin typeface="Montserrat"/>
                <a:cs typeface="Montserrat"/>
              </a:rPr>
              <a:t>e preparadas;</a:t>
            </a:r>
            <a:br>
              <a:rPr lang="pt-BR" sz="2800" spc="-10" dirty="0" smtClean="0">
                <a:solidFill>
                  <a:srgbClr val="FFFFFF"/>
                </a:solidFill>
                <a:latin typeface="Montserrat"/>
                <a:cs typeface="Montserrat"/>
              </a:rPr>
            </a:br>
            <a:endParaRPr lang="pt-BR" sz="2800" spc="-10" dirty="0" smtClean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800" spc="-10" dirty="0" smtClean="0">
                <a:solidFill>
                  <a:srgbClr val="FFFFFF"/>
                </a:solidFill>
                <a:latin typeface="Montserrat"/>
                <a:cs typeface="Montserrat"/>
              </a:rPr>
              <a:t>Valide e normalize entrada do usuário (</a:t>
            </a:r>
            <a:r>
              <a:rPr lang="pt-BR" sz="2800" spc="-10" dirty="0" err="1" smtClean="0">
                <a:solidFill>
                  <a:srgbClr val="FFFFFF"/>
                </a:solidFill>
                <a:latin typeface="Montserrat"/>
                <a:cs typeface="Montserrat"/>
              </a:rPr>
              <a:t>whitelist</a:t>
            </a:r>
            <a:r>
              <a:rPr lang="pt-BR" sz="2800" spc="-10" dirty="0" smtClean="0">
                <a:solidFill>
                  <a:srgbClr val="FFFFFF"/>
                </a:solidFill>
                <a:latin typeface="Montserrat"/>
                <a:cs typeface="Montserrat"/>
              </a:rPr>
              <a:t>);</a:t>
            </a:r>
          </a:p>
          <a:p>
            <a:pPr marL="469900" marR="5080" indent="-45720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pt-BR" sz="2800" spc="-10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800" spc="-10" dirty="0">
                <a:solidFill>
                  <a:srgbClr val="FFFFFF"/>
                </a:solidFill>
                <a:latin typeface="Montserrat"/>
                <a:cs typeface="Montserrat"/>
              </a:rPr>
              <a:t>Princípio do menor privilégio (contas de BD com permissões mínimas</a:t>
            </a:r>
            <a:r>
              <a:rPr lang="pt-BR" sz="2800" spc="-10" dirty="0" smtClean="0">
                <a:solidFill>
                  <a:srgbClr val="FFFFFF"/>
                </a:solidFill>
                <a:latin typeface="Montserrat"/>
                <a:cs typeface="Montserrat"/>
              </a:rPr>
              <a:t>);</a:t>
            </a:r>
          </a:p>
          <a:p>
            <a:pPr marL="469900" marR="5080" indent="-45720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pt-BR" sz="2800" spc="-10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800" spc="-10" dirty="0">
                <a:solidFill>
                  <a:srgbClr val="FFFFFF"/>
                </a:solidFill>
                <a:latin typeface="Montserrat"/>
                <a:cs typeface="Montserrat"/>
              </a:rPr>
              <a:t>Habilite logs detalhados e monitore padrões de </a:t>
            </a:r>
            <a:r>
              <a:rPr lang="pt-BR" sz="2800" spc="-10" dirty="0" smtClean="0">
                <a:solidFill>
                  <a:srgbClr val="FFFFFF"/>
                </a:solidFill>
                <a:latin typeface="Montserrat"/>
                <a:cs typeface="Montserrat"/>
              </a:rPr>
              <a:t>ataque;</a:t>
            </a:r>
          </a:p>
          <a:p>
            <a:pPr marL="469900" marR="5080" indent="-45720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pt-BR" sz="2800" spc="-10" dirty="0" smtClean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800" spc="-10" dirty="0" smtClean="0">
                <a:solidFill>
                  <a:srgbClr val="FFFFFF"/>
                </a:solidFill>
                <a:latin typeface="Montserrat"/>
                <a:cs typeface="Montserrat"/>
              </a:rPr>
              <a:t>Criptografe os dados.</a:t>
            </a:r>
            <a:endParaRPr lang="pt-BR" sz="2800" spc="-10" dirty="0">
              <a:solidFill>
                <a:srgbClr val="FFFFFF"/>
              </a:solidFill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565061" y="996639"/>
            <a:ext cx="7240589" cy="6045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4000" b="1" spc="20" dirty="0" smtClean="0">
                <a:solidFill>
                  <a:srgbClr val="FFFFFF"/>
                </a:solidFill>
              </a:rPr>
              <a:t>PRÁTICAS RECOMENDADAS</a:t>
            </a:r>
            <a:endParaRPr sz="4000" b="1" dirty="0">
              <a:latin typeface="Montserrat ExtraBold"/>
              <a:cs typeface="Montserrat ExtraBold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7557" y="-1"/>
            <a:ext cx="11219207" cy="654453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756650" y="3239430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354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70632" y="9057315"/>
            <a:ext cx="0" cy="1570990"/>
          </a:xfrm>
          <a:custGeom>
            <a:avLst/>
            <a:gdLst/>
            <a:ahLst/>
            <a:cxnLst/>
            <a:rect l="l" t="t" r="r" b="b"/>
            <a:pathLst>
              <a:path h="1570990">
                <a:moveTo>
                  <a:pt x="0" y="0"/>
                </a:moveTo>
                <a:lnTo>
                  <a:pt x="0" y="1570632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081477" y="9829517"/>
            <a:ext cx="62636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300" b="1" spc="-5" dirty="0" smtClean="0">
                <a:solidFill>
                  <a:srgbClr val="C00000"/>
                </a:solidFill>
                <a:latin typeface="Montserrat ExtraBold"/>
                <a:cs typeface="Montserrat ExtraBold"/>
              </a:rPr>
              <a:t>PROJETO TESTESQL</a:t>
            </a:r>
            <a:endParaRPr sz="3300" dirty="0">
              <a:solidFill>
                <a:srgbClr val="C00000"/>
              </a:solidFill>
              <a:latin typeface="Montserrat ExtraBold"/>
              <a:cs typeface="Montserrat ExtraBold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6972047" cy="2282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 smtClean="0">
                <a:solidFill>
                  <a:srgbClr val="C00000"/>
                </a:solidFill>
                <a:latin typeface="Montserrat ExtraBold"/>
                <a:cs typeface="Montserrat ExtraBold"/>
              </a:rPr>
              <a:t>EXEMPLO PRÁTICO</a:t>
            </a:r>
            <a:br>
              <a:rPr lang="pt-BR" sz="4950" b="1" spc="-15" dirty="0" smtClean="0">
                <a:solidFill>
                  <a:srgbClr val="C00000"/>
                </a:solidFill>
                <a:latin typeface="Montserrat ExtraBold"/>
                <a:cs typeface="Montserrat ExtraBold"/>
              </a:rPr>
            </a:br>
            <a:endParaRPr sz="4950" dirty="0">
              <a:solidFill>
                <a:srgbClr val="C00000"/>
              </a:solidFill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 smtClean="0">
                <a:solidFill>
                  <a:srgbClr val="C00000"/>
                </a:solidFill>
                <a:latin typeface="Montserrat"/>
                <a:cs typeface="Montserrat"/>
              </a:rPr>
              <a:t>ATACANDO E DEFENDENDO-SE DE SQL INJECTION</a:t>
            </a:r>
            <a:endParaRPr sz="4950" dirty="0">
              <a:solidFill>
                <a:srgbClr val="C00000"/>
              </a:solidFill>
              <a:latin typeface="Montserrat"/>
              <a:cs typeface="Montserrat"/>
            </a:endParaRPr>
          </a:p>
        </p:txBody>
      </p:sp>
      <p:pic>
        <p:nvPicPr>
          <p:cNvPr id="39" name="Imagem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477" y="3329123"/>
            <a:ext cx="18022623" cy="613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4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31847"/>
            <a:ext cx="8376920" cy="8376920"/>
            <a:chOff x="0" y="2931847"/>
            <a:chExt cx="8376920" cy="8376920"/>
          </a:xfrm>
        </p:grpSpPr>
        <p:sp>
          <p:nvSpPr>
            <p:cNvPr id="3" name="object 3"/>
            <p:cNvSpPr/>
            <p:nvPr/>
          </p:nvSpPr>
          <p:spPr>
            <a:xfrm>
              <a:off x="0" y="2931847"/>
              <a:ext cx="8376920" cy="8220075"/>
            </a:xfrm>
            <a:custGeom>
              <a:avLst/>
              <a:gdLst/>
              <a:ahLst/>
              <a:cxnLst/>
              <a:rect l="l" t="t" r="r" b="b"/>
              <a:pathLst>
                <a:path w="8376920" h="8220075">
                  <a:moveTo>
                    <a:pt x="0" y="8219645"/>
                  </a:moveTo>
                  <a:lnTo>
                    <a:pt x="8376708" y="8219645"/>
                  </a:lnTo>
                  <a:lnTo>
                    <a:pt x="8376708" y="0"/>
                  </a:lnTo>
                  <a:lnTo>
                    <a:pt x="0" y="0"/>
                  </a:lnTo>
                  <a:lnTo>
                    <a:pt x="0" y="82196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167290"/>
              <a:ext cx="3141345" cy="3141345"/>
            </a:xfrm>
            <a:custGeom>
              <a:avLst/>
              <a:gdLst/>
              <a:ahLst/>
              <a:cxnLst/>
              <a:rect l="l" t="t" r="r" b="b"/>
              <a:pathLst>
                <a:path w="3141345" h="3141345">
                  <a:moveTo>
                    <a:pt x="3141265" y="0"/>
                  </a:moveTo>
                  <a:lnTo>
                    <a:pt x="0" y="0"/>
                  </a:lnTo>
                  <a:lnTo>
                    <a:pt x="0" y="3141265"/>
                  </a:lnTo>
                  <a:lnTo>
                    <a:pt x="3141265" y="3141265"/>
                  </a:lnTo>
                  <a:lnTo>
                    <a:pt x="3141265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5883890" y="9817100"/>
            <a:ext cx="3693160" cy="942975"/>
            <a:chOff x="15364003" y="9319087"/>
            <a:chExt cx="3693160" cy="942975"/>
          </a:xfrm>
        </p:grpSpPr>
        <p:sp>
          <p:nvSpPr>
            <p:cNvPr id="6" name="object 6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47088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7088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7088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86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86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86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0632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70632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0632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3240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3240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3240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9417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9417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9417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5594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594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1772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1772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1772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7949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7949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7949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1099191" y="2931847"/>
            <a:ext cx="8782659" cy="577658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3600" spc="15" dirty="0" smtClean="0">
                <a:solidFill>
                  <a:srgbClr val="C1272C"/>
                </a:solidFill>
                <a:latin typeface="Montserrat Light"/>
                <a:cs typeface="Montserrat ExtraBold"/>
              </a:rPr>
              <a:t>CONTEXTUALIZAÇÃO DO ATAQUE</a:t>
            </a:r>
            <a:endParaRPr sz="3600" dirty="0">
              <a:latin typeface="Montserrat ExtraBold"/>
              <a:cs typeface="Montserrat ExtraBold"/>
            </a:endParaRP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Era uma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plataforma de conteúdo do Yahoo que permitia aos usuários publicar artigos e interagir com outros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escritores;</a:t>
            </a: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Em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julho de 2012,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um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grupo de hackers, executou um ataque de injeção de SQL baseado em sindicato. O grupo extraiu cerca de 450.000 nomes de usuário e senhas não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criptografados;</a:t>
            </a: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Essa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violação expôs a falta de segurança da empresa. Como foi armazenado em texto simples. Também prejudicou a reputação da empresa ao divulgar informações confidenciais e pessoais sobre os clientes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7507559" cy="202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 smtClean="0">
                <a:latin typeface="Montserrat ExtraBold"/>
                <a:cs typeface="Montserrat ExtraBold"/>
              </a:rPr>
              <a:t>ESTUDO DE CASO: </a:t>
            </a:r>
            <a:r>
              <a:rPr lang="pt-BR" spc="-20" dirty="0" smtClean="0"/>
              <a:t>YAHOO! VOICES</a:t>
            </a:r>
            <a:endParaRPr spc="-25" dirty="0"/>
          </a:p>
        </p:txBody>
      </p:sp>
      <p:sp>
        <p:nvSpPr>
          <p:cNvPr id="37" name="object 3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48" name="Picture 4" descr="Yahoo - Ícones Social media e Log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523" y="1431427"/>
            <a:ext cx="8891905" cy="889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object 34"/>
          <p:cNvSpPr/>
          <p:nvPr/>
        </p:nvSpPr>
        <p:spPr>
          <a:xfrm>
            <a:off x="9004961" y="4877009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531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31847"/>
            <a:ext cx="8376920" cy="8376920"/>
            <a:chOff x="0" y="2931847"/>
            <a:chExt cx="8376920" cy="8376920"/>
          </a:xfrm>
        </p:grpSpPr>
        <p:sp>
          <p:nvSpPr>
            <p:cNvPr id="3" name="object 3"/>
            <p:cNvSpPr/>
            <p:nvPr/>
          </p:nvSpPr>
          <p:spPr>
            <a:xfrm>
              <a:off x="0" y="2931847"/>
              <a:ext cx="8376920" cy="8220075"/>
            </a:xfrm>
            <a:custGeom>
              <a:avLst/>
              <a:gdLst/>
              <a:ahLst/>
              <a:cxnLst/>
              <a:rect l="l" t="t" r="r" b="b"/>
              <a:pathLst>
                <a:path w="8376920" h="8220075">
                  <a:moveTo>
                    <a:pt x="0" y="8219645"/>
                  </a:moveTo>
                  <a:lnTo>
                    <a:pt x="8376708" y="8219645"/>
                  </a:lnTo>
                  <a:lnTo>
                    <a:pt x="8376708" y="0"/>
                  </a:lnTo>
                  <a:lnTo>
                    <a:pt x="0" y="0"/>
                  </a:lnTo>
                  <a:lnTo>
                    <a:pt x="0" y="82196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167290"/>
              <a:ext cx="3141345" cy="3141345"/>
            </a:xfrm>
            <a:custGeom>
              <a:avLst/>
              <a:gdLst/>
              <a:ahLst/>
              <a:cxnLst/>
              <a:rect l="l" t="t" r="r" b="b"/>
              <a:pathLst>
                <a:path w="3141345" h="3141345">
                  <a:moveTo>
                    <a:pt x="3141265" y="0"/>
                  </a:moveTo>
                  <a:lnTo>
                    <a:pt x="0" y="0"/>
                  </a:lnTo>
                  <a:lnTo>
                    <a:pt x="0" y="3141265"/>
                  </a:lnTo>
                  <a:lnTo>
                    <a:pt x="3141265" y="3141265"/>
                  </a:lnTo>
                  <a:lnTo>
                    <a:pt x="3141265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47088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7088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7088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86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86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86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0632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70632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0632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3240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3240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3240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9417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9417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9417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5594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594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1772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1772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1772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7949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7949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7949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1099191" y="2931847"/>
            <a:ext cx="8782659" cy="5404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3600" spc="15" dirty="0" smtClean="0">
                <a:solidFill>
                  <a:srgbClr val="C1272C"/>
                </a:solidFill>
                <a:latin typeface="Montserrat Light"/>
                <a:cs typeface="Montserrat ExtraBold"/>
              </a:rPr>
              <a:t>CONTEXTUALIZAÇÃO DO ATAQUE</a:t>
            </a:r>
            <a:endParaRPr sz="3600" dirty="0">
              <a:latin typeface="Montserrat ExtraBold"/>
              <a:cs typeface="Montserrat ExtraBold"/>
            </a:endParaRP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É uma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empresa britânica de telecomunicações que oferece serviços de televisão, internet e rede móvel.</a:t>
            </a: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Em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outubro de 2015, a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TalkTalk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enfrentou um ataque cibernético da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SQL </a:t>
            </a:r>
            <a:r>
              <a:rPr lang="pt-BR" sz="2400" spc="-20" dirty="0" err="1" smtClean="0">
                <a:solidFill>
                  <a:srgbClr val="4D4D4D"/>
                </a:solidFill>
                <a:latin typeface="Montserrat"/>
                <a:cs typeface="Montserrat"/>
              </a:rPr>
              <a:t>Injection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,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no qual 156.959 dados de clientes, incluindo códigos de classificação e números de bancos, foram roubados. A empresa não criptografou os dados roubados.</a:t>
            </a: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Essa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violação de dados levou a £ 42 milhões em perdas e à perda de cerca de 101 mil clientes. O órgão regulador multou £ 400 mil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7507559" cy="202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 smtClean="0">
                <a:latin typeface="Montserrat ExtraBold"/>
                <a:cs typeface="Montserrat ExtraBold"/>
              </a:rPr>
              <a:t>ESTUDO DE CASO: </a:t>
            </a:r>
            <a:r>
              <a:rPr lang="pt-BR" spc="-20" dirty="0" smtClean="0"/>
              <a:t>TALK </a:t>
            </a:r>
            <a:r>
              <a:rPr lang="pt-BR" spc="-20" dirty="0" err="1" smtClean="0"/>
              <a:t>TALK</a:t>
            </a:r>
            <a:r>
              <a:rPr lang="pt-BR" spc="-20" dirty="0" smtClean="0"/>
              <a:t> COMPANY</a:t>
            </a:r>
            <a:endParaRPr spc="-25" dirty="0"/>
          </a:p>
        </p:txBody>
      </p:sp>
      <p:sp>
        <p:nvSpPr>
          <p:cNvPr id="37" name="object 3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47" y="2301875"/>
            <a:ext cx="9287409" cy="6619572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9004961" y="4877009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5"/>
          <p:cNvGrpSpPr/>
          <p:nvPr/>
        </p:nvGrpSpPr>
        <p:grpSpPr>
          <a:xfrm>
            <a:off x="15883890" y="9817100"/>
            <a:ext cx="3693160" cy="942975"/>
            <a:chOff x="15364003" y="9319087"/>
            <a:chExt cx="3693160" cy="942975"/>
          </a:xfrm>
        </p:grpSpPr>
        <p:sp>
          <p:nvSpPr>
            <p:cNvPr id="41" name="object 6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7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8048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31847"/>
            <a:ext cx="8376920" cy="8376920"/>
            <a:chOff x="0" y="2931847"/>
            <a:chExt cx="8376920" cy="8376920"/>
          </a:xfrm>
        </p:grpSpPr>
        <p:sp>
          <p:nvSpPr>
            <p:cNvPr id="3" name="object 3"/>
            <p:cNvSpPr/>
            <p:nvPr/>
          </p:nvSpPr>
          <p:spPr>
            <a:xfrm>
              <a:off x="0" y="2931847"/>
              <a:ext cx="8376920" cy="8220075"/>
            </a:xfrm>
            <a:custGeom>
              <a:avLst/>
              <a:gdLst/>
              <a:ahLst/>
              <a:cxnLst/>
              <a:rect l="l" t="t" r="r" b="b"/>
              <a:pathLst>
                <a:path w="8376920" h="8220075">
                  <a:moveTo>
                    <a:pt x="0" y="8219645"/>
                  </a:moveTo>
                  <a:lnTo>
                    <a:pt x="8376708" y="8219645"/>
                  </a:lnTo>
                  <a:lnTo>
                    <a:pt x="8376708" y="0"/>
                  </a:lnTo>
                  <a:lnTo>
                    <a:pt x="0" y="0"/>
                  </a:lnTo>
                  <a:lnTo>
                    <a:pt x="0" y="82196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167290"/>
              <a:ext cx="3141345" cy="3141345"/>
            </a:xfrm>
            <a:custGeom>
              <a:avLst/>
              <a:gdLst/>
              <a:ahLst/>
              <a:cxnLst/>
              <a:rect l="l" t="t" r="r" b="b"/>
              <a:pathLst>
                <a:path w="3141345" h="3141345">
                  <a:moveTo>
                    <a:pt x="3141265" y="0"/>
                  </a:moveTo>
                  <a:lnTo>
                    <a:pt x="0" y="0"/>
                  </a:lnTo>
                  <a:lnTo>
                    <a:pt x="0" y="3141265"/>
                  </a:lnTo>
                  <a:lnTo>
                    <a:pt x="3141265" y="3141265"/>
                  </a:lnTo>
                  <a:lnTo>
                    <a:pt x="3141265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47088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7088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7088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86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86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86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0632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70632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0632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3240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3240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3240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9417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9417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9417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5594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594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1772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1772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1772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7949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7949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7949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1099191" y="2931847"/>
            <a:ext cx="8782659" cy="614847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3600" spc="15" dirty="0" smtClean="0">
                <a:solidFill>
                  <a:srgbClr val="C1272C"/>
                </a:solidFill>
                <a:latin typeface="Montserrat Light"/>
                <a:cs typeface="Montserrat ExtraBold"/>
              </a:rPr>
              <a:t>CONTEXTUALIZAÇÃO DO ATAQUE</a:t>
            </a: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err="1" smtClean="0">
                <a:solidFill>
                  <a:srgbClr val="4D4D4D"/>
                </a:solidFill>
                <a:latin typeface="Montserrat"/>
                <a:cs typeface="Montserrat"/>
              </a:rPr>
              <a:t>Heartland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Payment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Systems é uma empresa processadora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de pagamentos (cartões) dos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EUA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;</a:t>
            </a: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Em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2008, atacantes exploraram vulnerabilidades de SQL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injection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em sistemas web ligados ao processamento de pagamentos; isso permitiu a inserção de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malware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e a captura de dados de cartões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enquanto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as transações eram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processadas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;</a:t>
            </a: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Foi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uma das maiores quebras de dados de cartões da época, resultou em investigação forense extensa, processos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criminais e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trouxe repercussões sérias para a indústria de pagamentos sobre a necessidade de segurança em aplicações web. 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7507559" cy="1906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 smtClean="0">
                <a:latin typeface="Montserrat ExtraBold"/>
                <a:cs typeface="Montserrat ExtraBold"/>
              </a:rPr>
              <a:t>ESTUDO DE CASO: </a:t>
            </a:r>
            <a:r>
              <a:rPr lang="pt-BR" sz="5400" spc="-20" dirty="0" smtClean="0"/>
              <a:t>HEARTLAND PAYMENT</a:t>
            </a:r>
            <a:endParaRPr sz="4400" spc="-25" dirty="0"/>
          </a:p>
        </p:txBody>
      </p:sp>
      <p:sp>
        <p:nvSpPr>
          <p:cNvPr id="37" name="object 3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5"/>
          <p:cNvGrpSpPr/>
          <p:nvPr/>
        </p:nvGrpSpPr>
        <p:grpSpPr>
          <a:xfrm>
            <a:off x="15883890" y="9817100"/>
            <a:ext cx="3693160" cy="942975"/>
            <a:chOff x="15364003" y="9319087"/>
            <a:chExt cx="3693160" cy="942975"/>
          </a:xfrm>
        </p:grpSpPr>
        <p:sp>
          <p:nvSpPr>
            <p:cNvPr id="39" name="object 6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7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63" y="1844675"/>
            <a:ext cx="8948931" cy="7985043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9004961" y="4877009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222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31847"/>
            <a:ext cx="8376920" cy="8376920"/>
            <a:chOff x="0" y="2931847"/>
            <a:chExt cx="8376920" cy="8376920"/>
          </a:xfrm>
        </p:grpSpPr>
        <p:sp>
          <p:nvSpPr>
            <p:cNvPr id="3" name="object 3"/>
            <p:cNvSpPr/>
            <p:nvPr/>
          </p:nvSpPr>
          <p:spPr>
            <a:xfrm>
              <a:off x="0" y="2931847"/>
              <a:ext cx="8376920" cy="8220075"/>
            </a:xfrm>
            <a:custGeom>
              <a:avLst/>
              <a:gdLst/>
              <a:ahLst/>
              <a:cxnLst/>
              <a:rect l="l" t="t" r="r" b="b"/>
              <a:pathLst>
                <a:path w="8376920" h="8220075">
                  <a:moveTo>
                    <a:pt x="0" y="8219645"/>
                  </a:moveTo>
                  <a:lnTo>
                    <a:pt x="8376708" y="8219645"/>
                  </a:lnTo>
                  <a:lnTo>
                    <a:pt x="8376708" y="0"/>
                  </a:lnTo>
                  <a:lnTo>
                    <a:pt x="0" y="0"/>
                  </a:lnTo>
                  <a:lnTo>
                    <a:pt x="0" y="82196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167290"/>
              <a:ext cx="3141345" cy="3141345"/>
            </a:xfrm>
            <a:custGeom>
              <a:avLst/>
              <a:gdLst/>
              <a:ahLst/>
              <a:cxnLst/>
              <a:rect l="l" t="t" r="r" b="b"/>
              <a:pathLst>
                <a:path w="3141345" h="3141345">
                  <a:moveTo>
                    <a:pt x="3141265" y="0"/>
                  </a:moveTo>
                  <a:lnTo>
                    <a:pt x="0" y="0"/>
                  </a:lnTo>
                  <a:lnTo>
                    <a:pt x="0" y="3141265"/>
                  </a:lnTo>
                  <a:lnTo>
                    <a:pt x="3141265" y="3141265"/>
                  </a:lnTo>
                  <a:lnTo>
                    <a:pt x="3141265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47088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7088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7088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8860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08860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8860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0632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70632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0632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32405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32405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32405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94177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94177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94177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55949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55949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9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17721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17721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17721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79493" y="75913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79493" y="4973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79493" y="23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1099191" y="2931847"/>
            <a:ext cx="8782659" cy="726416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3600" spc="15" dirty="0" smtClean="0">
                <a:solidFill>
                  <a:srgbClr val="C1272C"/>
                </a:solidFill>
                <a:latin typeface="Montserrat Light"/>
                <a:cs typeface="Montserrat ExtraBold"/>
              </a:rPr>
              <a:t>CONTEXTUALIZAÇÃO DO ATAQUE</a:t>
            </a: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Foi uma empresa que desenvolvia </a:t>
            </a:r>
            <a:r>
              <a:rPr lang="pt-BR" sz="2400" spc="-20" dirty="0" err="1" smtClean="0">
                <a:solidFill>
                  <a:srgbClr val="4D4D4D"/>
                </a:solidFill>
                <a:latin typeface="Montserrat"/>
                <a:cs typeface="Montserrat"/>
              </a:rPr>
              <a:t>widgets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e aplicações sociais integradas a plataformas como </a:t>
            </a:r>
            <a:r>
              <a:rPr lang="pt-BR" sz="2400" spc="-20" dirty="0" err="1" smtClean="0">
                <a:solidFill>
                  <a:srgbClr val="4D4D4D"/>
                </a:solidFill>
                <a:latin typeface="Montserrat"/>
                <a:cs typeface="Montserrat"/>
              </a:rPr>
              <a:t>MySpace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/</a:t>
            </a:r>
            <a:r>
              <a:rPr lang="pt-BR" sz="2400" spc="-20" dirty="0" err="1" smtClean="0">
                <a:solidFill>
                  <a:srgbClr val="4D4D4D"/>
                </a:solidFill>
                <a:latin typeface="Montserrat"/>
                <a:cs typeface="Montserrat"/>
              </a:rPr>
              <a:t>Facebook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;</a:t>
            </a: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Em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dezembro de 2009, hackers exploraram uma vulnerabilidade de SQL em um componente do site e obtiveram acesso a dezenas de milhões de credenciais (usuários e 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senhas). Relatórios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contemporâneos informaram cerca de 30–32 milhões de contas comprometidas</a:t>
            </a: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.;</a:t>
            </a: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355600" marR="5080" indent="-342900" algn="just">
              <a:lnSpc>
                <a:spcPts val="2870"/>
              </a:lnSpc>
              <a:spcBef>
                <a:spcPts val="2880"/>
              </a:spcBef>
              <a:buFont typeface="Arial" panose="020B0604020202020204" pitchFamily="34" charset="0"/>
              <a:buChar char="•"/>
            </a:pPr>
            <a:r>
              <a:rPr lang="pt-BR" sz="2400" spc="-20" dirty="0" smtClean="0">
                <a:solidFill>
                  <a:srgbClr val="4D4D4D"/>
                </a:solidFill>
                <a:latin typeface="Montserrat"/>
                <a:cs typeface="Montserrat"/>
              </a:rPr>
              <a:t>A 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divulgação mostrou práticas fracas de armazenamento (senhas em texto claro) e levou a ações legais e críticas públicas; o caso é frequentemente citado como exemplo de combinação perigosa: vulnerabilidade de injeção + armazenamento inseguro. 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7507559" cy="2005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2865" marR="5080">
              <a:lnSpc>
                <a:spcPct val="107000"/>
              </a:lnSpc>
              <a:spcBef>
                <a:spcPts val="100"/>
              </a:spcBef>
            </a:pPr>
            <a:r>
              <a:rPr lang="pt-BR" b="1" spc="-15" dirty="0" smtClean="0">
                <a:latin typeface="Montserrat ExtraBold"/>
                <a:cs typeface="Montserrat ExtraBold"/>
              </a:rPr>
              <a:t>ESTUDO DE CASO: </a:t>
            </a:r>
            <a:r>
              <a:rPr lang="pt-BR" sz="6000" spc="-20" dirty="0" smtClean="0"/>
              <a:t>ROCK YOU</a:t>
            </a:r>
            <a:endParaRPr sz="4400" spc="-25" dirty="0"/>
          </a:p>
        </p:txBody>
      </p:sp>
      <p:sp>
        <p:nvSpPr>
          <p:cNvPr id="37" name="object 3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5"/>
          <p:cNvGrpSpPr/>
          <p:nvPr/>
        </p:nvGrpSpPr>
        <p:grpSpPr>
          <a:xfrm>
            <a:off x="15883890" y="9817100"/>
            <a:ext cx="3693160" cy="942975"/>
            <a:chOff x="15364003" y="9319087"/>
            <a:chExt cx="3693160" cy="942975"/>
          </a:xfrm>
        </p:grpSpPr>
        <p:sp>
          <p:nvSpPr>
            <p:cNvPr id="39" name="object 6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7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Imagem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93" y="2159810"/>
            <a:ext cx="7821094" cy="7833852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9004961" y="4877009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911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683b45-61c4-4cdf-aa44-14cf457257f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28F3DA7C743224485A53C1B58CAF4DF" ma:contentTypeVersion="9" ma:contentTypeDescription="Crie um novo documento." ma:contentTypeScope="" ma:versionID="768895af51490883b819bf09e73dcd8e">
  <xsd:schema xmlns:xsd="http://www.w3.org/2001/XMLSchema" xmlns:xs="http://www.w3.org/2001/XMLSchema" xmlns:p="http://schemas.microsoft.com/office/2006/metadata/properties" xmlns:ns3="62683b45-61c4-4cdf-aa44-14cf457257fc" targetNamespace="http://schemas.microsoft.com/office/2006/metadata/properties" ma:root="true" ma:fieldsID="4e127245a2c3889ebd843725c3d98c8f" ns3:_="">
    <xsd:import namespace="62683b45-61c4-4cdf-aa44-14cf457257f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683b45-61c4-4cdf-aa44-14cf457257f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schemas.microsoft.com/office/2006/documentManagement/types"/>
    <ds:schemaRef ds:uri="62683b45-61c4-4cdf-aa44-14cf457257fc"/>
    <ds:schemaRef ds:uri="http://www.w3.org/XML/1998/namespace"/>
    <ds:schemaRef ds:uri="http://schemas.microsoft.com/office/infopath/2007/PartnerControl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66BCF3-BF33-4806-8295-843DB2403A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683b45-61c4-4cdf-aa44-14cf457257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616</Words>
  <Application>Microsoft Office PowerPoint</Application>
  <PresentationFormat>Personalizar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Montserrat Light</vt:lpstr>
      <vt:lpstr>Arial</vt:lpstr>
      <vt:lpstr>Montserrat ExtraBold</vt:lpstr>
      <vt:lpstr>Montserrat</vt:lpstr>
      <vt:lpstr>Calibri</vt:lpstr>
      <vt:lpstr>Office Theme</vt:lpstr>
      <vt:lpstr>Apresentação do PowerPoint</vt:lpstr>
      <vt:lpstr>SQL Injection  Como se proteger do golpe que manipula o seu Banco de Dados</vt:lpstr>
      <vt:lpstr>POR QUÊ ISSO IMPORTA?</vt:lpstr>
      <vt:lpstr>PASSOS DO GOLPE COMO FUNCIONA</vt:lpstr>
      <vt:lpstr>IMPACTOS E RISCOS</vt:lpstr>
      <vt:lpstr>PRÁTICAS RECOMENDADAS</vt:lpstr>
      <vt:lpstr>EXEMPLO PRÁTICO  ATACANDO E DEFENDENDO-SE DE SQL INJECTION</vt:lpstr>
      <vt:lpstr>ESTUDO DE CASO: YAHOO! VOICES</vt:lpstr>
      <vt:lpstr>ESTUDO DE CASO: TALK TALK COMPANY</vt:lpstr>
      <vt:lpstr>ESTUDO DE CASO: HEARTLAND PAYMENT</vt:lpstr>
      <vt:lpstr>ESTUDO DE CASO: ROCK YOU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Alexandre Vinicius Dias Simoes Brito</cp:lastModifiedBy>
  <cp:revision>17</cp:revision>
  <dcterms:created xsi:type="dcterms:W3CDTF">2021-08-24T16:20:14Z</dcterms:created>
  <dcterms:modified xsi:type="dcterms:W3CDTF">2025-10-14T21:43:19Z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0x010100E28F3DA7C743224485A53C1B58CAF4DF</vt:lpwstr>
  </property>
</Properties>
</file>