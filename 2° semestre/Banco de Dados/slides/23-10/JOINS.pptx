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20"/>
  </p:notesMasterIdLst>
  <p:sldIdLst>
    <p:sldId id="256" r:id="rId5"/>
    <p:sldId id="257" r:id="rId6"/>
    <p:sldId id="278" r:id="rId7"/>
    <p:sldId id="279" r:id="rId8"/>
    <p:sldId id="282" r:id="rId9"/>
    <p:sldId id="281" r:id="rId10"/>
    <p:sldId id="286" r:id="rId11"/>
    <p:sldId id="284" r:id="rId12"/>
    <p:sldId id="287" r:id="rId13"/>
    <p:sldId id="285" r:id="rId14"/>
    <p:sldId id="288" r:id="rId15"/>
    <p:sldId id="289" r:id="rId16"/>
    <p:sldId id="290" r:id="rId17"/>
    <p:sldId id="291" r:id="rId18"/>
    <p:sldId id="277" r:id="rId19"/>
  </p:sldIdLst>
  <p:sldSz cx="20104100" cy="11309350"/>
  <p:notesSz cx="20104100" cy="11309350"/>
  <p:embeddedFontLst>
    <p:embeddedFont>
      <p:font typeface="Consolas" panose="020B0609020204030204" pitchFamily="49" charset="0"/>
      <p:regular r:id="rId21"/>
      <p:bold r:id="rId22"/>
      <p:italic r:id="rId23"/>
      <p:boldItalic r:id="rId24"/>
    </p:embeddedFont>
    <p:embeddedFont>
      <p:font typeface="Calibri" panose="020F0502020204030204" pitchFamily="34" charset="0"/>
      <p:regular r:id="rId25"/>
      <p:bold r:id="rId26"/>
      <p:italic r:id="rId27"/>
      <p:boldItalic r:id="rId28"/>
    </p:embeddedFont>
    <p:embeddedFont>
      <p:font typeface="Montserrat" panose="020B0604020202020204" charset="0"/>
      <p:regular r:id="rId29"/>
      <p:bold r:id="rId30"/>
      <p:italic r:id="rId31"/>
      <p:boldItalic r:id="rId32"/>
    </p:embeddedFont>
    <p:embeddedFont>
      <p:font typeface="Montserrat Light" panose="020B0604020202020204" charset="0"/>
      <p:regular r:id="rId33"/>
      <p:italic r:id="rId34"/>
    </p:embeddedFont>
    <p:embeddedFont>
      <p:font typeface="Montserrat ExtraBold" panose="020B0604020202020204" charset="0"/>
      <p:bold r:id="rId35"/>
      <p:boldItalic r:id="rId36"/>
    </p:embeddedFont>
  </p:embeddedFont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9C9"/>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108" y="23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6.fntdata"/><Relationship Id="rId39" Type="http://schemas.openxmlformats.org/officeDocument/2006/relationships/theme" Target="theme/theme1.xml"/><Relationship Id="rId21" Type="http://schemas.openxmlformats.org/officeDocument/2006/relationships/font" Target="fonts/font1.fntdata"/><Relationship Id="rId34" Type="http://schemas.openxmlformats.org/officeDocument/2006/relationships/font" Target="fonts/font14.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208B15D0-2E51-4600-9C9D-DC63F232509A}" type="datetimeFigureOut">
              <a:rPr lang="pt-BR" smtClean="0"/>
              <a:t>22/10/2025</a:t>
            </a:fld>
            <a:endParaRPr lang="pt-BR"/>
          </a:p>
        </p:txBody>
      </p:sp>
      <p:sp>
        <p:nvSpPr>
          <p:cNvPr id="4" name="Espaço Reservado para Imagem de Slide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6" name="Espaço Reservado para Rodapé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CA1D4C57-3D83-4E09-BA72-B713456C410B}" type="slidenum">
              <a:rPr lang="pt-BR" smtClean="0"/>
              <a:t>‹nº›</a:t>
            </a:fld>
            <a:endParaRPr lang="pt-BR"/>
          </a:p>
        </p:txBody>
      </p:sp>
    </p:spTree>
    <p:extLst>
      <p:ext uri="{BB962C8B-B14F-4D97-AF65-F5344CB8AC3E}">
        <p14:creationId xmlns:p14="http://schemas.microsoft.com/office/powerpoint/2010/main" val="3210370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CA1D4C57-3D83-4E09-BA72-B713456C410B}" type="slidenum">
              <a:rPr lang="pt-BR" smtClean="0"/>
              <a:t>4</a:t>
            </a:fld>
            <a:endParaRPr lang="pt-BR"/>
          </a:p>
        </p:txBody>
      </p:sp>
    </p:spTree>
    <p:extLst>
      <p:ext uri="{BB962C8B-B14F-4D97-AF65-F5344CB8AC3E}">
        <p14:creationId xmlns:p14="http://schemas.microsoft.com/office/powerpoint/2010/main" val="2978837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7" y="3505898"/>
            <a:ext cx="17088486" cy="237496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3015615" y="6333236"/>
            <a:ext cx="14072870" cy="282733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100" b="0" i="0">
                <a:solidFill>
                  <a:srgbClr val="333333"/>
                </a:solidFill>
                <a:latin typeface="Montserrat Light"/>
                <a:cs typeface="Montserrat Light"/>
              </a:defRPr>
            </a:lvl1pPr>
          </a:lstStyle>
          <a:p>
            <a:endParaRPr/>
          </a:p>
        </p:txBody>
      </p:sp>
      <p:sp>
        <p:nvSpPr>
          <p:cNvPr id="3" name="Holder 3"/>
          <p:cNvSpPr>
            <a:spLocks noGrp="1"/>
          </p:cNvSpPr>
          <p:nvPr>
            <p:ph type="body" idx="1"/>
          </p:nvPr>
        </p:nvSpPr>
        <p:spPr/>
        <p:txBody>
          <a:bodyPr lIns="0" tIns="0" rIns="0" bIns="0"/>
          <a:lstStyle>
            <a:lvl1pPr>
              <a:defRPr sz="2400" b="0" i="0">
                <a:solidFill>
                  <a:srgbClr val="4D4D4D"/>
                </a:solidFill>
                <a:latin typeface="Montserrat"/>
                <a:cs typeface="Montserra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0052050" y="0"/>
            <a:ext cx="10052050" cy="11151870"/>
          </a:xfrm>
          <a:custGeom>
            <a:avLst/>
            <a:gdLst/>
            <a:ahLst/>
            <a:cxnLst/>
            <a:rect l="l" t="t" r="r" b="b"/>
            <a:pathLst>
              <a:path w="10052050" h="11151870">
                <a:moveTo>
                  <a:pt x="0" y="11151492"/>
                </a:moveTo>
                <a:lnTo>
                  <a:pt x="10052039" y="11151492"/>
                </a:lnTo>
                <a:lnTo>
                  <a:pt x="10052039" y="0"/>
                </a:lnTo>
                <a:lnTo>
                  <a:pt x="0" y="0"/>
                </a:lnTo>
                <a:lnTo>
                  <a:pt x="0" y="11151492"/>
                </a:lnTo>
                <a:close/>
              </a:path>
            </a:pathLst>
          </a:custGeom>
          <a:solidFill>
            <a:srgbClr val="1A1A1A"/>
          </a:solidFill>
        </p:spPr>
        <p:txBody>
          <a:bodyPr wrap="square" lIns="0" tIns="0" rIns="0" bIns="0" rtlCol="0"/>
          <a:lstStyle/>
          <a:p>
            <a:endParaRPr/>
          </a:p>
        </p:txBody>
      </p:sp>
      <p:sp>
        <p:nvSpPr>
          <p:cNvPr id="17" name="bg object 17"/>
          <p:cNvSpPr/>
          <p:nvPr/>
        </p:nvSpPr>
        <p:spPr>
          <a:xfrm>
            <a:off x="1047151" y="9319087"/>
            <a:ext cx="3693160" cy="942975"/>
          </a:xfrm>
          <a:custGeom>
            <a:avLst/>
            <a:gdLst/>
            <a:ahLst/>
            <a:cxnLst/>
            <a:rect l="l" t="t" r="r" b="b"/>
            <a:pathLst>
              <a:path w="3693160"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18" name="bg object 18"/>
          <p:cNvSpPr/>
          <p:nvPr/>
        </p:nvSpPr>
        <p:spPr>
          <a:xfrm>
            <a:off x="1047076" y="9439611"/>
            <a:ext cx="3693160" cy="700405"/>
          </a:xfrm>
          <a:custGeom>
            <a:avLst/>
            <a:gdLst/>
            <a:ahLst/>
            <a:cxnLst/>
            <a:rect l="l" t="t" r="r" b="b"/>
            <a:pathLst>
              <a:path w="3693160" h="700404">
                <a:moveTo>
                  <a:pt x="198361" y="660984"/>
                </a:moveTo>
                <a:lnTo>
                  <a:pt x="0" y="660984"/>
                </a:lnTo>
                <a:lnTo>
                  <a:pt x="0" y="685812"/>
                </a:lnTo>
                <a:lnTo>
                  <a:pt x="198361" y="685812"/>
                </a:lnTo>
                <a:lnTo>
                  <a:pt x="198361" y="660984"/>
                </a:lnTo>
                <a:close/>
              </a:path>
              <a:path w="3693160" h="700404">
                <a:moveTo>
                  <a:pt x="198361" y="502246"/>
                </a:moveTo>
                <a:lnTo>
                  <a:pt x="0" y="502246"/>
                </a:lnTo>
                <a:lnTo>
                  <a:pt x="0" y="527050"/>
                </a:lnTo>
                <a:lnTo>
                  <a:pt x="198361" y="527050"/>
                </a:lnTo>
                <a:lnTo>
                  <a:pt x="198361" y="502246"/>
                </a:lnTo>
                <a:close/>
              </a:path>
              <a:path w="3693160" h="700404">
                <a:moveTo>
                  <a:pt x="198361" y="337553"/>
                </a:moveTo>
                <a:lnTo>
                  <a:pt x="0" y="337553"/>
                </a:lnTo>
                <a:lnTo>
                  <a:pt x="0" y="362356"/>
                </a:lnTo>
                <a:lnTo>
                  <a:pt x="198361" y="362356"/>
                </a:lnTo>
                <a:lnTo>
                  <a:pt x="198361" y="337553"/>
                </a:lnTo>
                <a:close/>
              </a:path>
              <a:path w="3693160" h="700404">
                <a:moveTo>
                  <a:pt x="198361" y="175056"/>
                </a:moveTo>
                <a:lnTo>
                  <a:pt x="0" y="175056"/>
                </a:lnTo>
                <a:lnTo>
                  <a:pt x="0" y="199898"/>
                </a:lnTo>
                <a:lnTo>
                  <a:pt x="198361" y="199898"/>
                </a:lnTo>
                <a:lnTo>
                  <a:pt x="198361" y="175056"/>
                </a:lnTo>
                <a:close/>
              </a:path>
              <a:path w="3693160" h="700404">
                <a:moveTo>
                  <a:pt x="198361" y="16802"/>
                </a:moveTo>
                <a:lnTo>
                  <a:pt x="0" y="16802"/>
                </a:lnTo>
                <a:lnTo>
                  <a:pt x="0" y="41592"/>
                </a:lnTo>
                <a:lnTo>
                  <a:pt x="198361" y="41592"/>
                </a:lnTo>
                <a:lnTo>
                  <a:pt x="198361" y="16802"/>
                </a:lnTo>
                <a:close/>
              </a:path>
              <a:path w="3693160" h="700404">
                <a:moveTo>
                  <a:pt x="908532" y="161366"/>
                </a:moveTo>
                <a:lnTo>
                  <a:pt x="905624" y="119291"/>
                </a:lnTo>
                <a:lnTo>
                  <a:pt x="870216" y="56515"/>
                </a:lnTo>
                <a:lnTo>
                  <a:pt x="804735" y="18783"/>
                </a:lnTo>
                <a:lnTo>
                  <a:pt x="764209" y="8001"/>
                </a:lnTo>
                <a:lnTo>
                  <a:pt x="720382" y="1917"/>
                </a:lnTo>
                <a:lnTo>
                  <a:pt x="674649" y="0"/>
                </a:lnTo>
                <a:lnTo>
                  <a:pt x="627659" y="1714"/>
                </a:lnTo>
                <a:lnTo>
                  <a:pt x="580986" y="7264"/>
                </a:lnTo>
                <a:lnTo>
                  <a:pt x="535622" y="17233"/>
                </a:lnTo>
                <a:lnTo>
                  <a:pt x="492493" y="32219"/>
                </a:lnTo>
                <a:lnTo>
                  <a:pt x="452564" y="52793"/>
                </a:lnTo>
                <a:lnTo>
                  <a:pt x="416788" y="79565"/>
                </a:lnTo>
                <a:lnTo>
                  <a:pt x="386118" y="113106"/>
                </a:lnTo>
                <a:lnTo>
                  <a:pt x="361518" y="154025"/>
                </a:lnTo>
                <a:lnTo>
                  <a:pt x="343941" y="202895"/>
                </a:lnTo>
                <a:lnTo>
                  <a:pt x="339204" y="254914"/>
                </a:lnTo>
                <a:lnTo>
                  <a:pt x="348361" y="300837"/>
                </a:lnTo>
                <a:lnTo>
                  <a:pt x="371944" y="338747"/>
                </a:lnTo>
                <a:lnTo>
                  <a:pt x="410476" y="366712"/>
                </a:lnTo>
                <a:lnTo>
                  <a:pt x="460273" y="387235"/>
                </a:lnTo>
                <a:lnTo>
                  <a:pt x="508939" y="402196"/>
                </a:lnTo>
                <a:lnTo>
                  <a:pt x="594944" y="424522"/>
                </a:lnTo>
                <a:lnTo>
                  <a:pt x="628256" y="436435"/>
                </a:lnTo>
                <a:lnTo>
                  <a:pt x="652462" y="451904"/>
                </a:lnTo>
                <a:lnTo>
                  <a:pt x="665543" y="473189"/>
                </a:lnTo>
                <a:lnTo>
                  <a:pt x="665505" y="502577"/>
                </a:lnTo>
                <a:lnTo>
                  <a:pt x="650049" y="531901"/>
                </a:lnTo>
                <a:lnTo>
                  <a:pt x="622071" y="552831"/>
                </a:lnTo>
                <a:lnTo>
                  <a:pt x="587806" y="565391"/>
                </a:lnTo>
                <a:lnTo>
                  <a:pt x="553504" y="569569"/>
                </a:lnTo>
                <a:lnTo>
                  <a:pt x="508876" y="563206"/>
                </a:lnTo>
                <a:lnTo>
                  <a:pt x="477113" y="544449"/>
                </a:lnTo>
                <a:lnTo>
                  <a:pt x="460578" y="513829"/>
                </a:lnTo>
                <a:lnTo>
                  <a:pt x="461683" y="471868"/>
                </a:lnTo>
                <a:lnTo>
                  <a:pt x="275539" y="471868"/>
                </a:lnTo>
                <a:lnTo>
                  <a:pt x="269443" y="527735"/>
                </a:lnTo>
                <a:lnTo>
                  <a:pt x="274370" y="574230"/>
                </a:lnTo>
                <a:lnTo>
                  <a:pt x="289229" y="612101"/>
                </a:lnTo>
                <a:lnTo>
                  <a:pt x="312877" y="642086"/>
                </a:lnTo>
                <a:lnTo>
                  <a:pt x="344220" y="664946"/>
                </a:lnTo>
                <a:lnTo>
                  <a:pt x="382117" y="681431"/>
                </a:lnTo>
                <a:lnTo>
                  <a:pt x="425475" y="692277"/>
                </a:lnTo>
                <a:lnTo>
                  <a:pt x="473151" y="698233"/>
                </a:lnTo>
                <a:lnTo>
                  <a:pt x="524052" y="700049"/>
                </a:lnTo>
                <a:lnTo>
                  <a:pt x="575627" y="697547"/>
                </a:lnTo>
                <a:lnTo>
                  <a:pt x="626084" y="690016"/>
                </a:lnTo>
                <a:lnTo>
                  <a:pt x="674420" y="677392"/>
                </a:lnTo>
                <a:lnTo>
                  <a:pt x="719620" y="659612"/>
                </a:lnTo>
                <a:lnTo>
                  <a:pt x="760679" y="636625"/>
                </a:lnTo>
                <a:lnTo>
                  <a:pt x="796582" y="608368"/>
                </a:lnTo>
                <a:lnTo>
                  <a:pt x="826350" y="574789"/>
                </a:lnTo>
                <a:lnTo>
                  <a:pt x="829373" y="569569"/>
                </a:lnTo>
                <a:lnTo>
                  <a:pt x="848956" y="535825"/>
                </a:lnTo>
                <a:lnTo>
                  <a:pt x="863409" y="491413"/>
                </a:lnTo>
                <a:lnTo>
                  <a:pt x="869188" y="436968"/>
                </a:lnTo>
                <a:lnTo>
                  <a:pt x="862253" y="393585"/>
                </a:lnTo>
                <a:lnTo>
                  <a:pt x="844715" y="359727"/>
                </a:lnTo>
                <a:lnTo>
                  <a:pt x="786193" y="314401"/>
                </a:lnTo>
                <a:lnTo>
                  <a:pt x="749401" y="299821"/>
                </a:lnTo>
                <a:lnTo>
                  <a:pt x="710374" y="288569"/>
                </a:lnTo>
                <a:lnTo>
                  <a:pt x="634009" y="269887"/>
                </a:lnTo>
                <a:lnTo>
                  <a:pt x="598487" y="259118"/>
                </a:lnTo>
                <a:lnTo>
                  <a:pt x="566508" y="244424"/>
                </a:lnTo>
                <a:lnTo>
                  <a:pt x="545211" y="222923"/>
                </a:lnTo>
                <a:lnTo>
                  <a:pt x="541718" y="191719"/>
                </a:lnTo>
                <a:lnTo>
                  <a:pt x="553250" y="167982"/>
                </a:lnTo>
                <a:lnTo>
                  <a:pt x="574865" y="148437"/>
                </a:lnTo>
                <a:lnTo>
                  <a:pt x="603186" y="135178"/>
                </a:lnTo>
                <a:lnTo>
                  <a:pt x="634784" y="130302"/>
                </a:lnTo>
                <a:lnTo>
                  <a:pt x="656831" y="131686"/>
                </a:lnTo>
                <a:lnTo>
                  <a:pt x="701929" y="151726"/>
                </a:lnTo>
                <a:lnTo>
                  <a:pt x="716407" y="192938"/>
                </a:lnTo>
                <a:lnTo>
                  <a:pt x="713600" y="211264"/>
                </a:lnTo>
                <a:lnTo>
                  <a:pt x="899718" y="211264"/>
                </a:lnTo>
                <a:lnTo>
                  <a:pt x="908532" y="161366"/>
                </a:lnTo>
                <a:close/>
              </a:path>
              <a:path w="3693160" h="700404">
                <a:moveTo>
                  <a:pt x="1580984" y="13944"/>
                </a:moveTo>
                <a:lnTo>
                  <a:pt x="1069111" y="13944"/>
                </a:lnTo>
                <a:lnTo>
                  <a:pt x="926261" y="685939"/>
                </a:lnTo>
                <a:lnTo>
                  <a:pt x="1438148" y="685939"/>
                </a:lnTo>
                <a:lnTo>
                  <a:pt x="1465910" y="555612"/>
                </a:lnTo>
                <a:lnTo>
                  <a:pt x="1140142" y="555612"/>
                </a:lnTo>
                <a:lnTo>
                  <a:pt x="1170393" y="413207"/>
                </a:lnTo>
                <a:lnTo>
                  <a:pt x="1470088" y="413207"/>
                </a:lnTo>
                <a:lnTo>
                  <a:pt x="1497685" y="282968"/>
                </a:lnTo>
                <a:lnTo>
                  <a:pt x="1198003" y="282968"/>
                </a:lnTo>
                <a:lnTo>
                  <a:pt x="1227467" y="144246"/>
                </a:lnTo>
                <a:lnTo>
                  <a:pt x="1553235" y="144246"/>
                </a:lnTo>
                <a:lnTo>
                  <a:pt x="1580984" y="13944"/>
                </a:lnTo>
                <a:close/>
              </a:path>
              <a:path w="3693160" h="700404">
                <a:moveTo>
                  <a:pt x="2341372" y="13944"/>
                </a:moveTo>
                <a:lnTo>
                  <a:pt x="2173846" y="13944"/>
                </a:lnTo>
                <a:lnTo>
                  <a:pt x="2067737" y="512787"/>
                </a:lnTo>
                <a:lnTo>
                  <a:pt x="2065578" y="514692"/>
                </a:lnTo>
                <a:lnTo>
                  <a:pt x="1984082" y="171284"/>
                </a:lnTo>
                <a:lnTo>
                  <a:pt x="1946744" y="13944"/>
                </a:lnTo>
                <a:lnTo>
                  <a:pt x="1686153" y="13944"/>
                </a:lnTo>
                <a:lnTo>
                  <a:pt x="1543291" y="685939"/>
                </a:lnTo>
                <a:lnTo>
                  <a:pt x="1710829" y="685939"/>
                </a:lnTo>
                <a:lnTo>
                  <a:pt x="1820202" y="171284"/>
                </a:lnTo>
                <a:lnTo>
                  <a:pt x="1822056" y="171284"/>
                </a:lnTo>
                <a:lnTo>
                  <a:pt x="1940699" y="685939"/>
                </a:lnTo>
                <a:lnTo>
                  <a:pt x="2198522" y="685939"/>
                </a:lnTo>
                <a:lnTo>
                  <a:pt x="2234920" y="514692"/>
                </a:lnTo>
                <a:lnTo>
                  <a:pt x="2341372" y="13944"/>
                </a:lnTo>
                <a:close/>
              </a:path>
              <a:path w="3693160" h="700404">
                <a:moveTo>
                  <a:pt x="3024975" y="685939"/>
                </a:moveTo>
                <a:lnTo>
                  <a:pt x="3001073" y="554697"/>
                </a:lnTo>
                <a:lnTo>
                  <a:pt x="2977350" y="424408"/>
                </a:lnTo>
                <a:lnTo>
                  <a:pt x="2926486" y="145161"/>
                </a:lnTo>
                <a:lnTo>
                  <a:pt x="2902585" y="13944"/>
                </a:lnTo>
                <a:lnTo>
                  <a:pt x="2779890" y="13944"/>
                </a:lnTo>
                <a:lnTo>
                  <a:pt x="2779890" y="424408"/>
                </a:lnTo>
                <a:lnTo>
                  <a:pt x="2600274" y="424408"/>
                </a:lnTo>
                <a:lnTo>
                  <a:pt x="2750870" y="145161"/>
                </a:lnTo>
                <a:lnTo>
                  <a:pt x="2753652" y="145161"/>
                </a:lnTo>
                <a:lnTo>
                  <a:pt x="2779890" y="424408"/>
                </a:lnTo>
                <a:lnTo>
                  <a:pt x="2779890" y="13944"/>
                </a:lnTo>
                <a:lnTo>
                  <a:pt x="2675496" y="13944"/>
                </a:lnTo>
                <a:lnTo>
                  <a:pt x="2267356" y="685939"/>
                </a:lnTo>
                <a:lnTo>
                  <a:pt x="2453525" y="685939"/>
                </a:lnTo>
                <a:lnTo>
                  <a:pt x="2525179" y="554697"/>
                </a:lnTo>
                <a:lnTo>
                  <a:pt x="2797886" y="554697"/>
                </a:lnTo>
                <a:lnTo>
                  <a:pt x="2814637" y="685939"/>
                </a:lnTo>
                <a:lnTo>
                  <a:pt x="3024975" y="685939"/>
                </a:lnTo>
                <a:close/>
              </a:path>
              <a:path w="3693160" h="700404">
                <a:moveTo>
                  <a:pt x="3424682" y="13944"/>
                </a:moveTo>
                <a:lnTo>
                  <a:pt x="3238550" y="13944"/>
                </a:lnTo>
                <a:lnTo>
                  <a:pt x="3095675" y="685939"/>
                </a:lnTo>
                <a:lnTo>
                  <a:pt x="3281845" y="685939"/>
                </a:lnTo>
                <a:lnTo>
                  <a:pt x="3424682" y="13944"/>
                </a:lnTo>
                <a:close/>
              </a:path>
              <a:path w="3693160" h="700404">
                <a:moveTo>
                  <a:pt x="3692931" y="660984"/>
                </a:moveTo>
                <a:lnTo>
                  <a:pt x="3494582" y="660984"/>
                </a:lnTo>
                <a:lnTo>
                  <a:pt x="3494582" y="685812"/>
                </a:lnTo>
                <a:lnTo>
                  <a:pt x="3692931" y="685812"/>
                </a:lnTo>
                <a:lnTo>
                  <a:pt x="3692931" y="660984"/>
                </a:lnTo>
                <a:close/>
              </a:path>
              <a:path w="3693160" h="700404">
                <a:moveTo>
                  <a:pt x="3692931" y="502246"/>
                </a:moveTo>
                <a:lnTo>
                  <a:pt x="3494582" y="502246"/>
                </a:lnTo>
                <a:lnTo>
                  <a:pt x="3494582" y="527050"/>
                </a:lnTo>
                <a:lnTo>
                  <a:pt x="3692931" y="527050"/>
                </a:lnTo>
                <a:lnTo>
                  <a:pt x="3692931" y="502246"/>
                </a:lnTo>
                <a:close/>
              </a:path>
              <a:path w="3693160" h="700404">
                <a:moveTo>
                  <a:pt x="3692931" y="337553"/>
                </a:moveTo>
                <a:lnTo>
                  <a:pt x="3494582" y="337553"/>
                </a:lnTo>
                <a:lnTo>
                  <a:pt x="3494582" y="362356"/>
                </a:lnTo>
                <a:lnTo>
                  <a:pt x="3692931" y="362356"/>
                </a:lnTo>
                <a:lnTo>
                  <a:pt x="3692931" y="337553"/>
                </a:lnTo>
                <a:close/>
              </a:path>
              <a:path w="3693160" h="700404">
                <a:moveTo>
                  <a:pt x="3692931" y="175056"/>
                </a:moveTo>
                <a:lnTo>
                  <a:pt x="3494582" y="175056"/>
                </a:lnTo>
                <a:lnTo>
                  <a:pt x="3494582" y="199898"/>
                </a:lnTo>
                <a:lnTo>
                  <a:pt x="3692931" y="199898"/>
                </a:lnTo>
                <a:lnTo>
                  <a:pt x="3692931" y="175056"/>
                </a:lnTo>
                <a:close/>
              </a:path>
              <a:path w="3693160" h="700404">
                <a:moveTo>
                  <a:pt x="3692931" y="16802"/>
                </a:moveTo>
                <a:lnTo>
                  <a:pt x="3494582" y="16802"/>
                </a:lnTo>
                <a:lnTo>
                  <a:pt x="3494582" y="41592"/>
                </a:lnTo>
                <a:lnTo>
                  <a:pt x="3692931" y="41592"/>
                </a:lnTo>
                <a:lnTo>
                  <a:pt x="3692931" y="16802"/>
                </a:lnTo>
                <a:close/>
              </a:path>
            </a:pathLst>
          </a:custGeom>
          <a:solidFill>
            <a:srgbClr val="FFFFFF"/>
          </a:solidFill>
        </p:spPr>
        <p:txBody>
          <a:bodyPr wrap="square" lIns="0" tIns="0" rIns="0" bIns="0" rtlCol="0"/>
          <a:lstStyle/>
          <a:p>
            <a:endParaRPr/>
          </a:p>
        </p:txBody>
      </p:sp>
      <p:sp>
        <p:nvSpPr>
          <p:cNvPr id="19" name="bg object 19"/>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pic>
        <p:nvPicPr>
          <p:cNvPr id="20" name="bg object 20"/>
          <p:cNvPicPr/>
          <p:nvPr/>
        </p:nvPicPr>
        <p:blipFill>
          <a:blip r:embed="rId2" cstate="print"/>
          <a:stretch>
            <a:fillRect/>
          </a:stretch>
        </p:blipFill>
        <p:spPr>
          <a:xfrm>
            <a:off x="9014353" y="1057130"/>
            <a:ext cx="3245974" cy="2722419"/>
          </a:xfrm>
          <a:prstGeom prst="rect">
            <a:avLst/>
          </a:prstGeom>
        </p:spPr>
      </p:pic>
      <p:pic>
        <p:nvPicPr>
          <p:cNvPr id="21" name="bg object 21"/>
          <p:cNvPicPr/>
          <p:nvPr/>
        </p:nvPicPr>
        <p:blipFill>
          <a:blip r:embed="rId2" cstate="print"/>
          <a:stretch>
            <a:fillRect/>
          </a:stretch>
        </p:blipFill>
        <p:spPr>
          <a:xfrm>
            <a:off x="9014353" y="4303094"/>
            <a:ext cx="3245974" cy="2722430"/>
          </a:xfrm>
          <a:prstGeom prst="rect">
            <a:avLst/>
          </a:prstGeom>
        </p:spPr>
      </p:pic>
      <p:pic>
        <p:nvPicPr>
          <p:cNvPr id="22" name="bg object 22"/>
          <p:cNvPicPr/>
          <p:nvPr/>
        </p:nvPicPr>
        <p:blipFill>
          <a:blip r:embed="rId2" cstate="print"/>
          <a:stretch>
            <a:fillRect/>
          </a:stretch>
        </p:blipFill>
        <p:spPr>
          <a:xfrm>
            <a:off x="9014353" y="7549068"/>
            <a:ext cx="3245974" cy="2722430"/>
          </a:xfrm>
          <a:prstGeom prst="rect">
            <a:avLst/>
          </a:prstGeom>
        </p:spPr>
      </p:pic>
      <p:sp>
        <p:nvSpPr>
          <p:cNvPr id="2" name="Holder 2"/>
          <p:cNvSpPr>
            <a:spLocks noGrp="1"/>
          </p:cNvSpPr>
          <p:nvPr>
            <p:ph type="title"/>
          </p:nvPr>
        </p:nvSpPr>
        <p:spPr/>
        <p:txBody>
          <a:bodyPr lIns="0" tIns="0" rIns="0" bIns="0"/>
          <a:lstStyle>
            <a:lvl1pPr>
              <a:defRPr sz="6100" b="0" i="0">
                <a:solidFill>
                  <a:srgbClr val="333333"/>
                </a:solidFill>
                <a:latin typeface="Montserrat Light"/>
                <a:cs typeface="Montserrat Light"/>
              </a:defRPr>
            </a:lvl1pPr>
          </a:lstStyle>
          <a:p>
            <a:endParaRPr/>
          </a:p>
        </p:txBody>
      </p:sp>
      <p:sp>
        <p:nvSpPr>
          <p:cNvPr id="3" name="Holder 3"/>
          <p:cNvSpPr>
            <a:spLocks noGrp="1"/>
          </p:cNvSpPr>
          <p:nvPr>
            <p:ph sz="half" idx="2"/>
          </p:nvPr>
        </p:nvSpPr>
        <p:spPr>
          <a:xfrm>
            <a:off x="1005205" y="2601150"/>
            <a:ext cx="8745284"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2601150"/>
            <a:ext cx="8745284" cy="746417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20104100" cy="11151870"/>
          </a:xfrm>
          <a:custGeom>
            <a:avLst/>
            <a:gdLst/>
            <a:ahLst/>
            <a:cxnLst/>
            <a:rect l="l" t="t" r="r" b="b"/>
            <a:pathLst>
              <a:path w="20104100" h="11151870">
                <a:moveTo>
                  <a:pt x="0" y="11151492"/>
                </a:moveTo>
                <a:lnTo>
                  <a:pt x="20104099" y="11151492"/>
                </a:lnTo>
                <a:lnTo>
                  <a:pt x="20104099" y="0"/>
                </a:lnTo>
                <a:lnTo>
                  <a:pt x="0" y="0"/>
                </a:lnTo>
                <a:lnTo>
                  <a:pt x="0" y="11151492"/>
                </a:lnTo>
                <a:close/>
              </a:path>
            </a:pathLst>
          </a:custGeom>
          <a:solidFill>
            <a:srgbClr val="1A1A1A"/>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6100" b="0" i="0">
                <a:solidFill>
                  <a:srgbClr val="333333"/>
                </a:solidFill>
                <a:latin typeface="Montserrat Light"/>
                <a:cs typeface="Montserrat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145691" y="1020182"/>
            <a:ext cx="15812717" cy="3010535"/>
          </a:xfrm>
          <a:prstGeom prst="rect">
            <a:avLst/>
          </a:prstGeom>
        </p:spPr>
        <p:txBody>
          <a:bodyPr wrap="square" lIns="0" tIns="0" rIns="0" bIns="0">
            <a:spAutoFit/>
          </a:bodyPr>
          <a:lstStyle>
            <a:lvl1pPr>
              <a:defRPr sz="6100" b="0" i="0">
                <a:solidFill>
                  <a:srgbClr val="333333"/>
                </a:solidFill>
                <a:latin typeface="Montserrat Light"/>
                <a:cs typeface="Montserrat Light"/>
              </a:defRPr>
            </a:lvl1pPr>
          </a:lstStyle>
          <a:p>
            <a:endParaRPr/>
          </a:p>
        </p:txBody>
      </p:sp>
      <p:sp>
        <p:nvSpPr>
          <p:cNvPr id="3" name="Holder 3"/>
          <p:cNvSpPr>
            <a:spLocks noGrp="1"/>
          </p:cNvSpPr>
          <p:nvPr>
            <p:ph type="body" idx="1"/>
          </p:nvPr>
        </p:nvSpPr>
        <p:spPr>
          <a:xfrm>
            <a:off x="8756861" y="2375171"/>
            <a:ext cx="10305415" cy="5227320"/>
          </a:xfrm>
          <a:prstGeom prst="rect">
            <a:avLst/>
          </a:prstGeom>
        </p:spPr>
        <p:txBody>
          <a:bodyPr wrap="square" lIns="0" tIns="0" rIns="0" bIns="0">
            <a:spAutoFit/>
          </a:bodyPr>
          <a:lstStyle>
            <a:lvl1pPr>
              <a:defRPr sz="2400" b="0" i="0">
                <a:solidFill>
                  <a:srgbClr val="4D4D4D"/>
                </a:solidFill>
                <a:latin typeface="Montserrat"/>
                <a:cs typeface="Montserrat"/>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10/22/2025</a:t>
            </a:fld>
            <a:endParaRPr lang="en-US"/>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hyperlink" Target="http://www.sp.senai.br/" TargetMode="External"/><Relationship Id="rId2" Type="http://schemas.openxmlformats.org/officeDocument/2006/relationships/image" Target="../media/image1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20104100" cy="11308715"/>
            <a:chOff x="0" y="0"/>
            <a:chExt cx="20104100" cy="11308715"/>
          </a:xfrm>
        </p:grpSpPr>
        <p:pic>
          <p:nvPicPr>
            <p:cNvPr id="3" name="object 3"/>
            <p:cNvPicPr/>
            <p:nvPr/>
          </p:nvPicPr>
          <p:blipFill>
            <a:blip r:embed="rId2" cstate="print"/>
            <a:stretch>
              <a:fillRect/>
            </a:stretch>
          </p:blipFill>
          <p:spPr>
            <a:xfrm>
              <a:off x="0" y="0"/>
              <a:ext cx="20104100" cy="11308556"/>
            </a:xfrm>
            <a:prstGeom prst="rect">
              <a:avLst/>
            </a:prstGeom>
          </p:spPr>
        </p:pic>
        <p:sp>
          <p:nvSpPr>
            <p:cNvPr id="4" name="object 4"/>
            <p:cNvSpPr/>
            <p:nvPr/>
          </p:nvSpPr>
          <p:spPr>
            <a:xfrm>
              <a:off x="6806190" y="4825978"/>
              <a:ext cx="6492240" cy="1656714"/>
            </a:xfrm>
            <a:custGeom>
              <a:avLst/>
              <a:gdLst/>
              <a:ahLst/>
              <a:cxnLst/>
              <a:rect l="l" t="t" r="r" b="b"/>
              <a:pathLst>
                <a:path w="6492240" h="1656714">
                  <a:moveTo>
                    <a:pt x="6491833" y="0"/>
                  </a:moveTo>
                  <a:lnTo>
                    <a:pt x="0" y="0"/>
                  </a:lnTo>
                  <a:lnTo>
                    <a:pt x="0" y="1656609"/>
                  </a:lnTo>
                  <a:lnTo>
                    <a:pt x="6491833" y="1656609"/>
                  </a:lnTo>
                  <a:lnTo>
                    <a:pt x="6491833" y="0"/>
                  </a:lnTo>
                  <a:close/>
                </a:path>
              </a:pathLst>
            </a:custGeom>
            <a:solidFill>
              <a:srgbClr val="E21013"/>
            </a:solidFill>
          </p:spPr>
          <p:txBody>
            <a:bodyPr wrap="square" lIns="0" tIns="0" rIns="0" bIns="0" rtlCol="0"/>
            <a:lstStyle/>
            <a:p>
              <a:endParaRPr/>
            </a:p>
          </p:txBody>
        </p:sp>
        <p:sp>
          <p:nvSpPr>
            <p:cNvPr id="5" name="object 5"/>
            <p:cNvSpPr/>
            <p:nvPr/>
          </p:nvSpPr>
          <p:spPr>
            <a:xfrm>
              <a:off x="6806069" y="5037842"/>
              <a:ext cx="6492240" cy="1230630"/>
            </a:xfrm>
            <a:custGeom>
              <a:avLst/>
              <a:gdLst/>
              <a:ahLst/>
              <a:cxnLst/>
              <a:rect l="l" t="t" r="r" b="b"/>
              <a:pathLst>
                <a:path w="6492240" h="1230629">
                  <a:moveTo>
                    <a:pt x="348691" y="1161948"/>
                  </a:moveTo>
                  <a:lnTo>
                    <a:pt x="0" y="1161948"/>
                  </a:lnTo>
                  <a:lnTo>
                    <a:pt x="0" y="1205585"/>
                  </a:lnTo>
                  <a:lnTo>
                    <a:pt x="348691" y="1205585"/>
                  </a:lnTo>
                  <a:lnTo>
                    <a:pt x="348691" y="1161948"/>
                  </a:lnTo>
                  <a:close/>
                </a:path>
                <a:path w="6492240" h="1230629">
                  <a:moveTo>
                    <a:pt x="348691" y="882891"/>
                  </a:moveTo>
                  <a:lnTo>
                    <a:pt x="0" y="882891"/>
                  </a:lnTo>
                  <a:lnTo>
                    <a:pt x="0" y="926490"/>
                  </a:lnTo>
                  <a:lnTo>
                    <a:pt x="348691" y="926490"/>
                  </a:lnTo>
                  <a:lnTo>
                    <a:pt x="348691" y="882891"/>
                  </a:lnTo>
                  <a:close/>
                </a:path>
                <a:path w="6492240" h="1230629">
                  <a:moveTo>
                    <a:pt x="348691" y="593369"/>
                  </a:moveTo>
                  <a:lnTo>
                    <a:pt x="0" y="593369"/>
                  </a:lnTo>
                  <a:lnTo>
                    <a:pt x="0" y="636981"/>
                  </a:lnTo>
                  <a:lnTo>
                    <a:pt x="348691" y="636981"/>
                  </a:lnTo>
                  <a:lnTo>
                    <a:pt x="348691" y="593369"/>
                  </a:lnTo>
                  <a:close/>
                </a:path>
                <a:path w="6492240" h="1230629">
                  <a:moveTo>
                    <a:pt x="348691" y="307733"/>
                  </a:moveTo>
                  <a:lnTo>
                    <a:pt x="0" y="307733"/>
                  </a:lnTo>
                  <a:lnTo>
                    <a:pt x="0" y="351409"/>
                  </a:lnTo>
                  <a:lnTo>
                    <a:pt x="348691" y="351409"/>
                  </a:lnTo>
                  <a:lnTo>
                    <a:pt x="348691" y="307733"/>
                  </a:lnTo>
                  <a:close/>
                </a:path>
                <a:path w="6492240" h="1230629">
                  <a:moveTo>
                    <a:pt x="348691" y="29514"/>
                  </a:moveTo>
                  <a:lnTo>
                    <a:pt x="0" y="29514"/>
                  </a:lnTo>
                  <a:lnTo>
                    <a:pt x="0" y="73126"/>
                  </a:lnTo>
                  <a:lnTo>
                    <a:pt x="348691" y="73126"/>
                  </a:lnTo>
                  <a:lnTo>
                    <a:pt x="348691" y="29514"/>
                  </a:lnTo>
                  <a:close/>
                </a:path>
                <a:path w="6492240" h="1230629">
                  <a:moveTo>
                    <a:pt x="1597647" y="267804"/>
                  </a:moveTo>
                  <a:lnTo>
                    <a:pt x="1594929" y="229044"/>
                  </a:lnTo>
                  <a:lnTo>
                    <a:pt x="1584706" y="183756"/>
                  </a:lnTo>
                  <a:lnTo>
                    <a:pt x="1568704" y="148564"/>
                  </a:lnTo>
                  <a:lnTo>
                    <a:pt x="1520291" y="90868"/>
                  </a:lnTo>
                  <a:lnTo>
                    <a:pt x="1488935" y="67945"/>
                  </a:lnTo>
                  <a:lnTo>
                    <a:pt x="1453540" y="48729"/>
                  </a:lnTo>
                  <a:lnTo>
                    <a:pt x="1414627" y="33020"/>
                  </a:lnTo>
                  <a:lnTo>
                    <a:pt x="1372730" y="20599"/>
                  </a:lnTo>
                  <a:lnTo>
                    <a:pt x="1328381" y="11290"/>
                  </a:lnTo>
                  <a:lnTo>
                    <a:pt x="1282115" y="4889"/>
                  </a:lnTo>
                  <a:lnTo>
                    <a:pt x="1234465" y="1193"/>
                  </a:lnTo>
                  <a:lnTo>
                    <a:pt x="1185964" y="0"/>
                  </a:lnTo>
                  <a:lnTo>
                    <a:pt x="1139520" y="927"/>
                  </a:lnTo>
                  <a:lnTo>
                    <a:pt x="1093025" y="3848"/>
                  </a:lnTo>
                  <a:lnTo>
                    <a:pt x="1046784" y="8940"/>
                  </a:lnTo>
                  <a:lnTo>
                    <a:pt x="1001102" y="16383"/>
                  </a:lnTo>
                  <a:lnTo>
                    <a:pt x="956259" y="26377"/>
                  </a:lnTo>
                  <a:lnTo>
                    <a:pt x="912571" y="39090"/>
                  </a:lnTo>
                  <a:lnTo>
                    <a:pt x="870331" y="54711"/>
                  </a:lnTo>
                  <a:lnTo>
                    <a:pt x="829830" y="73418"/>
                  </a:lnTo>
                  <a:lnTo>
                    <a:pt x="791387" y="95415"/>
                  </a:lnTo>
                  <a:lnTo>
                    <a:pt x="755281" y="120878"/>
                  </a:lnTo>
                  <a:lnTo>
                    <a:pt x="721817" y="149974"/>
                  </a:lnTo>
                  <a:lnTo>
                    <a:pt x="691299" y="182918"/>
                  </a:lnTo>
                  <a:lnTo>
                    <a:pt x="664019" y="219862"/>
                  </a:lnTo>
                  <a:lnTo>
                    <a:pt x="640270" y="261010"/>
                  </a:lnTo>
                  <a:lnTo>
                    <a:pt x="620369" y="306552"/>
                  </a:lnTo>
                  <a:lnTo>
                    <a:pt x="604596" y="356666"/>
                  </a:lnTo>
                  <a:lnTo>
                    <a:pt x="596900" y="410032"/>
                  </a:lnTo>
                  <a:lnTo>
                    <a:pt x="597052" y="460375"/>
                  </a:lnTo>
                  <a:lnTo>
                    <a:pt x="605218" y="507060"/>
                  </a:lnTo>
                  <a:lnTo>
                    <a:pt x="621588" y="549465"/>
                  </a:lnTo>
                  <a:lnTo>
                    <a:pt x="646328" y="586930"/>
                  </a:lnTo>
                  <a:lnTo>
                    <a:pt x="679602" y="618871"/>
                  </a:lnTo>
                  <a:lnTo>
                    <a:pt x="721588" y="644626"/>
                  </a:lnTo>
                  <a:lnTo>
                    <a:pt x="775487" y="668210"/>
                  </a:lnTo>
                  <a:lnTo>
                    <a:pt x="829157" y="687501"/>
                  </a:lnTo>
                  <a:lnTo>
                    <a:pt x="881773" y="703440"/>
                  </a:lnTo>
                  <a:lnTo>
                    <a:pt x="932522" y="716953"/>
                  </a:lnTo>
                  <a:lnTo>
                    <a:pt x="1025131" y="740435"/>
                  </a:lnTo>
                  <a:lnTo>
                    <a:pt x="1065352" y="752271"/>
                  </a:lnTo>
                  <a:lnTo>
                    <a:pt x="1129538" y="780821"/>
                  </a:lnTo>
                  <a:lnTo>
                    <a:pt x="1166558" y="822058"/>
                  </a:lnTo>
                  <a:lnTo>
                    <a:pt x="1172845" y="849782"/>
                  </a:lnTo>
                  <a:lnTo>
                    <a:pt x="1169873" y="883488"/>
                  </a:lnTo>
                  <a:lnTo>
                    <a:pt x="1150251" y="925880"/>
                  </a:lnTo>
                  <a:lnTo>
                    <a:pt x="1115136" y="958862"/>
                  </a:lnTo>
                  <a:lnTo>
                    <a:pt x="1070140" y="982408"/>
                  </a:lnTo>
                  <a:lnTo>
                    <a:pt x="1020876" y="996530"/>
                  </a:lnTo>
                  <a:lnTo>
                    <a:pt x="972985" y="1001242"/>
                  </a:lnTo>
                  <a:lnTo>
                    <a:pt x="918387" y="996238"/>
                  </a:lnTo>
                  <a:lnTo>
                    <a:pt x="873213" y="981430"/>
                  </a:lnTo>
                  <a:lnTo>
                    <a:pt x="838695" y="957072"/>
                  </a:lnTo>
                  <a:lnTo>
                    <a:pt x="816089" y="923455"/>
                  </a:lnTo>
                  <a:lnTo>
                    <a:pt x="806640" y="880833"/>
                  </a:lnTo>
                  <a:lnTo>
                    <a:pt x="811580" y="829500"/>
                  </a:lnTo>
                  <a:lnTo>
                    <a:pt x="484365" y="829500"/>
                  </a:lnTo>
                  <a:lnTo>
                    <a:pt x="476148" y="883615"/>
                  </a:lnTo>
                  <a:lnTo>
                    <a:pt x="473621" y="932954"/>
                  </a:lnTo>
                  <a:lnTo>
                    <a:pt x="476516" y="977696"/>
                  </a:lnTo>
                  <a:lnTo>
                    <a:pt x="484517" y="1018032"/>
                  </a:lnTo>
                  <a:lnTo>
                    <a:pt x="497332" y="1054163"/>
                  </a:lnTo>
                  <a:lnTo>
                    <a:pt x="536282" y="1114577"/>
                  </a:lnTo>
                  <a:lnTo>
                    <a:pt x="591019" y="1160513"/>
                  </a:lnTo>
                  <a:lnTo>
                    <a:pt x="659218" y="1193520"/>
                  </a:lnTo>
                  <a:lnTo>
                    <a:pt x="697623" y="1205674"/>
                  </a:lnTo>
                  <a:lnTo>
                    <a:pt x="738530" y="1215174"/>
                  </a:lnTo>
                  <a:lnTo>
                    <a:pt x="781634" y="1222222"/>
                  </a:lnTo>
                  <a:lnTo>
                    <a:pt x="826643" y="1227010"/>
                  </a:lnTo>
                  <a:lnTo>
                    <a:pt x="873277" y="1229741"/>
                  </a:lnTo>
                  <a:lnTo>
                    <a:pt x="921219" y="1230617"/>
                  </a:lnTo>
                  <a:lnTo>
                    <a:pt x="972362" y="1229220"/>
                  </a:lnTo>
                  <a:lnTo>
                    <a:pt x="1023124" y="1225054"/>
                  </a:lnTo>
                  <a:lnTo>
                    <a:pt x="1073188" y="1218069"/>
                  </a:lnTo>
                  <a:lnTo>
                    <a:pt x="1122248" y="1208278"/>
                  </a:lnTo>
                  <a:lnTo>
                    <a:pt x="1169987" y="1195628"/>
                  </a:lnTo>
                  <a:lnTo>
                    <a:pt x="1216088" y="1180134"/>
                  </a:lnTo>
                  <a:lnTo>
                    <a:pt x="1260233" y="1161757"/>
                  </a:lnTo>
                  <a:lnTo>
                    <a:pt x="1302118" y="1140472"/>
                  </a:lnTo>
                  <a:lnTo>
                    <a:pt x="1341412" y="1116291"/>
                  </a:lnTo>
                  <a:lnTo>
                    <a:pt x="1377810" y="1089164"/>
                  </a:lnTo>
                  <a:lnTo>
                    <a:pt x="1411008" y="1059091"/>
                  </a:lnTo>
                  <a:lnTo>
                    <a:pt x="1440675" y="1026045"/>
                  </a:lnTo>
                  <a:lnTo>
                    <a:pt x="1458455" y="1001242"/>
                  </a:lnTo>
                  <a:lnTo>
                    <a:pt x="1466494" y="990028"/>
                  </a:lnTo>
                  <a:lnTo>
                    <a:pt x="1488173" y="950988"/>
                  </a:lnTo>
                  <a:lnTo>
                    <a:pt x="1505369" y="908926"/>
                  </a:lnTo>
                  <a:lnTo>
                    <a:pt x="1517789" y="863828"/>
                  </a:lnTo>
                  <a:lnTo>
                    <a:pt x="1526463" y="807440"/>
                  </a:lnTo>
                  <a:lnTo>
                    <a:pt x="1527556" y="757580"/>
                  </a:lnTo>
                  <a:lnTo>
                    <a:pt x="1521739" y="713778"/>
                  </a:lnTo>
                  <a:lnTo>
                    <a:pt x="1509649" y="675538"/>
                  </a:lnTo>
                  <a:lnTo>
                    <a:pt x="1469301" y="613803"/>
                  </a:lnTo>
                  <a:lnTo>
                    <a:pt x="1411757" y="568528"/>
                  </a:lnTo>
                  <a:lnTo>
                    <a:pt x="1342263" y="535825"/>
                  </a:lnTo>
                  <a:lnTo>
                    <a:pt x="1304671" y="522973"/>
                  </a:lnTo>
                  <a:lnTo>
                    <a:pt x="1266063" y="511822"/>
                  </a:lnTo>
                  <a:lnTo>
                    <a:pt x="1227086" y="501878"/>
                  </a:lnTo>
                  <a:lnTo>
                    <a:pt x="1150658" y="483654"/>
                  </a:lnTo>
                  <a:lnTo>
                    <a:pt x="1114513" y="474421"/>
                  </a:lnTo>
                  <a:lnTo>
                    <a:pt x="1064463" y="459676"/>
                  </a:lnTo>
                  <a:lnTo>
                    <a:pt x="1016800" y="441147"/>
                  </a:lnTo>
                  <a:lnTo>
                    <a:pt x="977925" y="416255"/>
                  </a:lnTo>
                  <a:lnTo>
                    <a:pt x="954265" y="382409"/>
                  </a:lnTo>
                  <a:lnTo>
                    <a:pt x="952258" y="337007"/>
                  </a:lnTo>
                  <a:lnTo>
                    <a:pt x="972540" y="295287"/>
                  </a:lnTo>
                  <a:lnTo>
                    <a:pt x="1010564" y="260934"/>
                  </a:lnTo>
                  <a:lnTo>
                    <a:pt x="1060335" y="237629"/>
                  </a:lnTo>
                  <a:lnTo>
                    <a:pt x="1115885" y="229044"/>
                  </a:lnTo>
                  <a:lnTo>
                    <a:pt x="1154633" y="231470"/>
                  </a:lnTo>
                  <a:lnTo>
                    <a:pt x="1213764" y="250469"/>
                  </a:lnTo>
                  <a:lnTo>
                    <a:pt x="1248956" y="286981"/>
                  </a:lnTo>
                  <a:lnTo>
                    <a:pt x="1259357" y="339166"/>
                  </a:lnTo>
                  <a:lnTo>
                    <a:pt x="1254417" y="371386"/>
                  </a:lnTo>
                  <a:lnTo>
                    <a:pt x="1581594" y="371386"/>
                  </a:lnTo>
                  <a:lnTo>
                    <a:pt x="1593507" y="317055"/>
                  </a:lnTo>
                  <a:lnTo>
                    <a:pt x="1597647" y="267804"/>
                  </a:lnTo>
                  <a:close/>
                </a:path>
                <a:path w="6492240" h="1230629">
                  <a:moveTo>
                    <a:pt x="2779204" y="24511"/>
                  </a:moveTo>
                  <a:lnTo>
                    <a:pt x="1879384" y="24511"/>
                  </a:lnTo>
                  <a:lnTo>
                    <a:pt x="1628279" y="1205801"/>
                  </a:lnTo>
                  <a:lnTo>
                    <a:pt x="2528112" y="1205801"/>
                  </a:lnTo>
                  <a:lnTo>
                    <a:pt x="2576906" y="976693"/>
                  </a:lnTo>
                  <a:lnTo>
                    <a:pt x="2004250" y="976693"/>
                  </a:lnTo>
                  <a:lnTo>
                    <a:pt x="2057425" y="726376"/>
                  </a:lnTo>
                  <a:lnTo>
                    <a:pt x="2584246" y="726376"/>
                  </a:lnTo>
                  <a:lnTo>
                    <a:pt x="2632786" y="497420"/>
                  </a:lnTo>
                  <a:lnTo>
                    <a:pt x="2105964" y="497420"/>
                  </a:lnTo>
                  <a:lnTo>
                    <a:pt x="2157768" y="253555"/>
                  </a:lnTo>
                  <a:lnTo>
                    <a:pt x="2730411" y="253555"/>
                  </a:lnTo>
                  <a:lnTo>
                    <a:pt x="2779204" y="24511"/>
                  </a:lnTo>
                  <a:close/>
                </a:path>
                <a:path w="6492240" h="1230629">
                  <a:moveTo>
                    <a:pt x="4115854" y="24511"/>
                  </a:moveTo>
                  <a:lnTo>
                    <a:pt x="3821379" y="24511"/>
                  </a:lnTo>
                  <a:lnTo>
                    <a:pt x="3634879" y="901433"/>
                  </a:lnTo>
                  <a:lnTo>
                    <a:pt x="3631057" y="904773"/>
                  </a:lnTo>
                  <a:lnTo>
                    <a:pt x="3487813" y="301078"/>
                  </a:lnTo>
                  <a:lnTo>
                    <a:pt x="3422192" y="24511"/>
                  </a:lnTo>
                  <a:lnTo>
                    <a:pt x="2964078" y="24511"/>
                  </a:lnTo>
                  <a:lnTo>
                    <a:pt x="2712948" y="1205801"/>
                  </a:lnTo>
                  <a:lnTo>
                    <a:pt x="3007461" y="1205801"/>
                  </a:lnTo>
                  <a:lnTo>
                    <a:pt x="3199714" y="301078"/>
                  </a:lnTo>
                  <a:lnTo>
                    <a:pt x="3202978" y="301078"/>
                  </a:lnTo>
                  <a:lnTo>
                    <a:pt x="3411550" y="1205801"/>
                  </a:lnTo>
                  <a:lnTo>
                    <a:pt x="3864762" y="1205801"/>
                  </a:lnTo>
                  <a:lnTo>
                    <a:pt x="3928745" y="904773"/>
                  </a:lnTo>
                  <a:lnTo>
                    <a:pt x="4115854" y="24511"/>
                  </a:lnTo>
                  <a:close/>
                </a:path>
                <a:path w="6492240" h="1230629">
                  <a:moveTo>
                    <a:pt x="5317591" y="1205801"/>
                  </a:moveTo>
                  <a:lnTo>
                    <a:pt x="5275567" y="975106"/>
                  </a:lnTo>
                  <a:lnTo>
                    <a:pt x="5233860" y="746061"/>
                  </a:lnTo>
                  <a:lnTo>
                    <a:pt x="5144465" y="255181"/>
                  </a:lnTo>
                  <a:lnTo>
                    <a:pt x="5102453" y="24511"/>
                  </a:lnTo>
                  <a:lnTo>
                    <a:pt x="4886769" y="24511"/>
                  </a:lnTo>
                  <a:lnTo>
                    <a:pt x="4886769" y="746061"/>
                  </a:lnTo>
                  <a:lnTo>
                    <a:pt x="4571009" y="746061"/>
                  </a:lnTo>
                  <a:lnTo>
                    <a:pt x="4835753" y="255181"/>
                  </a:lnTo>
                  <a:lnTo>
                    <a:pt x="4840643" y="255181"/>
                  </a:lnTo>
                  <a:lnTo>
                    <a:pt x="4886769" y="746061"/>
                  </a:lnTo>
                  <a:lnTo>
                    <a:pt x="4886769" y="24511"/>
                  </a:lnTo>
                  <a:lnTo>
                    <a:pt x="4703229" y="24511"/>
                  </a:lnTo>
                  <a:lnTo>
                    <a:pt x="3985780" y="1205801"/>
                  </a:lnTo>
                  <a:lnTo>
                    <a:pt x="4313047" y="1205801"/>
                  </a:lnTo>
                  <a:lnTo>
                    <a:pt x="4439005" y="975106"/>
                  </a:lnTo>
                  <a:lnTo>
                    <a:pt x="4918392" y="975106"/>
                  </a:lnTo>
                  <a:lnTo>
                    <a:pt x="4947831" y="1205801"/>
                  </a:lnTo>
                  <a:lnTo>
                    <a:pt x="5317591" y="1205801"/>
                  </a:lnTo>
                  <a:close/>
                </a:path>
                <a:path w="6492240" h="1230629">
                  <a:moveTo>
                    <a:pt x="6020232" y="24511"/>
                  </a:moveTo>
                  <a:lnTo>
                    <a:pt x="5693041" y="24511"/>
                  </a:lnTo>
                  <a:lnTo>
                    <a:pt x="5441874" y="1205801"/>
                  </a:lnTo>
                  <a:lnTo>
                    <a:pt x="5769140" y="1205801"/>
                  </a:lnTo>
                  <a:lnTo>
                    <a:pt x="6020232" y="24511"/>
                  </a:lnTo>
                  <a:close/>
                </a:path>
                <a:path w="6492240" h="1230629">
                  <a:moveTo>
                    <a:pt x="6491808" y="1161948"/>
                  </a:moveTo>
                  <a:lnTo>
                    <a:pt x="6143117" y="1161948"/>
                  </a:lnTo>
                  <a:lnTo>
                    <a:pt x="6143117" y="1205585"/>
                  </a:lnTo>
                  <a:lnTo>
                    <a:pt x="6491808" y="1205585"/>
                  </a:lnTo>
                  <a:lnTo>
                    <a:pt x="6491808" y="1161948"/>
                  </a:lnTo>
                  <a:close/>
                </a:path>
                <a:path w="6492240" h="1230629">
                  <a:moveTo>
                    <a:pt x="6491808" y="882891"/>
                  </a:moveTo>
                  <a:lnTo>
                    <a:pt x="6143117" y="882891"/>
                  </a:lnTo>
                  <a:lnTo>
                    <a:pt x="6143117" y="926490"/>
                  </a:lnTo>
                  <a:lnTo>
                    <a:pt x="6491808" y="926490"/>
                  </a:lnTo>
                  <a:lnTo>
                    <a:pt x="6491808" y="882891"/>
                  </a:lnTo>
                  <a:close/>
                </a:path>
                <a:path w="6492240" h="1230629">
                  <a:moveTo>
                    <a:pt x="6491808" y="593369"/>
                  </a:moveTo>
                  <a:lnTo>
                    <a:pt x="6143117" y="593369"/>
                  </a:lnTo>
                  <a:lnTo>
                    <a:pt x="6143117" y="636981"/>
                  </a:lnTo>
                  <a:lnTo>
                    <a:pt x="6491808" y="636981"/>
                  </a:lnTo>
                  <a:lnTo>
                    <a:pt x="6491808" y="593369"/>
                  </a:lnTo>
                  <a:close/>
                </a:path>
                <a:path w="6492240" h="1230629">
                  <a:moveTo>
                    <a:pt x="6491808" y="307733"/>
                  </a:moveTo>
                  <a:lnTo>
                    <a:pt x="6143117" y="307733"/>
                  </a:lnTo>
                  <a:lnTo>
                    <a:pt x="6143117" y="351409"/>
                  </a:lnTo>
                  <a:lnTo>
                    <a:pt x="6491808" y="351409"/>
                  </a:lnTo>
                  <a:lnTo>
                    <a:pt x="6491808" y="307733"/>
                  </a:lnTo>
                  <a:close/>
                </a:path>
                <a:path w="6492240" h="1230629">
                  <a:moveTo>
                    <a:pt x="6491808" y="29514"/>
                  </a:moveTo>
                  <a:lnTo>
                    <a:pt x="6143117" y="29514"/>
                  </a:lnTo>
                  <a:lnTo>
                    <a:pt x="6143117" y="73126"/>
                  </a:lnTo>
                  <a:lnTo>
                    <a:pt x="6491808" y="73126"/>
                  </a:lnTo>
                  <a:lnTo>
                    <a:pt x="6491808" y="29514"/>
                  </a:lnTo>
                  <a:close/>
                </a:path>
              </a:pathLst>
            </a:custGeom>
            <a:solidFill>
              <a:srgbClr val="FFFFFF"/>
            </a:solidFill>
          </p:spPr>
          <p:txBody>
            <a:bodyPr wrap="square" lIns="0" tIns="0" rIns="0" bIns="0" rtlCol="0"/>
            <a:lstStyle/>
            <a:p>
              <a:endParaRPr/>
            </a:p>
          </p:txBody>
        </p:sp>
        <p:sp>
          <p:nvSpPr>
            <p:cNvPr id="6" name="object 6"/>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2"/>
        </a:solidFill>
        <a:effectLst/>
      </p:bgPr>
    </p:bg>
    <p:spTree>
      <p:nvGrpSpPr>
        <p:cNvPr id="1" name=""/>
        <p:cNvGrpSpPr/>
        <p:nvPr/>
      </p:nvGrpSpPr>
      <p:grpSpPr>
        <a:xfrm>
          <a:off x="0" y="0"/>
          <a:ext cx="0" cy="0"/>
          <a:chOff x="0" y="0"/>
          <a:chExt cx="0" cy="0"/>
        </a:xfrm>
      </p:grpSpPr>
      <p:pic>
        <p:nvPicPr>
          <p:cNvPr id="73" name="Imagem 72"/>
          <p:cNvPicPr>
            <a:picLocks noChangeAspect="1"/>
          </p:cNvPicPr>
          <p:nvPr/>
        </p:nvPicPr>
        <p:blipFill>
          <a:blip r:embed="rId2"/>
          <a:stretch>
            <a:fillRect/>
          </a:stretch>
        </p:blipFill>
        <p:spPr>
          <a:xfrm>
            <a:off x="8650214" y="-90561"/>
            <a:ext cx="11460236" cy="11460236"/>
          </a:xfrm>
          <a:prstGeom prst="rect">
            <a:avLst/>
          </a:prstGeom>
        </p:spPr>
      </p:pic>
      <p:sp>
        <p:nvSpPr>
          <p:cNvPr id="2" name="object 2"/>
          <p:cNvSpPr/>
          <p:nvPr/>
        </p:nvSpPr>
        <p:spPr>
          <a:xfrm flipH="1">
            <a:off x="-692150" y="440798"/>
            <a:ext cx="818490" cy="4528078"/>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grpSp>
        <p:nvGrpSpPr>
          <p:cNvPr id="4" name="object 4"/>
          <p:cNvGrpSpPr/>
          <p:nvPr/>
        </p:nvGrpSpPr>
        <p:grpSpPr>
          <a:xfrm>
            <a:off x="9173210" y="320268"/>
            <a:ext cx="3693160" cy="942975"/>
            <a:chOff x="15363992" y="1047088"/>
            <a:chExt cx="3693160" cy="942975"/>
          </a:xfrm>
        </p:grpSpPr>
        <p:sp>
          <p:nvSpPr>
            <p:cNvPr id="5" name="object 5"/>
            <p:cNvSpPr/>
            <p:nvPr/>
          </p:nvSpPr>
          <p:spPr>
            <a:xfrm>
              <a:off x="15364065"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6" name="object 6"/>
            <p:cNvSpPr/>
            <p:nvPr/>
          </p:nvSpPr>
          <p:spPr>
            <a:xfrm>
              <a:off x="15363990" y="1167618"/>
              <a:ext cx="3693160" cy="700405"/>
            </a:xfrm>
            <a:custGeom>
              <a:avLst/>
              <a:gdLst/>
              <a:ahLst/>
              <a:cxnLst/>
              <a:rect l="l" t="t" r="r" b="b"/>
              <a:pathLst>
                <a:path w="3693159" h="700405">
                  <a:moveTo>
                    <a:pt x="198361" y="660984"/>
                  </a:moveTo>
                  <a:lnTo>
                    <a:pt x="0" y="660984"/>
                  </a:lnTo>
                  <a:lnTo>
                    <a:pt x="0" y="685812"/>
                  </a:lnTo>
                  <a:lnTo>
                    <a:pt x="198361" y="685812"/>
                  </a:lnTo>
                  <a:lnTo>
                    <a:pt x="198361" y="660984"/>
                  </a:lnTo>
                  <a:close/>
                </a:path>
                <a:path w="3693159" h="700405">
                  <a:moveTo>
                    <a:pt x="198361" y="502246"/>
                  </a:moveTo>
                  <a:lnTo>
                    <a:pt x="0" y="502246"/>
                  </a:lnTo>
                  <a:lnTo>
                    <a:pt x="0" y="527050"/>
                  </a:lnTo>
                  <a:lnTo>
                    <a:pt x="198361" y="527050"/>
                  </a:lnTo>
                  <a:lnTo>
                    <a:pt x="198361" y="502246"/>
                  </a:lnTo>
                  <a:close/>
                </a:path>
                <a:path w="3693159" h="700405">
                  <a:moveTo>
                    <a:pt x="198361" y="337540"/>
                  </a:moveTo>
                  <a:lnTo>
                    <a:pt x="0" y="337540"/>
                  </a:lnTo>
                  <a:lnTo>
                    <a:pt x="0" y="362356"/>
                  </a:lnTo>
                  <a:lnTo>
                    <a:pt x="198361" y="362356"/>
                  </a:lnTo>
                  <a:lnTo>
                    <a:pt x="198361" y="337540"/>
                  </a:lnTo>
                  <a:close/>
                </a:path>
                <a:path w="3693159" h="700405">
                  <a:moveTo>
                    <a:pt x="198361" y="175044"/>
                  </a:moveTo>
                  <a:lnTo>
                    <a:pt x="0" y="175044"/>
                  </a:lnTo>
                  <a:lnTo>
                    <a:pt x="0" y="199898"/>
                  </a:lnTo>
                  <a:lnTo>
                    <a:pt x="198361" y="199898"/>
                  </a:lnTo>
                  <a:lnTo>
                    <a:pt x="198361" y="175044"/>
                  </a:lnTo>
                  <a:close/>
                </a:path>
                <a:path w="3693159" h="700405">
                  <a:moveTo>
                    <a:pt x="198361" y="16789"/>
                  </a:moveTo>
                  <a:lnTo>
                    <a:pt x="0" y="16789"/>
                  </a:lnTo>
                  <a:lnTo>
                    <a:pt x="0" y="41592"/>
                  </a:lnTo>
                  <a:lnTo>
                    <a:pt x="198361" y="41592"/>
                  </a:lnTo>
                  <a:lnTo>
                    <a:pt x="198361" y="16789"/>
                  </a:lnTo>
                  <a:close/>
                </a:path>
                <a:path w="3693159" h="700405">
                  <a:moveTo>
                    <a:pt x="908519" y="161366"/>
                  </a:moveTo>
                  <a:lnTo>
                    <a:pt x="905611" y="119291"/>
                  </a:lnTo>
                  <a:lnTo>
                    <a:pt x="870216" y="56515"/>
                  </a:lnTo>
                  <a:lnTo>
                    <a:pt x="804722" y="18783"/>
                  </a:lnTo>
                  <a:lnTo>
                    <a:pt x="764209" y="8001"/>
                  </a:lnTo>
                  <a:lnTo>
                    <a:pt x="720382" y="1905"/>
                  </a:lnTo>
                  <a:lnTo>
                    <a:pt x="674649" y="0"/>
                  </a:lnTo>
                  <a:lnTo>
                    <a:pt x="627646" y="1714"/>
                  </a:lnTo>
                  <a:lnTo>
                    <a:pt x="580986" y="7264"/>
                  </a:lnTo>
                  <a:lnTo>
                    <a:pt x="535609" y="17233"/>
                  </a:lnTo>
                  <a:lnTo>
                    <a:pt x="492480" y="32207"/>
                  </a:lnTo>
                  <a:lnTo>
                    <a:pt x="452551" y="52793"/>
                  </a:lnTo>
                  <a:lnTo>
                    <a:pt x="416788" y="79552"/>
                  </a:lnTo>
                  <a:lnTo>
                    <a:pt x="386118" y="113106"/>
                  </a:lnTo>
                  <a:lnTo>
                    <a:pt x="361518" y="154012"/>
                  </a:lnTo>
                  <a:lnTo>
                    <a:pt x="343928" y="202895"/>
                  </a:lnTo>
                  <a:lnTo>
                    <a:pt x="339191" y="254914"/>
                  </a:lnTo>
                  <a:lnTo>
                    <a:pt x="348361" y="300837"/>
                  </a:lnTo>
                  <a:lnTo>
                    <a:pt x="371944" y="338734"/>
                  </a:lnTo>
                  <a:lnTo>
                    <a:pt x="410489" y="366699"/>
                  </a:lnTo>
                  <a:lnTo>
                    <a:pt x="460273" y="387223"/>
                  </a:lnTo>
                  <a:lnTo>
                    <a:pt x="508939" y="402183"/>
                  </a:lnTo>
                  <a:lnTo>
                    <a:pt x="594931" y="424510"/>
                  </a:lnTo>
                  <a:lnTo>
                    <a:pt x="628256" y="436435"/>
                  </a:lnTo>
                  <a:lnTo>
                    <a:pt x="652449" y="451891"/>
                  </a:lnTo>
                  <a:lnTo>
                    <a:pt x="665530" y="473189"/>
                  </a:lnTo>
                  <a:lnTo>
                    <a:pt x="665492" y="502577"/>
                  </a:lnTo>
                  <a:lnTo>
                    <a:pt x="650049" y="531888"/>
                  </a:lnTo>
                  <a:lnTo>
                    <a:pt x="622071" y="552818"/>
                  </a:lnTo>
                  <a:lnTo>
                    <a:pt x="587794" y="565378"/>
                  </a:lnTo>
                  <a:lnTo>
                    <a:pt x="553504" y="569556"/>
                  </a:lnTo>
                  <a:lnTo>
                    <a:pt x="508876" y="563194"/>
                  </a:lnTo>
                  <a:lnTo>
                    <a:pt x="477100" y="544436"/>
                  </a:lnTo>
                  <a:lnTo>
                    <a:pt x="460578" y="513829"/>
                  </a:lnTo>
                  <a:lnTo>
                    <a:pt x="461683" y="471868"/>
                  </a:lnTo>
                  <a:lnTo>
                    <a:pt x="275539" y="471868"/>
                  </a:lnTo>
                  <a:lnTo>
                    <a:pt x="269430" y="527735"/>
                  </a:lnTo>
                  <a:lnTo>
                    <a:pt x="274370" y="574230"/>
                  </a:lnTo>
                  <a:lnTo>
                    <a:pt x="289217" y="612089"/>
                  </a:lnTo>
                  <a:lnTo>
                    <a:pt x="312877" y="642086"/>
                  </a:lnTo>
                  <a:lnTo>
                    <a:pt x="344208" y="664946"/>
                  </a:lnTo>
                  <a:lnTo>
                    <a:pt x="382117" y="681418"/>
                  </a:lnTo>
                  <a:lnTo>
                    <a:pt x="425475" y="692264"/>
                  </a:lnTo>
                  <a:lnTo>
                    <a:pt x="473151" y="698233"/>
                  </a:lnTo>
                  <a:lnTo>
                    <a:pt x="524052" y="700049"/>
                  </a:lnTo>
                  <a:lnTo>
                    <a:pt x="575627" y="697547"/>
                  </a:lnTo>
                  <a:lnTo>
                    <a:pt x="626084" y="690016"/>
                  </a:lnTo>
                  <a:lnTo>
                    <a:pt x="674420" y="677392"/>
                  </a:lnTo>
                  <a:lnTo>
                    <a:pt x="719607" y="659612"/>
                  </a:lnTo>
                  <a:lnTo>
                    <a:pt x="760666" y="636625"/>
                  </a:lnTo>
                  <a:lnTo>
                    <a:pt x="796582" y="608368"/>
                  </a:lnTo>
                  <a:lnTo>
                    <a:pt x="826350" y="574776"/>
                  </a:lnTo>
                  <a:lnTo>
                    <a:pt x="829373" y="569556"/>
                  </a:lnTo>
                  <a:lnTo>
                    <a:pt x="848956" y="535813"/>
                  </a:lnTo>
                  <a:lnTo>
                    <a:pt x="863409" y="491388"/>
                  </a:lnTo>
                  <a:lnTo>
                    <a:pt x="869175" y="436956"/>
                  </a:lnTo>
                  <a:lnTo>
                    <a:pt x="862253" y="393573"/>
                  </a:lnTo>
                  <a:lnTo>
                    <a:pt x="844715" y="359727"/>
                  </a:lnTo>
                  <a:lnTo>
                    <a:pt x="786180" y="314388"/>
                  </a:lnTo>
                  <a:lnTo>
                    <a:pt x="749388" y="299808"/>
                  </a:lnTo>
                  <a:lnTo>
                    <a:pt x="710361" y="288569"/>
                  </a:lnTo>
                  <a:lnTo>
                    <a:pt x="634009" y="269887"/>
                  </a:lnTo>
                  <a:lnTo>
                    <a:pt x="598487" y="259105"/>
                  </a:lnTo>
                  <a:lnTo>
                    <a:pt x="566508" y="244411"/>
                  </a:lnTo>
                  <a:lnTo>
                    <a:pt x="545198" y="222910"/>
                  </a:lnTo>
                  <a:lnTo>
                    <a:pt x="541705" y="191706"/>
                  </a:lnTo>
                  <a:lnTo>
                    <a:pt x="553237" y="167970"/>
                  </a:lnTo>
                  <a:lnTo>
                    <a:pt x="574865" y="148424"/>
                  </a:lnTo>
                  <a:lnTo>
                    <a:pt x="603186" y="135166"/>
                  </a:lnTo>
                  <a:lnTo>
                    <a:pt x="634784" y="130289"/>
                  </a:lnTo>
                  <a:lnTo>
                    <a:pt x="656831" y="131673"/>
                  </a:lnTo>
                  <a:lnTo>
                    <a:pt x="701929" y="151714"/>
                  </a:lnTo>
                  <a:lnTo>
                    <a:pt x="716394" y="192925"/>
                  </a:lnTo>
                  <a:lnTo>
                    <a:pt x="713587" y="211251"/>
                  </a:lnTo>
                  <a:lnTo>
                    <a:pt x="899706" y="211251"/>
                  </a:lnTo>
                  <a:lnTo>
                    <a:pt x="908519" y="161366"/>
                  </a:lnTo>
                  <a:close/>
                </a:path>
                <a:path w="3693159" h="700405">
                  <a:moveTo>
                    <a:pt x="1580972" y="13944"/>
                  </a:moveTo>
                  <a:lnTo>
                    <a:pt x="1069111" y="13944"/>
                  </a:lnTo>
                  <a:lnTo>
                    <a:pt x="926261" y="685927"/>
                  </a:lnTo>
                  <a:lnTo>
                    <a:pt x="1438135" y="685927"/>
                  </a:lnTo>
                  <a:lnTo>
                    <a:pt x="1465897" y="555599"/>
                  </a:lnTo>
                  <a:lnTo>
                    <a:pt x="1140142" y="555599"/>
                  </a:lnTo>
                  <a:lnTo>
                    <a:pt x="1170393" y="413207"/>
                  </a:lnTo>
                  <a:lnTo>
                    <a:pt x="1470075" y="413207"/>
                  </a:lnTo>
                  <a:lnTo>
                    <a:pt x="1497685" y="282956"/>
                  </a:lnTo>
                  <a:lnTo>
                    <a:pt x="1198003" y="282956"/>
                  </a:lnTo>
                  <a:lnTo>
                    <a:pt x="1227467" y="144233"/>
                  </a:lnTo>
                  <a:lnTo>
                    <a:pt x="1553222" y="144233"/>
                  </a:lnTo>
                  <a:lnTo>
                    <a:pt x="1580972" y="13944"/>
                  </a:lnTo>
                  <a:close/>
                </a:path>
                <a:path w="3693159" h="700405">
                  <a:moveTo>
                    <a:pt x="2341346" y="13944"/>
                  </a:moveTo>
                  <a:lnTo>
                    <a:pt x="2173833" y="13944"/>
                  </a:lnTo>
                  <a:lnTo>
                    <a:pt x="2067737" y="512775"/>
                  </a:lnTo>
                  <a:lnTo>
                    <a:pt x="2065566" y="514680"/>
                  </a:lnTo>
                  <a:lnTo>
                    <a:pt x="1984082" y="171272"/>
                  </a:lnTo>
                  <a:lnTo>
                    <a:pt x="1946757" y="13944"/>
                  </a:lnTo>
                  <a:lnTo>
                    <a:pt x="1686140" y="13944"/>
                  </a:lnTo>
                  <a:lnTo>
                    <a:pt x="1543291" y="685927"/>
                  </a:lnTo>
                  <a:lnTo>
                    <a:pt x="1710829" y="685927"/>
                  </a:lnTo>
                  <a:lnTo>
                    <a:pt x="1820189" y="171272"/>
                  </a:lnTo>
                  <a:lnTo>
                    <a:pt x="1822043" y="171272"/>
                  </a:lnTo>
                  <a:lnTo>
                    <a:pt x="1940687" y="685927"/>
                  </a:lnTo>
                  <a:lnTo>
                    <a:pt x="2198509" y="685927"/>
                  </a:lnTo>
                  <a:lnTo>
                    <a:pt x="2234920" y="514680"/>
                  </a:lnTo>
                  <a:lnTo>
                    <a:pt x="2341346" y="13944"/>
                  </a:lnTo>
                  <a:close/>
                </a:path>
                <a:path w="3693159" h="700405">
                  <a:moveTo>
                    <a:pt x="3024962" y="685927"/>
                  </a:moveTo>
                  <a:lnTo>
                    <a:pt x="3001060" y="554685"/>
                  </a:lnTo>
                  <a:lnTo>
                    <a:pt x="2977337" y="424395"/>
                  </a:lnTo>
                  <a:lnTo>
                    <a:pt x="2926486" y="145148"/>
                  </a:lnTo>
                  <a:lnTo>
                    <a:pt x="2902585" y="13944"/>
                  </a:lnTo>
                  <a:lnTo>
                    <a:pt x="2779890" y="13944"/>
                  </a:lnTo>
                  <a:lnTo>
                    <a:pt x="2779890" y="424395"/>
                  </a:lnTo>
                  <a:lnTo>
                    <a:pt x="2600261" y="424395"/>
                  </a:lnTo>
                  <a:lnTo>
                    <a:pt x="2750870" y="145148"/>
                  </a:lnTo>
                  <a:lnTo>
                    <a:pt x="2753652" y="145148"/>
                  </a:lnTo>
                  <a:lnTo>
                    <a:pt x="2779890" y="424395"/>
                  </a:lnTo>
                  <a:lnTo>
                    <a:pt x="2779890" y="13944"/>
                  </a:lnTo>
                  <a:lnTo>
                    <a:pt x="2675483" y="13944"/>
                  </a:lnTo>
                  <a:lnTo>
                    <a:pt x="2267356" y="685927"/>
                  </a:lnTo>
                  <a:lnTo>
                    <a:pt x="2453525" y="685927"/>
                  </a:lnTo>
                  <a:lnTo>
                    <a:pt x="2525179" y="554685"/>
                  </a:lnTo>
                  <a:lnTo>
                    <a:pt x="2797886" y="554685"/>
                  </a:lnTo>
                  <a:lnTo>
                    <a:pt x="2814637" y="685927"/>
                  </a:lnTo>
                  <a:lnTo>
                    <a:pt x="3024962" y="685927"/>
                  </a:lnTo>
                  <a:close/>
                </a:path>
                <a:path w="3693159" h="700405">
                  <a:moveTo>
                    <a:pt x="3424682" y="13944"/>
                  </a:moveTo>
                  <a:lnTo>
                    <a:pt x="3238563" y="13944"/>
                  </a:lnTo>
                  <a:lnTo>
                    <a:pt x="3095675" y="685927"/>
                  </a:lnTo>
                  <a:lnTo>
                    <a:pt x="3281832" y="685927"/>
                  </a:lnTo>
                  <a:lnTo>
                    <a:pt x="3424682" y="13944"/>
                  </a:lnTo>
                  <a:close/>
                </a:path>
                <a:path w="3693159" h="700405">
                  <a:moveTo>
                    <a:pt x="3692931" y="660984"/>
                  </a:moveTo>
                  <a:lnTo>
                    <a:pt x="3494570" y="660984"/>
                  </a:lnTo>
                  <a:lnTo>
                    <a:pt x="3494570" y="685812"/>
                  </a:lnTo>
                  <a:lnTo>
                    <a:pt x="3692931" y="685812"/>
                  </a:lnTo>
                  <a:lnTo>
                    <a:pt x="3692931" y="660984"/>
                  </a:lnTo>
                  <a:close/>
                </a:path>
                <a:path w="3693159" h="700405">
                  <a:moveTo>
                    <a:pt x="3692931" y="502246"/>
                  </a:moveTo>
                  <a:lnTo>
                    <a:pt x="3494570" y="502246"/>
                  </a:lnTo>
                  <a:lnTo>
                    <a:pt x="3494570" y="527050"/>
                  </a:lnTo>
                  <a:lnTo>
                    <a:pt x="3692931" y="527050"/>
                  </a:lnTo>
                  <a:lnTo>
                    <a:pt x="3692931" y="502246"/>
                  </a:lnTo>
                  <a:close/>
                </a:path>
                <a:path w="3693159" h="700405">
                  <a:moveTo>
                    <a:pt x="3692931" y="337540"/>
                  </a:moveTo>
                  <a:lnTo>
                    <a:pt x="3494570" y="337540"/>
                  </a:lnTo>
                  <a:lnTo>
                    <a:pt x="3494570" y="362356"/>
                  </a:lnTo>
                  <a:lnTo>
                    <a:pt x="3692931" y="362356"/>
                  </a:lnTo>
                  <a:lnTo>
                    <a:pt x="3692931" y="337540"/>
                  </a:lnTo>
                  <a:close/>
                </a:path>
                <a:path w="3693159" h="700405">
                  <a:moveTo>
                    <a:pt x="3692931" y="175044"/>
                  </a:moveTo>
                  <a:lnTo>
                    <a:pt x="3494570" y="175044"/>
                  </a:lnTo>
                  <a:lnTo>
                    <a:pt x="3494570" y="199898"/>
                  </a:lnTo>
                  <a:lnTo>
                    <a:pt x="3692931" y="199898"/>
                  </a:lnTo>
                  <a:lnTo>
                    <a:pt x="3692931" y="175044"/>
                  </a:lnTo>
                  <a:close/>
                </a:path>
                <a:path w="3693159" h="700405">
                  <a:moveTo>
                    <a:pt x="3692931" y="16789"/>
                  </a:moveTo>
                  <a:lnTo>
                    <a:pt x="3494570" y="16789"/>
                  </a:lnTo>
                  <a:lnTo>
                    <a:pt x="3494570" y="41592"/>
                  </a:lnTo>
                  <a:lnTo>
                    <a:pt x="3692931" y="41592"/>
                  </a:lnTo>
                  <a:lnTo>
                    <a:pt x="3692931" y="16789"/>
                  </a:lnTo>
                  <a:close/>
                </a:path>
              </a:pathLst>
            </a:custGeom>
            <a:solidFill>
              <a:srgbClr val="FFFFFF"/>
            </a:solidFill>
          </p:spPr>
          <p:txBody>
            <a:bodyPr wrap="square" lIns="0" tIns="0" rIns="0" bIns="0" rtlCol="0"/>
            <a:lstStyle/>
            <a:p>
              <a:endParaRPr/>
            </a:p>
          </p:txBody>
        </p:sp>
      </p:grpSp>
      <p:sp>
        <p:nvSpPr>
          <p:cNvPr id="71" name="object 71"/>
          <p:cNvSpPr txBox="1">
            <a:spLocks noGrp="1"/>
          </p:cNvSpPr>
          <p:nvPr>
            <p:ph type="title"/>
          </p:nvPr>
        </p:nvSpPr>
        <p:spPr>
          <a:xfrm>
            <a:off x="349677" y="82345"/>
            <a:ext cx="8077200" cy="5090496"/>
          </a:xfrm>
          <a:prstGeom prst="rect">
            <a:avLst/>
          </a:prstGeom>
        </p:spPr>
        <p:txBody>
          <a:bodyPr vert="horz" wrap="square" lIns="0" tIns="12065" rIns="0" bIns="0" rtlCol="0">
            <a:spAutoFit/>
          </a:bodyPr>
          <a:lstStyle/>
          <a:p>
            <a:pPr marL="12700">
              <a:lnSpc>
                <a:spcPct val="150000"/>
              </a:lnSpc>
              <a:spcBef>
                <a:spcPts val="95"/>
              </a:spcBef>
            </a:pPr>
            <a:r>
              <a:rPr lang="pt-BR" sz="4400" b="1" spc="-15" dirty="0" smtClean="0">
                <a:solidFill>
                  <a:schemeClr val="tx1"/>
                </a:solidFill>
                <a:latin typeface="Montserrat ExtraBold"/>
                <a:cs typeface="Montserrat ExtraBold"/>
              </a:rPr>
              <a:t>JUNÇÃO DE TABELAS NAS CONSULTAS</a:t>
            </a:r>
            <a:endParaRPr sz="4400" dirty="0">
              <a:solidFill>
                <a:schemeClr val="tx1"/>
              </a:solidFill>
              <a:latin typeface="Montserrat ExtraBold"/>
              <a:cs typeface="Montserrat ExtraBold"/>
            </a:endParaRPr>
          </a:p>
          <a:p>
            <a:pPr marL="12700">
              <a:lnSpc>
                <a:spcPct val="150000"/>
              </a:lnSpc>
            </a:pPr>
            <a:r>
              <a:rPr lang="pt-BR" sz="4400" b="0" spc="-25" dirty="0" smtClean="0">
                <a:solidFill>
                  <a:schemeClr val="tx1"/>
                </a:solidFill>
                <a:latin typeface="Montserrat"/>
                <a:cs typeface="Montserrat"/>
              </a:rPr>
              <a:t/>
            </a:r>
            <a:br>
              <a:rPr lang="pt-BR" sz="4400" b="0" spc="-25" dirty="0" smtClean="0">
                <a:solidFill>
                  <a:schemeClr val="tx1"/>
                </a:solidFill>
                <a:latin typeface="Montserrat"/>
                <a:cs typeface="Montserrat"/>
              </a:rPr>
            </a:br>
            <a:r>
              <a:rPr lang="pt-BR" sz="4400" b="0" spc="-25" dirty="0" smtClean="0">
                <a:solidFill>
                  <a:schemeClr val="tx1"/>
                </a:solidFill>
                <a:latin typeface="Montserrat"/>
                <a:cs typeface="Montserrat"/>
              </a:rPr>
              <a:t>INNER JOIN, LEFT JOIN E</a:t>
            </a:r>
            <a:br>
              <a:rPr lang="pt-BR" sz="4400" b="0" spc="-25" dirty="0" smtClean="0">
                <a:solidFill>
                  <a:schemeClr val="tx1"/>
                </a:solidFill>
                <a:latin typeface="Montserrat"/>
                <a:cs typeface="Montserrat"/>
              </a:rPr>
            </a:br>
            <a:r>
              <a:rPr lang="pt-BR" sz="4400" b="0" spc="-25" dirty="0" smtClean="0">
                <a:solidFill>
                  <a:schemeClr val="tx1"/>
                </a:solidFill>
                <a:latin typeface="Montserrat"/>
                <a:cs typeface="Montserrat"/>
              </a:rPr>
              <a:t>RIGHT JOIN</a:t>
            </a:r>
            <a:endParaRPr sz="4400" dirty="0">
              <a:solidFill>
                <a:schemeClr val="tx1"/>
              </a:solidFill>
              <a:latin typeface="Montserrat"/>
              <a:cs typeface="Montserrat"/>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20104100" cy="11151870"/>
          </a:xfrm>
          <a:custGeom>
            <a:avLst/>
            <a:gdLst/>
            <a:ahLst/>
            <a:cxnLst/>
            <a:rect l="l" t="t" r="r" b="b"/>
            <a:pathLst>
              <a:path w="20104100" h="11151870">
                <a:moveTo>
                  <a:pt x="0" y="11151492"/>
                </a:moveTo>
                <a:lnTo>
                  <a:pt x="20104099" y="11151492"/>
                </a:lnTo>
                <a:lnTo>
                  <a:pt x="20104099" y="0"/>
                </a:lnTo>
                <a:lnTo>
                  <a:pt x="0" y="0"/>
                </a:lnTo>
                <a:lnTo>
                  <a:pt x="0" y="11151492"/>
                </a:lnTo>
                <a:close/>
              </a:path>
            </a:pathLst>
          </a:custGeom>
          <a:solidFill>
            <a:srgbClr val="F1F1F1"/>
          </a:solidFill>
        </p:spPr>
        <p:txBody>
          <a:bodyPr wrap="square" lIns="0" tIns="0" rIns="0" bIns="0" rtlCol="0"/>
          <a:lstStyle/>
          <a:p>
            <a:endParaRPr/>
          </a:p>
        </p:txBody>
      </p:sp>
      <p:grpSp>
        <p:nvGrpSpPr>
          <p:cNvPr id="3" name="object 3"/>
          <p:cNvGrpSpPr/>
          <p:nvPr/>
        </p:nvGrpSpPr>
        <p:grpSpPr>
          <a:xfrm>
            <a:off x="10366176" y="1570633"/>
            <a:ext cx="9476151" cy="10027642"/>
            <a:chOff x="10366176" y="2816668"/>
            <a:chExt cx="9476151" cy="5842754"/>
          </a:xfrm>
        </p:grpSpPr>
        <p:pic>
          <p:nvPicPr>
            <p:cNvPr id="4" name="object 4"/>
            <p:cNvPicPr/>
            <p:nvPr/>
          </p:nvPicPr>
          <p:blipFill>
            <a:blip r:embed="rId2" cstate="print"/>
            <a:stretch>
              <a:fillRect/>
            </a:stretch>
          </p:blipFill>
          <p:spPr>
            <a:xfrm>
              <a:off x="10366176" y="2816668"/>
              <a:ext cx="9476151" cy="3444921"/>
            </a:xfrm>
            <a:prstGeom prst="rect">
              <a:avLst/>
            </a:prstGeom>
          </p:spPr>
        </p:pic>
        <p:sp>
          <p:nvSpPr>
            <p:cNvPr id="5" name="object 5"/>
            <p:cNvSpPr/>
            <p:nvPr/>
          </p:nvSpPr>
          <p:spPr>
            <a:xfrm>
              <a:off x="11153377" y="3603879"/>
              <a:ext cx="7903845" cy="1870710"/>
            </a:xfrm>
            <a:custGeom>
              <a:avLst/>
              <a:gdLst/>
              <a:ahLst/>
              <a:cxnLst/>
              <a:rect l="l" t="t" r="r" b="b"/>
              <a:pathLst>
                <a:path w="7903844" h="1870710">
                  <a:moveTo>
                    <a:pt x="7903633" y="0"/>
                  </a:moveTo>
                  <a:lnTo>
                    <a:pt x="0" y="0"/>
                  </a:lnTo>
                  <a:lnTo>
                    <a:pt x="0" y="1870162"/>
                  </a:lnTo>
                  <a:lnTo>
                    <a:pt x="7903633" y="1870162"/>
                  </a:lnTo>
                  <a:lnTo>
                    <a:pt x="7903633" y="0"/>
                  </a:lnTo>
                  <a:close/>
                </a:path>
              </a:pathLst>
            </a:custGeom>
            <a:solidFill>
              <a:srgbClr val="FFFFFF"/>
            </a:solidFill>
          </p:spPr>
          <p:txBody>
            <a:bodyPr wrap="square" lIns="0" tIns="0" rIns="0" bIns="0" rtlCol="0"/>
            <a:lstStyle/>
            <a:p>
              <a:endParaRPr/>
            </a:p>
          </p:txBody>
        </p:sp>
        <p:pic>
          <p:nvPicPr>
            <p:cNvPr id="6" name="object 6"/>
            <p:cNvPicPr/>
            <p:nvPr/>
          </p:nvPicPr>
          <p:blipFill>
            <a:blip r:embed="rId3" cstate="print"/>
            <a:stretch>
              <a:fillRect/>
            </a:stretch>
          </p:blipFill>
          <p:spPr>
            <a:xfrm>
              <a:off x="10366176" y="5204030"/>
              <a:ext cx="9476151" cy="3455392"/>
            </a:xfrm>
            <a:prstGeom prst="rect">
              <a:avLst/>
            </a:prstGeom>
          </p:spPr>
        </p:pic>
        <p:sp>
          <p:nvSpPr>
            <p:cNvPr id="7" name="object 7"/>
            <p:cNvSpPr/>
            <p:nvPr/>
          </p:nvSpPr>
          <p:spPr>
            <a:xfrm>
              <a:off x="11153377" y="5997587"/>
              <a:ext cx="7903845" cy="1870710"/>
            </a:xfrm>
            <a:custGeom>
              <a:avLst/>
              <a:gdLst/>
              <a:ahLst/>
              <a:cxnLst/>
              <a:rect l="l" t="t" r="r" b="b"/>
              <a:pathLst>
                <a:path w="7903844" h="1870709">
                  <a:moveTo>
                    <a:pt x="7903633" y="0"/>
                  </a:moveTo>
                  <a:lnTo>
                    <a:pt x="0" y="0"/>
                  </a:lnTo>
                  <a:lnTo>
                    <a:pt x="0" y="1870162"/>
                  </a:lnTo>
                  <a:lnTo>
                    <a:pt x="7903633" y="1870162"/>
                  </a:lnTo>
                  <a:lnTo>
                    <a:pt x="7903633" y="0"/>
                  </a:lnTo>
                  <a:close/>
                </a:path>
              </a:pathLst>
            </a:custGeom>
            <a:solidFill>
              <a:srgbClr val="FFFFFF"/>
            </a:solidFill>
          </p:spPr>
          <p:txBody>
            <a:bodyPr wrap="square" lIns="0" tIns="0" rIns="0" bIns="0" rtlCol="0"/>
            <a:lstStyle/>
            <a:p>
              <a:endParaRPr/>
            </a:p>
          </p:txBody>
        </p:sp>
      </p:grpSp>
      <p:sp>
        <p:nvSpPr>
          <p:cNvPr id="10" name="object 10"/>
          <p:cNvSpPr/>
          <p:nvPr/>
        </p:nvSpPr>
        <p:spPr>
          <a:xfrm>
            <a:off x="18481112"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1" name="object 11"/>
          <p:cNvSpPr/>
          <p:nvPr/>
        </p:nvSpPr>
        <p:spPr>
          <a:xfrm>
            <a:off x="18742885"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2" name="object 12"/>
          <p:cNvSpPr/>
          <p:nvPr/>
        </p:nvSpPr>
        <p:spPr>
          <a:xfrm>
            <a:off x="19004657"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3" name="object 13"/>
          <p:cNvSpPr/>
          <p:nvPr/>
        </p:nvSpPr>
        <p:spPr>
          <a:xfrm>
            <a:off x="19266428"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4" name="object 14"/>
          <p:cNvSpPr/>
          <p:nvPr/>
        </p:nvSpPr>
        <p:spPr>
          <a:xfrm>
            <a:off x="19528201"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5" name="object 15"/>
          <p:cNvSpPr/>
          <p:nvPr/>
        </p:nvSpPr>
        <p:spPr>
          <a:xfrm>
            <a:off x="19789973"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6" name="object 16"/>
          <p:cNvSpPr/>
          <p:nvPr/>
        </p:nvSpPr>
        <p:spPr>
          <a:xfrm>
            <a:off x="18481112"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7" name="object 17"/>
          <p:cNvSpPr/>
          <p:nvPr/>
        </p:nvSpPr>
        <p:spPr>
          <a:xfrm>
            <a:off x="18742885"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8" name="object 18"/>
          <p:cNvSpPr/>
          <p:nvPr/>
        </p:nvSpPr>
        <p:spPr>
          <a:xfrm>
            <a:off x="19004657"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9" name="object 19"/>
          <p:cNvSpPr/>
          <p:nvPr/>
        </p:nvSpPr>
        <p:spPr>
          <a:xfrm>
            <a:off x="19266428"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0" name="object 20"/>
          <p:cNvSpPr/>
          <p:nvPr/>
        </p:nvSpPr>
        <p:spPr>
          <a:xfrm>
            <a:off x="19528201"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1" name="object 21"/>
          <p:cNvSpPr/>
          <p:nvPr/>
        </p:nvSpPr>
        <p:spPr>
          <a:xfrm>
            <a:off x="19789973"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2" name="object 22"/>
          <p:cNvSpPr/>
          <p:nvPr/>
        </p:nvSpPr>
        <p:spPr>
          <a:xfrm>
            <a:off x="18481112"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3" name="object 23"/>
          <p:cNvSpPr/>
          <p:nvPr/>
        </p:nvSpPr>
        <p:spPr>
          <a:xfrm>
            <a:off x="18742885"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4" name="object 24"/>
          <p:cNvSpPr/>
          <p:nvPr/>
        </p:nvSpPr>
        <p:spPr>
          <a:xfrm>
            <a:off x="19004657"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5" name="object 25"/>
          <p:cNvSpPr/>
          <p:nvPr/>
        </p:nvSpPr>
        <p:spPr>
          <a:xfrm>
            <a:off x="19266428"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6" name="object 26"/>
          <p:cNvSpPr/>
          <p:nvPr/>
        </p:nvSpPr>
        <p:spPr>
          <a:xfrm>
            <a:off x="19528201"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7" name="object 27"/>
          <p:cNvSpPr/>
          <p:nvPr/>
        </p:nvSpPr>
        <p:spPr>
          <a:xfrm>
            <a:off x="19789973"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8" name="object 28"/>
          <p:cNvSpPr/>
          <p:nvPr/>
        </p:nvSpPr>
        <p:spPr>
          <a:xfrm>
            <a:off x="18481112"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9" name="object 29"/>
          <p:cNvSpPr/>
          <p:nvPr/>
        </p:nvSpPr>
        <p:spPr>
          <a:xfrm>
            <a:off x="18742885"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0" name="object 30"/>
          <p:cNvSpPr/>
          <p:nvPr/>
        </p:nvSpPr>
        <p:spPr>
          <a:xfrm>
            <a:off x="19004657"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1" name="object 31"/>
          <p:cNvSpPr/>
          <p:nvPr/>
        </p:nvSpPr>
        <p:spPr>
          <a:xfrm>
            <a:off x="19266428"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2" name="object 32"/>
          <p:cNvSpPr/>
          <p:nvPr/>
        </p:nvSpPr>
        <p:spPr>
          <a:xfrm>
            <a:off x="19528201"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3" name="object 33"/>
          <p:cNvSpPr/>
          <p:nvPr/>
        </p:nvSpPr>
        <p:spPr>
          <a:xfrm>
            <a:off x="19789973"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4" name="object 34"/>
          <p:cNvSpPr/>
          <p:nvPr/>
        </p:nvSpPr>
        <p:spPr>
          <a:xfrm>
            <a:off x="18481112"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5" name="object 35"/>
          <p:cNvSpPr/>
          <p:nvPr/>
        </p:nvSpPr>
        <p:spPr>
          <a:xfrm>
            <a:off x="18742885"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6" name="object 36"/>
          <p:cNvSpPr/>
          <p:nvPr/>
        </p:nvSpPr>
        <p:spPr>
          <a:xfrm>
            <a:off x="19004657"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7" name="object 37"/>
          <p:cNvSpPr/>
          <p:nvPr/>
        </p:nvSpPr>
        <p:spPr>
          <a:xfrm>
            <a:off x="19266428"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8" name="object 38"/>
          <p:cNvSpPr/>
          <p:nvPr/>
        </p:nvSpPr>
        <p:spPr>
          <a:xfrm>
            <a:off x="19528201"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9" name="object 39"/>
          <p:cNvSpPr/>
          <p:nvPr/>
        </p:nvSpPr>
        <p:spPr>
          <a:xfrm>
            <a:off x="19789973"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0" name="object 40"/>
          <p:cNvSpPr/>
          <p:nvPr/>
        </p:nvSpPr>
        <p:spPr>
          <a:xfrm>
            <a:off x="18481112"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1" name="object 41"/>
          <p:cNvSpPr/>
          <p:nvPr/>
        </p:nvSpPr>
        <p:spPr>
          <a:xfrm>
            <a:off x="18742885"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2" name="object 42"/>
          <p:cNvSpPr/>
          <p:nvPr/>
        </p:nvSpPr>
        <p:spPr>
          <a:xfrm>
            <a:off x="19004657"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3" name="object 43"/>
          <p:cNvSpPr/>
          <p:nvPr/>
        </p:nvSpPr>
        <p:spPr>
          <a:xfrm>
            <a:off x="19266428"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4" name="object 44"/>
          <p:cNvSpPr/>
          <p:nvPr/>
        </p:nvSpPr>
        <p:spPr>
          <a:xfrm>
            <a:off x="19528201"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5" name="object 45"/>
          <p:cNvSpPr/>
          <p:nvPr/>
        </p:nvSpPr>
        <p:spPr>
          <a:xfrm>
            <a:off x="19789973"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0" name="object 50"/>
          <p:cNvSpPr txBox="1"/>
          <p:nvPr/>
        </p:nvSpPr>
        <p:spPr>
          <a:xfrm>
            <a:off x="11196183" y="2916945"/>
            <a:ext cx="5876149" cy="751488"/>
          </a:xfrm>
          <a:prstGeom prst="rect">
            <a:avLst/>
          </a:prstGeom>
        </p:spPr>
        <p:txBody>
          <a:bodyPr vert="horz" wrap="square" lIns="0" tIns="12700" rIns="0" bIns="0" rtlCol="0">
            <a:spAutoFit/>
          </a:bodyPr>
          <a:lstStyle/>
          <a:p>
            <a:pPr>
              <a:lnSpc>
                <a:spcPct val="100000"/>
              </a:lnSpc>
              <a:spcBef>
                <a:spcPts val="100"/>
              </a:spcBef>
            </a:pPr>
            <a:r>
              <a:rPr lang="pt-BR" sz="4800" spc="-10" dirty="0" smtClean="0">
                <a:solidFill>
                  <a:srgbClr val="C1272C"/>
                </a:solidFill>
                <a:latin typeface="Montserrat Light"/>
                <a:cs typeface="Montserrat Light"/>
              </a:rPr>
              <a:t>Conceito</a:t>
            </a:r>
            <a:endParaRPr sz="4800" dirty="0">
              <a:latin typeface="Montserrat Light"/>
              <a:cs typeface="Montserrat Light"/>
            </a:endParaRPr>
          </a:p>
        </p:txBody>
      </p:sp>
      <p:sp>
        <p:nvSpPr>
          <p:cNvPr id="51" name="object 51"/>
          <p:cNvSpPr txBox="1"/>
          <p:nvPr/>
        </p:nvSpPr>
        <p:spPr>
          <a:xfrm>
            <a:off x="11196183" y="3668434"/>
            <a:ext cx="7466467" cy="1963999"/>
          </a:xfrm>
          <a:prstGeom prst="rect">
            <a:avLst/>
          </a:prstGeom>
        </p:spPr>
        <p:txBody>
          <a:bodyPr vert="horz" wrap="square" lIns="0" tIns="24765" rIns="0" bIns="0" rtlCol="0">
            <a:spAutoFit/>
          </a:bodyPr>
          <a:lstStyle/>
          <a:p>
            <a:pPr marR="5080">
              <a:lnSpc>
                <a:spcPct val="150000"/>
              </a:lnSpc>
              <a:spcBef>
                <a:spcPts val="195"/>
              </a:spcBef>
            </a:pPr>
            <a:r>
              <a:rPr lang="pt-BR" sz="2800" b="1" spc="-20" dirty="0">
                <a:solidFill>
                  <a:srgbClr val="FF0000"/>
                </a:solidFill>
                <a:latin typeface="Montserrat"/>
                <a:cs typeface="Montserrat"/>
              </a:rPr>
              <a:t>JOINS</a:t>
            </a:r>
            <a:r>
              <a:rPr lang="pt-BR" sz="2800" spc="-20" dirty="0">
                <a:solidFill>
                  <a:srgbClr val="4D4D4D"/>
                </a:solidFill>
                <a:latin typeface="Montserrat"/>
                <a:cs typeface="Montserrat"/>
              </a:rPr>
              <a:t> </a:t>
            </a:r>
            <a:r>
              <a:rPr lang="pt-BR" sz="2800" spc="-20" dirty="0">
                <a:latin typeface="Montserrat"/>
                <a:cs typeface="Montserrat"/>
              </a:rPr>
              <a:t>são usados para combinar dados de duas ou mais tabelas com base em uma coluna relacionada entre elas.</a:t>
            </a:r>
            <a:endParaRPr sz="2800" dirty="0">
              <a:latin typeface="Montserrat"/>
              <a:cs typeface="Montserrat"/>
            </a:endParaRPr>
          </a:p>
        </p:txBody>
      </p:sp>
      <p:sp>
        <p:nvSpPr>
          <p:cNvPr id="56" name="object 56"/>
          <p:cNvSpPr txBox="1">
            <a:spLocks noGrp="1"/>
          </p:cNvSpPr>
          <p:nvPr>
            <p:ph type="title"/>
          </p:nvPr>
        </p:nvSpPr>
        <p:spPr>
          <a:xfrm>
            <a:off x="11086438" y="797973"/>
            <a:ext cx="6871970" cy="1016945"/>
          </a:xfrm>
          <a:prstGeom prst="rect">
            <a:avLst/>
          </a:prstGeom>
        </p:spPr>
        <p:txBody>
          <a:bodyPr vert="horz" wrap="square" lIns="0" tIns="77470" rIns="0" bIns="0" rtlCol="0">
            <a:spAutoFit/>
          </a:bodyPr>
          <a:lstStyle/>
          <a:p>
            <a:pPr marL="12700">
              <a:lnSpc>
                <a:spcPct val="100000"/>
              </a:lnSpc>
              <a:spcBef>
                <a:spcPts val="610"/>
              </a:spcBef>
            </a:pPr>
            <a:r>
              <a:rPr lang="pt-BR" b="1" spc="-15" dirty="0" smtClean="0">
                <a:latin typeface="Montserrat ExtraBold"/>
                <a:cs typeface="Montserrat ExtraBold"/>
              </a:rPr>
              <a:t>INTRODUÇÃO</a:t>
            </a:r>
            <a:endParaRPr b="1" dirty="0">
              <a:latin typeface="Montserrat ExtraBold"/>
              <a:cs typeface="Montserrat ExtraBold"/>
            </a:endParaRPr>
          </a:p>
        </p:txBody>
      </p:sp>
      <p:sp>
        <p:nvSpPr>
          <p:cNvPr id="57" name="object 50"/>
          <p:cNvSpPr txBox="1"/>
          <p:nvPr/>
        </p:nvSpPr>
        <p:spPr>
          <a:xfrm>
            <a:off x="11196183" y="7049496"/>
            <a:ext cx="3545657" cy="751488"/>
          </a:xfrm>
          <a:prstGeom prst="rect">
            <a:avLst/>
          </a:prstGeom>
        </p:spPr>
        <p:txBody>
          <a:bodyPr vert="horz" wrap="square" lIns="0" tIns="12700" rIns="0" bIns="0" rtlCol="0">
            <a:spAutoFit/>
          </a:bodyPr>
          <a:lstStyle/>
          <a:p>
            <a:pPr>
              <a:lnSpc>
                <a:spcPct val="100000"/>
              </a:lnSpc>
              <a:spcBef>
                <a:spcPts val="100"/>
              </a:spcBef>
            </a:pPr>
            <a:r>
              <a:rPr lang="pt-BR" sz="4800" spc="-10" dirty="0" smtClean="0">
                <a:solidFill>
                  <a:srgbClr val="C1272C"/>
                </a:solidFill>
                <a:latin typeface="Montserrat Light"/>
                <a:cs typeface="Montserrat Light"/>
              </a:rPr>
              <a:t>Motivação</a:t>
            </a:r>
            <a:endParaRPr sz="6100" dirty="0">
              <a:latin typeface="Montserrat Light"/>
              <a:cs typeface="Montserrat Light"/>
            </a:endParaRPr>
          </a:p>
        </p:txBody>
      </p:sp>
      <p:sp>
        <p:nvSpPr>
          <p:cNvPr id="58" name="object 51"/>
          <p:cNvSpPr txBox="1"/>
          <p:nvPr/>
        </p:nvSpPr>
        <p:spPr>
          <a:xfrm>
            <a:off x="11196183" y="7789287"/>
            <a:ext cx="7203257" cy="2240998"/>
          </a:xfrm>
          <a:prstGeom prst="rect">
            <a:avLst/>
          </a:prstGeom>
        </p:spPr>
        <p:txBody>
          <a:bodyPr vert="horz" wrap="square" lIns="0" tIns="24765" rIns="0" bIns="0" rtlCol="0">
            <a:spAutoFit/>
          </a:bodyPr>
          <a:lstStyle/>
          <a:p>
            <a:pPr marR="5080">
              <a:lnSpc>
                <a:spcPct val="150000"/>
              </a:lnSpc>
              <a:spcBef>
                <a:spcPts val="195"/>
              </a:spcBef>
            </a:pPr>
            <a:r>
              <a:rPr lang="pt-BR" sz="2400" spc="-20" dirty="0">
                <a:latin typeface="Montserrat"/>
                <a:cs typeface="Montserrat"/>
              </a:rPr>
              <a:t>Em </a:t>
            </a:r>
            <a:r>
              <a:rPr lang="pt-BR" sz="2400" b="1" spc="-20" dirty="0">
                <a:solidFill>
                  <a:srgbClr val="FF0000"/>
                </a:solidFill>
                <a:latin typeface="Montserrat"/>
                <a:cs typeface="Montserrat"/>
              </a:rPr>
              <a:t>bancos de dados relacionais</a:t>
            </a:r>
            <a:r>
              <a:rPr lang="pt-BR" sz="2400" spc="-20" dirty="0">
                <a:latin typeface="Montserrat"/>
                <a:cs typeface="Montserrat"/>
              </a:rPr>
              <a:t>, as informações costumam estar distribuídas em tabelas </a:t>
            </a:r>
            <a:r>
              <a:rPr lang="pt-BR" sz="2400" spc="-20" dirty="0" smtClean="0">
                <a:latin typeface="Montserrat"/>
                <a:cs typeface="Montserrat"/>
              </a:rPr>
              <a:t>distintas, </a:t>
            </a:r>
            <a:r>
              <a:rPr lang="pt-BR" sz="2400" spc="-20" dirty="0">
                <a:latin typeface="Montserrat"/>
                <a:cs typeface="Montserrat"/>
              </a:rPr>
              <a:t>os JOINS permitem “reunir” esses dados.</a:t>
            </a:r>
            <a:endParaRPr sz="2400" dirty="0">
              <a:latin typeface="Montserrat"/>
              <a:cs typeface="Montserrat"/>
            </a:endParaRPr>
          </a:p>
        </p:txBody>
      </p:sp>
      <p:sp>
        <p:nvSpPr>
          <p:cNvPr id="60" name="Retângulo 59"/>
          <p:cNvSpPr/>
          <p:nvPr/>
        </p:nvSpPr>
        <p:spPr>
          <a:xfrm>
            <a:off x="4246" y="0"/>
            <a:ext cx="9971604" cy="11151492"/>
          </a:xfrm>
          <a:prstGeom prst="rect">
            <a:avLst/>
          </a:prstGeom>
          <a:gradFill flip="none" rotWithShape="1">
            <a:gsLst>
              <a:gs pos="8000">
                <a:srgbClr val="C00000"/>
              </a:gs>
              <a:gs pos="12000">
                <a:schemeClr val="accent2">
                  <a:lumMod val="20000"/>
                  <a:lumOff val="80000"/>
                </a:schemeClr>
              </a:gs>
              <a:gs pos="100000">
                <a:schemeClr val="accent2">
                  <a:tint val="15000"/>
                  <a:satMod val="350000"/>
                </a:schemeClr>
              </a:gs>
            </a:gsLst>
            <a:lin ang="16200000" scaled="1"/>
            <a:tileRec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pt-BR"/>
          </a:p>
        </p:txBody>
      </p:sp>
      <p:grpSp>
        <p:nvGrpSpPr>
          <p:cNvPr id="46" name="object 46"/>
          <p:cNvGrpSpPr/>
          <p:nvPr/>
        </p:nvGrpSpPr>
        <p:grpSpPr>
          <a:xfrm>
            <a:off x="0" y="10051415"/>
            <a:ext cx="20104100" cy="1257557"/>
            <a:chOff x="0" y="10051415"/>
            <a:chExt cx="20104100" cy="1257557"/>
          </a:xfrm>
        </p:grpSpPr>
        <p:sp>
          <p:nvSpPr>
            <p:cNvPr id="48" name="object 48"/>
            <p:cNvSpPr/>
            <p:nvPr/>
          </p:nvSpPr>
          <p:spPr>
            <a:xfrm>
              <a:off x="146050" y="10051415"/>
              <a:ext cx="3693160" cy="942975"/>
            </a:xfrm>
            <a:custGeom>
              <a:avLst/>
              <a:gdLst/>
              <a:ahLst/>
              <a:cxnLst/>
              <a:rect l="l" t="t" r="r" b="b"/>
              <a:pathLst>
                <a:path w="3693160" h="942975">
                  <a:moveTo>
                    <a:pt x="2779915" y="545020"/>
                  </a:moveTo>
                  <a:lnTo>
                    <a:pt x="2753652" y="265760"/>
                  </a:lnTo>
                  <a:lnTo>
                    <a:pt x="2750807" y="265760"/>
                  </a:lnTo>
                  <a:lnTo>
                    <a:pt x="2600236" y="545020"/>
                  </a:lnTo>
                  <a:lnTo>
                    <a:pt x="2779915" y="545020"/>
                  </a:lnTo>
                  <a:close/>
                </a:path>
                <a:path w="3693160" h="942975">
                  <a:moveTo>
                    <a:pt x="3692995" y="0"/>
                  </a:moveTo>
                  <a:lnTo>
                    <a:pt x="3424605" y="0"/>
                  </a:lnTo>
                  <a:lnTo>
                    <a:pt x="3424605" y="134556"/>
                  </a:lnTo>
                  <a:lnTo>
                    <a:pt x="3281794" y="806462"/>
                  </a:lnTo>
                  <a:lnTo>
                    <a:pt x="3095612" y="806462"/>
                  </a:lnTo>
                  <a:lnTo>
                    <a:pt x="3238538" y="134556"/>
                  </a:lnTo>
                  <a:lnTo>
                    <a:pt x="3424605" y="134556"/>
                  </a:lnTo>
                  <a:lnTo>
                    <a:pt x="3424605" y="0"/>
                  </a:lnTo>
                  <a:lnTo>
                    <a:pt x="3024936" y="0"/>
                  </a:lnTo>
                  <a:lnTo>
                    <a:pt x="3024936" y="806462"/>
                  </a:lnTo>
                  <a:lnTo>
                    <a:pt x="2814574" y="806462"/>
                  </a:lnTo>
                  <a:lnTo>
                    <a:pt x="2797822" y="675284"/>
                  </a:lnTo>
                  <a:lnTo>
                    <a:pt x="2525166" y="675284"/>
                  </a:lnTo>
                  <a:lnTo>
                    <a:pt x="2453538" y="806462"/>
                  </a:lnTo>
                  <a:lnTo>
                    <a:pt x="2267369" y="806462"/>
                  </a:lnTo>
                  <a:lnTo>
                    <a:pt x="2675420" y="134556"/>
                  </a:lnTo>
                  <a:lnTo>
                    <a:pt x="2902534" y="134556"/>
                  </a:lnTo>
                  <a:lnTo>
                    <a:pt x="3024936" y="806462"/>
                  </a:lnTo>
                  <a:lnTo>
                    <a:pt x="3024936" y="0"/>
                  </a:lnTo>
                  <a:lnTo>
                    <a:pt x="2341295" y="0"/>
                  </a:lnTo>
                  <a:lnTo>
                    <a:pt x="2341295" y="134556"/>
                  </a:lnTo>
                  <a:lnTo>
                    <a:pt x="2198471" y="806462"/>
                  </a:lnTo>
                  <a:lnTo>
                    <a:pt x="1940674" y="806462"/>
                  </a:lnTo>
                  <a:lnTo>
                    <a:pt x="1822043" y="291833"/>
                  </a:lnTo>
                  <a:lnTo>
                    <a:pt x="1820164" y="291833"/>
                  </a:lnTo>
                  <a:lnTo>
                    <a:pt x="1710842" y="806462"/>
                  </a:lnTo>
                  <a:lnTo>
                    <a:pt x="1543304" y="806462"/>
                  </a:lnTo>
                  <a:lnTo>
                    <a:pt x="1686128" y="134556"/>
                  </a:lnTo>
                  <a:lnTo>
                    <a:pt x="1946744" y="134556"/>
                  </a:lnTo>
                  <a:lnTo>
                    <a:pt x="2065489" y="635266"/>
                  </a:lnTo>
                  <a:lnTo>
                    <a:pt x="2067687" y="633399"/>
                  </a:lnTo>
                  <a:lnTo>
                    <a:pt x="2173757" y="134556"/>
                  </a:lnTo>
                  <a:lnTo>
                    <a:pt x="2341295" y="134556"/>
                  </a:lnTo>
                  <a:lnTo>
                    <a:pt x="2341295" y="0"/>
                  </a:lnTo>
                  <a:lnTo>
                    <a:pt x="1580997" y="0"/>
                  </a:lnTo>
                  <a:lnTo>
                    <a:pt x="1580997" y="134556"/>
                  </a:lnTo>
                  <a:lnTo>
                    <a:pt x="1553146" y="264820"/>
                  </a:lnTo>
                  <a:lnTo>
                    <a:pt x="1227404" y="264820"/>
                  </a:lnTo>
                  <a:lnTo>
                    <a:pt x="1197978" y="403555"/>
                  </a:lnTo>
                  <a:lnTo>
                    <a:pt x="1497660" y="403555"/>
                  </a:lnTo>
                  <a:lnTo>
                    <a:pt x="1470012" y="533819"/>
                  </a:lnTo>
                  <a:lnTo>
                    <a:pt x="1170330" y="533819"/>
                  </a:lnTo>
                  <a:lnTo>
                    <a:pt x="1140079" y="676224"/>
                  </a:lnTo>
                  <a:lnTo>
                    <a:pt x="1465922" y="676224"/>
                  </a:lnTo>
                  <a:lnTo>
                    <a:pt x="1438071" y="806462"/>
                  </a:lnTo>
                  <a:lnTo>
                    <a:pt x="926261" y="806462"/>
                  </a:lnTo>
                  <a:lnTo>
                    <a:pt x="1027150" y="331825"/>
                  </a:lnTo>
                  <a:lnTo>
                    <a:pt x="1069086" y="134556"/>
                  </a:lnTo>
                  <a:lnTo>
                    <a:pt x="1580997" y="134556"/>
                  </a:lnTo>
                  <a:lnTo>
                    <a:pt x="1580997" y="0"/>
                  </a:lnTo>
                  <a:lnTo>
                    <a:pt x="908481" y="0"/>
                  </a:lnTo>
                  <a:lnTo>
                    <a:pt x="908481" y="281914"/>
                  </a:lnTo>
                  <a:lnTo>
                    <a:pt x="899668" y="331825"/>
                  </a:lnTo>
                  <a:lnTo>
                    <a:pt x="713600" y="331825"/>
                  </a:lnTo>
                  <a:lnTo>
                    <a:pt x="716407" y="313486"/>
                  </a:lnTo>
                  <a:lnTo>
                    <a:pt x="715314" y="297522"/>
                  </a:lnTo>
                  <a:lnTo>
                    <a:pt x="690435" y="263029"/>
                  </a:lnTo>
                  <a:lnTo>
                    <a:pt x="634746" y="250888"/>
                  </a:lnTo>
                  <a:lnTo>
                    <a:pt x="603135" y="255765"/>
                  </a:lnTo>
                  <a:lnTo>
                    <a:pt x="574814" y="268998"/>
                  </a:lnTo>
                  <a:lnTo>
                    <a:pt x="553199" y="288531"/>
                  </a:lnTo>
                  <a:lnTo>
                    <a:pt x="541667" y="312254"/>
                  </a:lnTo>
                  <a:lnTo>
                    <a:pt x="545172" y="343458"/>
                  </a:lnTo>
                  <a:lnTo>
                    <a:pt x="566483" y="364985"/>
                  </a:lnTo>
                  <a:lnTo>
                    <a:pt x="598474" y="379704"/>
                  </a:lnTo>
                  <a:lnTo>
                    <a:pt x="634022" y="390474"/>
                  </a:lnTo>
                  <a:lnTo>
                    <a:pt x="710349" y="409155"/>
                  </a:lnTo>
                  <a:lnTo>
                    <a:pt x="749363" y="420395"/>
                  </a:lnTo>
                  <a:lnTo>
                    <a:pt x="786155" y="434962"/>
                  </a:lnTo>
                  <a:lnTo>
                    <a:pt x="844702" y="480275"/>
                  </a:lnTo>
                  <a:lnTo>
                    <a:pt x="862253" y="514121"/>
                  </a:lnTo>
                  <a:lnTo>
                    <a:pt x="869188" y="557479"/>
                  </a:lnTo>
                  <a:lnTo>
                    <a:pt x="863434" y="611924"/>
                  </a:lnTo>
                  <a:lnTo>
                    <a:pt x="848969" y="656336"/>
                  </a:lnTo>
                  <a:lnTo>
                    <a:pt x="826350" y="695312"/>
                  </a:lnTo>
                  <a:lnTo>
                    <a:pt x="796582" y="728903"/>
                  </a:lnTo>
                  <a:lnTo>
                    <a:pt x="760666" y="757161"/>
                  </a:lnTo>
                  <a:lnTo>
                    <a:pt x="719607" y="780161"/>
                  </a:lnTo>
                  <a:lnTo>
                    <a:pt x="674420" y="797941"/>
                  </a:lnTo>
                  <a:lnTo>
                    <a:pt x="626097" y="810577"/>
                  </a:lnTo>
                  <a:lnTo>
                    <a:pt x="575640" y="818121"/>
                  </a:lnTo>
                  <a:lnTo>
                    <a:pt x="524078" y="820610"/>
                  </a:lnTo>
                  <a:lnTo>
                    <a:pt x="473163" y="818794"/>
                  </a:lnTo>
                  <a:lnTo>
                    <a:pt x="425475" y="812838"/>
                  </a:lnTo>
                  <a:lnTo>
                    <a:pt x="382117" y="801992"/>
                  </a:lnTo>
                  <a:lnTo>
                    <a:pt x="344208" y="785520"/>
                  </a:lnTo>
                  <a:lnTo>
                    <a:pt x="312864" y="762660"/>
                  </a:lnTo>
                  <a:lnTo>
                    <a:pt x="289217" y="732675"/>
                  </a:lnTo>
                  <a:lnTo>
                    <a:pt x="274358" y="694804"/>
                  </a:lnTo>
                  <a:lnTo>
                    <a:pt x="269405" y="648309"/>
                  </a:lnTo>
                  <a:lnTo>
                    <a:pt x="275488" y="592455"/>
                  </a:lnTo>
                  <a:lnTo>
                    <a:pt x="461670" y="592455"/>
                  </a:lnTo>
                  <a:lnTo>
                    <a:pt x="460590" y="634403"/>
                  </a:lnTo>
                  <a:lnTo>
                    <a:pt x="477113" y="665022"/>
                  </a:lnTo>
                  <a:lnTo>
                    <a:pt x="508863" y="683780"/>
                  </a:lnTo>
                  <a:lnTo>
                    <a:pt x="553478" y="690143"/>
                  </a:lnTo>
                  <a:lnTo>
                    <a:pt x="587768" y="685965"/>
                  </a:lnTo>
                  <a:lnTo>
                    <a:pt x="622020" y="673404"/>
                  </a:lnTo>
                  <a:lnTo>
                    <a:pt x="649998" y="652462"/>
                  </a:lnTo>
                  <a:lnTo>
                    <a:pt x="665429" y="623125"/>
                  </a:lnTo>
                  <a:lnTo>
                    <a:pt x="665492" y="593737"/>
                  </a:lnTo>
                  <a:lnTo>
                    <a:pt x="664705" y="592455"/>
                  </a:lnTo>
                  <a:lnTo>
                    <a:pt x="652437" y="572452"/>
                  </a:lnTo>
                  <a:lnTo>
                    <a:pt x="628243" y="556996"/>
                  </a:lnTo>
                  <a:lnTo>
                    <a:pt x="594918" y="545071"/>
                  </a:lnTo>
                  <a:lnTo>
                    <a:pt x="508914" y="522744"/>
                  </a:lnTo>
                  <a:lnTo>
                    <a:pt x="460248" y="507771"/>
                  </a:lnTo>
                  <a:lnTo>
                    <a:pt x="410464" y="487222"/>
                  </a:lnTo>
                  <a:lnTo>
                    <a:pt x="371932" y="459282"/>
                  </a:lnTo>
                  <a:lnTo>
                    <a:pt x="348348" y="421398"/>
                  </a:lnTo>
                  <a:lnTo>
                    <a:pt x="339166" y="375475"/>
                  </a:lnTo>
                  <a:lnTo>
                    <a:pt x="343865" y="323443"/>
                  </a:lnTo>
                  <a:lnTo>
                    <a:pt x="361454" y="274574"/>
                  </a:lnTo>
                  <a:lnTo>
                    <a:pt x="386054" y="233654"/>
                  </a:lnTo>
                  <a:lnTo>
                    <a:pt x="416737" y="200101"/>
                  </a:lnTo>
                  <a:lnTo>
                    <a:pt x="452526" y="173329"/>
                  </a:lnTo>
                  <a:lnTo>
                    <a:pt x="492467" y="152742"/>
                  </a:lnTo>
                  <a:lnTo>
                    <a:pt x="535597" y="137756"/>
                  </a:lnTo>
                  <a:lnTo>
                    <a:pt x="580986" y="127787"/>
                  </a:lnTo>
                  <a:lnTo>
                    <a:pt x="627646" y="122237"/>
                  </a:lnTo>
                  <a:lnTo>
                    <a:pt x="674649" y="120523"/>
                  </a:lnTo>
                  <a:lnTo>
                    <a:pt x="720369" y="122428"/>
                  </a:lnTo>
                  <a:lnTo>
                    <a:pt x="764184" y="128524"/>
                  </a:lnTo>
                  <a:lnTo>
                    <a:pt x="804697" y="139306"/>
                  </a:lnTo>
                  <a:lnTo>
                    <a:pt x="840486" y="155308"/>
                  </a:lnTo>
                  <a:lnTo>
                    <a:pt x="892327" y="205041"/>
                  </a:lnTo>
                  <a:lnTo>
                    <a:pt x="908481" y="281914"/>
                  </a:lnTo>
                  <a:lnTo>
                    <a:pt x="908481" y="0"/>
                  </a:lnTo>
                  <a:lnTo>
                    <a:pt x="0" y="0"/>
                  </a:lnTo>
                  <a:lnTo>
                    <a:pt x="0" y="137388"/>
                  </a:lnTo>
                  <a:lnTo>
                    <a:pt x="198323" y="137388"/>
                  </a:lnTo>
                  <a:lnTo>
                    <a:pt x="198323" y="162204"/>
                  </a:lnTo>
                  <a:lnTo>
                    <a:pt x="0" y="162204"/>
                  </a:lnTo>
                  <a:lnTo>
                    <a:pt x="0" y="295605"/>
                  </a:lnTo>
                  <a:lnTo>
                    <a:pt x="198323" y="295605"/>
                  </a:lnTo>
                  <a:lnTo>
                    <a:pt x="198323" y="320408"/>
                  </a:lnTo>
                  <a:lnTo>
                    <a:pt x="0" y="320408"/>
                  </a:lnTo>
                  <a:lnTo>
                    <a:pt x="0" y="458101"/>
                  </a:lnTo>
                  <a:lnTo>
                    <a:pt x="198323" y="458101"/>
                  </a:lnTo>
                  <a:lnTo>
                    <a:pt x="198323" y="482930"/>
                  </a:lnTo>
                  <a:lnTo>
                    <a:pt x="0" y="482930"/>
                  </a:lnTo>
                  <a:lnTo>
                    <a:pt x="0" y="622820"/>
                  </a:lnTo>
                  <a:lnTo>
                    <a:pt x="198323" y="622820"/>
                  </a:lnTo>
                  <a:lnTo>
                    <a:pt x="198323" y="647623"/>
                  </a:lnTo>
                  <a:lnTo>
                    <a:pt x="0" y="647623"/>
                  </a:lnTo>
                  <a:lnTo>
                    <a:pt x="0" y="781545"/>
                  </a:lnTo>
                  <a:lnTo>
                    <a:pt x="198323" y="781545"/>
                  </a:lnTo>
                  <a:lnTo>
                    <a:pt x="198323" y="806361"/>
                  </a:lnTo>
                  <a:lnTo>
                    <a:pt x="0" y="806361"/>
                  </a:lnTo>
                  <a:lnTo>
                    <a:pt x="0" y="942378"/>
                  </a:lnTo>
                  <a:lnTo>
                    <a:pt x="3692995" y="942378"/>
                  </a:lnTo>
                  <a:lnTo>
                    <a:pt x="3692995" y="820610"/>
                  </a:lnTo>
                  <a:lnTo>
                    <a:pt x="3692995" y="806462"/>
                  </a:lnTo>
                  <a:lnTo>
                    <a:pt x="3494557" y="806361"/>
                  </a:lnTo>
                  <a:lnTo>
                    <a:pt x="3494557" y="781545"/>
                  </a:lnTo>
                  <a:lnTo>
                    <a:pt x="3692995" y="781545"/>
                  </a:lnTo>
                  <a:lnTo>
                    <a:pt x="3692995" y="647623"/>
                  </a:lnTo>
                  <a:lnTo>
                    <a:pt x="3494557" y="647623"/>
                  </a:lnTo>
                  <a:lnTo>
                    <a:pt x="3494557" y="622820"/>
                  </a:lnTo>
                  <a:lnTo>
                    <a:pt x="3692995" y="622820"/>
                  </a:lnTo>
                  <a:lnTo>
                    <a:pt x="3692995" y="482930"/>
                  </a:lnTo>
                  <a:lnTo>
                    <a:pt x="3494557" y="482930"/>
                  </a:lnTo>
                  <a:lnTo>
                    <a:pt x="3494557" y="458101"/>
                  </a:lnTo>
                  <a:lnTo>
                    <a:pt x="3692995" y="458101"/>
                  </a:lnTo>
                  <a:lnTo>
                    <a:pt x="3692995" y="320408"/>
                  </a:lnTo>
                  <a:lnTo>
                    <a:pt x="3494557" y="320408"/>
                  </a:lnTo>
                  <a:lnTo>
                    <a:pt x="3494557" y="295605"/>
                  </a:lnTo>
                  <a:lnTo>
                    <a:pt x="3692995" y="295605"/>
                  </a:lnTo>
                  <a:lnTo>
                    <a:pt x="3692995" y="162204"/>
                  </a:lnTo>
                  <a:lnTo>
                    <a:pt x="3494557" y="162204"/>
                  </a:lnTo>
                  <a:lnTo>
                    <a:pt x="3494557" y="137388"/>
                  </a:lnTo>
                  <a:lnTo>
                    <a:pt x="3692995" y="137388"/>
                  </a:lnTo>
                  <a:lnTo>
                    <a:pt x="3692995" y="134556"/>
                  </a:lnTo>
                  <a:lnTo>
                    <a:pt x="3692995" y="120523"/>
                  </a:lnTo>
                  <a:lnTo>
                    <a:pt x="3692995" y="0"/>
                  </a:lnTo>
                  <a:close/>
                </a:path>
              </a:pathLst>
            </a:custGeom>
            <a:solidFill>
              <a:srgbClr val="FFFFFF"/>
            </a:solidFill>
          </p:spPr>
          <p:txBody>
            <a:bodyPr wrap="square" lIns="0" tIns="0" rIns="0" bIns="0" rtlCol="0"/>
            <a:lstStyle/>
            <a:p>
              <a:endParaRPr/>
            </a:p>
          </p:txBody>
        </p:sp>
        <p:sp>
          <p:nvSpPr>
            <p:cNvPr id="49" name="object 49"/>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grpSp>
      <p:pic>
        <p:nvPicPr>
          <p:cNvPr id="63" name="Imagem 62"/>
          <p:cNvPicPr>
            <a:picLocks noChangeAspect="1"/>
          </p:cNvPicPr>
          <p:nvPr/>
        </p:nvPicPr>
        <p:blipFill>
          <a:blip r:embed="rId4"/>
          <a:stretch>
            <a:fillRect/>
          </a:stretch>
        </p:blipFill>
        <p:spPr>
          <a:xfrm>
            <a:off x="2939506" y="32103"/>
            <a:ext cx="4229690" cy="2956973"/>
          </a:xfrm>
          <a:prstGeom prst="rect">
            <a:avLst/>
          </a:prstGeom>
        </p:spPr>
      </p:pic>
      <p:pic>
        <p:nvPicPr>
          <p:cNvPr id="64" name="Imagem 63"/>
          <p:cNvPicPr>
            <a:picLocks noChangeAspect="1"/>
          </p:cNvPicPr>
          <p:nvPr/>
        </p:nvPicPr>
        <p:blipFill>
          <a:blip r:embed="rId5"/>
          <a:stretch>
            <a:fillRect/>
          </a:stretch>
        </p:blipFill>
        <p:spPr>
          <a:xfrm>
            <a:off x="77254" y="3936455"/>
            <a:ext cx="4565017" cy="3124636"/>
          </a:xfrm>
          <a:prstGeom prst="rect">
            <a:avLst/>
          </a:prstGeom>
        </p:spPr>
      </p:pic>
      <p:pic>
        <p:nvPicPr>
          <p:cNvPr id="65" name="Imagem 64"/>
          <p:cNvPicPr>
            <a:picLocks noChangeAspect="1"/>
          </p:cNvPicPr>
          <p:nvPr/>
        </p:nvPicPr>
        <p:blipFill>
          <a:blip r:embed="rId6"/>
          <a:stretch>
            <a:fillRect/>
          </a:stretch>
        </p:blipFill>
        <p:spPr>
          <a:xfrm>
            <a:off x="4645331" y="7049496"/>
            <a:ext cx="4656470" cy="3139878"/>
          </a:xfrm>
          <a:prstGeom prst="rect">
            <a:avLst/>
          </a:prstGeom>
        </p:spPr>
      </p:pic>
      <p:sp>
        <p:nvSpPr>
          <p:cNvPr id="66" name="object 50"/>
          <p:cNvSpPr txBox="1"/>
          <p:nvPr/>
        </p:nvSpPr>
        <p:spPr>
          <a:xfrm>
            <a:off x="3649334" y="2927047"/>
            <a:ext cx="3202316" cy="628377"/>
          </a:xfrm>
          <a:prstGeom prst="rect">
            <a:avLst/>
          </a:prstGeom>
        </p:spPr>
        <p:txBody>
          <a:bodyPr vert="horz" wrap="square" lIns="0" tIns="12700" rIns="0" bIns="0" rtlCol="0">
            <a:spAutoFit/>
          </a:bodyPr>
          <a:lstStyle/>
          <a:p>
            <a:pPr>
              <a:lnSpc>
                <a:spcPct val="100000"/>
              </a:lnSpc>
              <a:spcBef>
                <a:spcPts val="100"/>
              </a:spcBef>
            </a:pPr>
            <a:r>
              <a:rPr lang="pt-BR" sz="4000" b="1" spc="-10" dirty="0" smtClean="0">
                <a:solidFill>
                  <a:srgbClr val="C00000"/>
                </a:solidFill>
                <a:latin typeface="Montserrat ExtraBold" panose="020B0604020202020204" charset="0"/>
                <a:cs typeface="Montserrat Light"/>
              </a:rPr>
              <a:t>INNER JOIN</a:t>
            </a:r>
            <a:endParaRPr sz="4000" b="1" dirty="0">
              <a:solidFill>
                <a:srgbClr val="C00000"/>
              </a:solidFill>
              <a:latin typeface="Montserrat ExtraBold" panose="020B0604020202020204" charset="0"/>
              <a:cs typeface="Montserrat Light"/>
            </a:endParaRPr>
          </a:p>
        </p:txBody>
      </p:sp>
      <p:sp>
        <p:nvSpPr>
          <p:cNvPr id="67" name="object 50"/>
          <p:cNvSpPr txBox="1"/>
          <p:nvPr/>
        </p:nvSpPr>
        <p:spPr>
          <a:xfrm>
            <a:off x="4748894" y="5184584"/>
            <a:ext cx="3202316" cy="628377"/>
          </a:xfrm>
          <a:prstGeom prst="rect">
            <a:avLst/>
          </a:prstGeom>
        </p:spPr>
        <p:txBody>
          <a:bodyPr vert="horz" wrap="square" lIns="0" tIns="12700" rIns="0" bIns="0" rtlCol="0">
            <a:spAutoFit/>
          </a:bodyPr>
          <a:lstStyle/>
          <a:p>
            <a:pPr>
              <a:lnSpc>
                <a:spcPct val="100000"/>
              </a:lnSpc>
              <a:spcBef>
                <a:spcPts val="100"/>
              </a:spcBef>
            </a:pPr>
            <a:r>
              <a:rPr lang="pt-BR" sz="4000" b="1" spc="-10" dirty="0" smtClean="0">
                <a:solidFill>
                  <a:srgbClr val="C00000"/>
                </a:solidFill>
                <a:latin typeface="Montserrat ExtraBold" panose="020B0604020202020204" charset="0"/>
                <a:cs typeface="Montserrat Light"/>
              </a:rPr>
              <a:t>LEFT JOIN</a:t>
            </a:r>
            <a:endParaRPr sz="4000" b="1" dirty="0">
              <a:solidFill>
                <a:srgbClr val="C00000"/>
              </a:solidFill>
              <a:latin typeface="Montserrat ExtraBold" panose="020B0604020202020204" charset="0"/>
              <a:cs typeface="Montserrat Light"/>
            </a:endParaRPr>
          </a:p>
        </p:txBody>
      </p:sp>
      <p:sp>
        <p:nvSpPr>
          <p:cNvPr id="68" name="object 50"/>
          <p:cNvSpPr txBox="1"/>
          <p:nvPr/>
        </p:nvSpPr>
        <p:spPr>
          <a:xfrm>
            <a:off x="1517650" y="8311044"/>
            <a:ext cx="3202316" cy="628377"/>
          </a:xfrm>
          <a:prstGeom prst="rect">
            <a:avLst/>
          </a:prstGeom>
        </p:spPr>
        <p:txBody>
          <a:bodyPr vert="horz" wrap="square" lIns="0" tIns="12700" rIns="0" bIns="0" rtlCol="0">
            <a:spAutoFit/>
          </a:bodyPr>
          <a:lstStyle/>
          <a:p>
            <a:pPr>
              <a:lnSpc>
                <a:spcPct val="100000"/>
              </a:lnSpc>
              <a:spcBef>
                <a:spcPts val="100"/>
              </a:spcBef>
            </a:pPr>
            <a:r>
              <a:rPr lang="pt-BR" sz="4000" b="1" spc="-10" dirty="0" smtClean="0">
                <a:solidFill>
                  <a:srgbClr val="C00000"/>
                </a:solidFill>
                <a:latin typeface="Montserrat ExtraBold" panose="020B0604020202020204" charset="0"/>
                <a:cs typeface="Montserrat Light"/>
              </a:rPr>
              <a:t>RIGHT JOIN</a:t>
            </a:r>
            <a:endParaRPr sz="4000" b="1" dirty="0">
              <a:solidFill>
                <a:srgbClr val="C00000"/>
              </a:solidFill>
              <a:latin typeface="Montserrat ExtraBold" panose="020B0604020202020204" charset="0"/>
              <a:cs typeface="Montserrat Light"/>
            </a:endParaRPr>
          </a:p>
        </p:txBody>
      </p:sp>
    </p:spTree>
    <p:extLst>
      <p:ext uri="{BB962C8B-B14F-4D97-AF65-F5344CB8AC3E}">
        <p14:creationId xmlns:p14="http://schemas.microsoft.com/office/powerpoint/2010/main" val="18741978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20104100" cy="8167370"/>
          </a:xfrm>
          <a:custGeom>
            <a:avLst/>
            <a:gdLst/>
            <a:ahLst/>
            <a:cxnLst/>
            <a:rect l="l" t="t" r="r" b="b"/>
            <a:pathLst>
              <a:path w="20104100" h="8167370">
                <a:moveTo>
                  <a:pt x="0" y="8167290"/>
                </a:moveTo>
                <a:lnTo>
                  <a:pt x="20104099" y="8167290"/>
                </a:lnTo>
                <a:lnTo>
                  <a:pt x="20104099" y="0"/>
                </a:lnTo>
                <a:lnTo>
                  <a:pt x="0" y="0"/>
                </a:lnTo>
                <a:lnTo>
                  <a:pt x="0" y="8167290"/>
                </a:lnTo>
                <a:close/>
              </a:path>
            </a:pathLst>
          </a:custGeom>
          <a:solidFill>
            <a:srgbClr val="F1F1F1"/>
          </a:solidFill>
        </p:spPr>
        <p:txBody>
          <a:bodyPr wrap="square" lIns="0" tIns="0" rIns="0" bIns="0" rtlCol="0"/>
          <a:lstStyle/>
          <a:p>
            <a:endParaRPr/>
          </a:p>
        </p:txBody>
      </p:sp>
      <p:sp>
        <p:nvSpPr>
          <p:cNvPr id="3" name="object 3"/>
          <p:cNvSpPr/>
          <p:nvPr/>
        </p:nvSpPr>
        <p:spPr>
          <a:xfrm>
            <a:off x="0" y="8167290"/>
            <a:ext cx="20104100" cy="2984500"/>
          </a:xfrm>
          <a:custGeom>
            <a:avLst/>
            <a:gdLst/>
            <a:ahLst/>
            <a:cxnLst/>
            <a:rect l="l" t="t" r="r" b="b"/>
            <a:pathLst>
              <a:path w="20104100" h="2984500">
                <a:moveTo>
                  <a:pt x="0" y="2984202"/>
                </a:moveTo>
                <a:lnTo>
                  <a:pt x="20104099" y="2984202"/>
                </a:lnTo>
                <a:lnTo>
                  <a:pt x="20104099" y="0"/>
                </a:lnTo>
                <a:lnTo>
                  <a:pt x="0" y="0"/>
                </a:lnTo>
                <a:lnTo>
                  <a:pt x="0" y="2984202"/>
                </a:lnTo>
                <a:close/>
              </a:path>
            </a:pathLst>
          </a:custGeom>
          <a:solidFill>
            <a:srgbClr val="C1272C"/>
          </a:solidFill>
        </p:spPr>
        <p:txBody>
          <a:bodyPr wrap="square" lIns="0" tIns="0" rIns="0" bIns="0" rtlCol="0"/>
          <a:lstStyle/>
          <a:p>
            <a:endParaRPr/>
          </a:p>
        </p:txBody>
      </p:sp>
      <p:grpSp>
        <p:nvGrpSpPr>
          <p:cNvPr id="4" name="object 4"/>
          <p:cNvGrpSpPr/>
          <p:nvPr/>
        </p:nvGrpSpPr>
        <p:grpSpPr>
          <a:xfrm>
            <a:off x="15363992" y="1047088"/>
            <a:ext cx="3693160" cy="942975"/>
            <a:chOff x="15363992" y="1047088"/>
            <a:chExt cx="3693160" cy="942975"/>
          </a:xfrm>
        </p:grpSpPr>
        <p:sp>
          <p:nvSpPr>
            <p:cNvPr id="5" name="object 5"/>
            <p:cNvSpPr/>
            <p:nvPr/>
          </p:nvSpPr>
          <p:spPr>
            <a:xfrm>
              <a:off x="15364065"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6" name="object 6"/>
            <p:cNvSpPr/>
            <p:nvPr/>
          </p:nvSpPr>
          <p:spPr>
            <a:xfrm>
              <a:off x="15363990" y="1167618"/>
              <a:ext cx="3693160" cy="700405"/>
            </a:xfrm>
            <a:custGeom>
              <a:avLst/>
              <a:gdLst/>
              <a:ahLst/>
              <a:cxnLst/>
              <a:rect l="l" t="t" r="r" b="b"/>
              <a:pathLst>
                <a:path w="3693159" h="700405">
                  <a:moveTo>
                    <a:pt x="198361" y="660984"/>
                  </a:moveTo>
                  <a:lnTo>
                    <a:pt x="0" y="660984"/>
                  </a:lnTo>
                  <a:lnTo>
                    <a:pt x="0" y="685812"/>
                  </a:lnTo>
                  <a:lnTo>
                    <a:pt x="198361" y="685812"/>
                  </a:lnTo>
                  <a:lnTo>
                    <a:pt x="198361" y="660984"/>
                  </a:lnTo>
                  <a:close/>
                </a:path>
                <a:path w="3693159" h="700405">
                  <a:moveTo>
                    <a:pt x="198361" y="502246"/>
                  </a:moveTo>
                  <a:lnTo>
                    <a:pt x="0" y="502246"/>
                  </a:lnTo>
                  <a:lnTo>
                    <a:pt x="0" y="527050"/>
                  </a:lnTo>
                  <a:lnTo>
                    <a:pt x="198361" y="527050"/>
                  </a:lnTo>
                  <a:lnTo>
                    <a:pt x="198361" y="502246"/>
                  </a:lnTo>
                  <a:close/>
                </a:path>
                <a:path w="3693159" h="700405">
                  <a:moveTo>
                    <a:pt x="198361" y="337540"/>
                  </a:moveTo>
                  <a:lnTo>
                    <a:pt x="0" y="337540"/>
                  </a:lnTo>
                  <a:lnTo>
                    <a:pt x="0" y="362356"/>
                  </a:lnTo>
                  <a:lnTo>
                    <a:pt x="198361" y="362356"/>
                  </a:lnTo>
                  <a:lnTo>
                    <a:pt x="198361" y="337540"/>
                  </a:lnTo>
                  <a:close/>
                </a:path>
                <a:path w="3693159" h="700405">
                  <a:moveTo>
                    <a:pt x="198361" y="175044"/>
                  </a:moveTo>
                  <a:lnTo>
                    <a:pt x="0" y="175044"/>
                  </a:lnTo>
                  <a:lnTo>
                    <a:pt x="0" y="199898"/>
                  </a:lnTo>
                  <a:lnTo>
                    <a:pt x="198361" y="199898"/>
                  </a:lnTo>
                  <a:lnTo>
                    <a:pt x="198361" y="175044"/>
                  </a:lnTo>
                  <a:close/>
                </a:path>
                <a:path w="3693159" h="700405">
                  <a:moveTo>
                    <a:pt x="198361" y="16789"/>
                  </a:moveTo>
                  <a:lnTo>
                    <a:pt x="0" y="16789"/>
                  </a:lnTo>
                  <a:lnTo>
                    <a:pt x="0" y="41592"/>
                  </a:lnTo>
                  <a:lnTo>
                    <a:pt x="198361" y="41592"/>
                  </a:lnTo>
                  <a:lnTo>
                    <a:pt x="198361" y="16789"/>
                  </a:lnTo>
                  <a:close/>
                </a:path>
                <a:path w="3693159" h="700405">
                  <a:moveTo>
                    <a:pt x="908519" y="161366"/>
                  </a:moveTo>
                  <a:lnTo>
                    <a:pt x="905611" y="119291"/>
                  </a:lnTo>
                  <a:lnTo>
                    <a:pt x="870216" y="56515"/>
                  </a:lnTo>
                  <a:lnTo>
                    <a:pt x="804722" y="18783"/>
                  </a:lnTo>
                  <a:lnTo>
                    <a:pt x="764209" y="8001"/>
                  </a:lnTo>
                  <a:lnTo>
                    <a:pt x="720382" y="1905"/>
                  </a:lnTo>
                  <a:lnTo>
                    <a:pt x="674649" y="0"/>
                  </a:lnTo>
                  <a:lnTo>
                    <a:pt x="627646" y="1714"/>
                  </a:lnTo>
                  <a:lnTo>
                    <a:pt x="580986" y="7264"/>
                  </a:lnTo>
                  <a:lnTo>
                    <a:pt x="535609" y="17233"/>
                  </a:lnTo>
                  <a:lnTo>
                    <a:pt x="492480" y="32207"/>
                  </a:lnTo>
                  <a:lnTo>
                    <a:pt x="452551" y="52793"/>
                  </a:lnTo>
                  <a:lnTo>
                    <a:pt x="416788" y="79552"/>
                  </a:lnTo>
                  <a:lnTo>
                    <a:pt x="386118" y="113106"/>
                  </a:lnTo>
                  <a:lnTo>
                    <a:pt x="361518" y="154012"/>
                  </a:lnTo>
                  <a:lnTo>
                    <a:pt x="343928" y="202895"/>
                  </a:lnTo>
                  <a:lnTo>
                    <a:pt x="339191" y="254914"/>
                  </a:lnTo>
                  <a:lnTo>
                    <a:pt x="348361" y="300837"/>
                  </a:lnTo>
                  <a:lnTo>
                    <a:pt x="371944" y="338734"/>
                  </a:lnTo>
                  <a:lnTo>
                    <a:pt x="410489" y="366699"/>
                  </a:lnTo>
                  <a:lnTo>
                    <a:pt x="460273" y="387223"/>
                  </a:lnTo>
                  <a:lnTo>
                    <a:pt x="508939" y="402183"/>
                  </a:lnTo>
                  <a:lnTo>
                    <a:pt x="594931" y="424510"/>
                  </a:lnTo>
                  <a:lnTo>
                    <a:pt x="628256" y="436435"/>
                  </a:lnTo>
                  <a:lnTo>
                    <a:pt x="652449" y="451891"/>
                  </a:lnTo>
                  <a:lnTo>
                    <a:pt x="665530" y="473189"/>
                  </a:lnTo>
                  <a:lnTo>
                    <a:pt x="665492" y="502577"/>
                  </a:lnTo>
                  <a:lnTo>
                    <a:pt x="650049" y="531888"/>
                  </a:lnTo>
                  <a:lnTo>
                    <a:pt x="622071" y="552818"/>
                  </a:lnTo>
                  <a:lnTo>
                    <a:pt x="587794" y="565378"/>
                  </a:lnTo>
                  <a:lnTo>
                    <a:pt x="553504" y="569556"/>
                  </a:lnTo>
                  <a:lnTo>
                    <a:pt x="508876" y="563194"/>
                  </a:lnTo>
                  <a:lnTo>
                    <a:pt x="477100" y="544436"/>
                  </a:lnTo>
                  <a:lnTo>
                    <a:pt x="460578" y="513829"/>
                  </a:lnTo>
                  <a:lnTo>
                    <a:pt x="461683" y="471868"/>
                  </a:lnTo>
                  <a:lnTo>
                    <a:pt x="275539" y="471868"/>
                  </a:lnTo>
                  <a:lnTo>
                    <a:pt x="269430" y="527735"/>
                  </a:lnTo>
                  <a:lnTo>
                    <a:pt x="274370" y="574230"/>
                  </a:lnTo>
                  <a:lnTo>
                    <a:pt x="289217" y="612089"/>
                  </a:lnTo>
                  <a:lnTo>
                    <a:pt x="312877" y="642086"/>
                  </a:lnTo>
                  <a:lnTo>
                    <a:pt x="344208" y="664946"/>
                  </a:lnTo>
                  <a:lnTo>
                    <a:pt x="382117" y="681418"/>
                  </a:lnTo>
                  <a:lnTo>
                    <a:pt x="425475" y="692264"/>
                  </a:lnTo>
                  <a:lnTo>
                    <a:pt x="473151" y="698233"/>
                  </a:lnTo>
                  <a:lnTo>
                    <a:pt x="524052" y="700049"/>
                  </a:lnTo>
                  <a:lnTo>
                    <a:pt x="575627" y="697547"/>
                  </a:lnTo>
                  <a:lnTo>
                    <a:pt x="626084" y="690016"/>
                  </a:lnTo>
                  <a:lnTo>
                    <a:pt x="674420" y="677392"/>
                  </a:lnTo>
                  <a:lnTo>
                    <a:pt x="719607" y="659612"/>
                  </a:lnTo>
                  <a:lnTo>
                    <a:pt x="760666" y="636625"/>
                  </a:lnTo>
                  <a:lnTo>
                    <a:pt x="796582" y="608368"/>
                  </a:lnTo>
                  <a:lnTo>
                    <a:pt x="826350" y="574776"/>
                  </a:lnTo>
                  <a:lnTo>
                    <a:pt x="829373" y="569556"/>
                  </a:lnTo>
                  <a:lnTo>
                    <a:pt x="848956" y="535813"/>
                  </a:lnTo>
                  <a:lnTo>
                    <a:pt x="863409" y="491388"/>
                  </a:lnTo>
                  <a:lnTo>
                    <a:pt x="869175" y="436956"/>
                  </a:lnTo>
                  <a:lnTo>
                    <a:pt x="862253" y="393573"/>
                  </a:lnTo>
                  <a:lnTo>
                    <a:pt x="844715" y="359727"/>
                  </a:lnTo>
                  <a:lnTo>
                    <a:pt x="786180" y="314388"/>
                  </a:lnTo>
                  <a:lnTo>
                    <a:pt x="749388" y="299808"/>
                  </a:lnTo>
                  <a:lnTo>
                    <a:pt x="710361" y="288569"/>
                  </a:lnTo>
                  <a:lnTo>
                    <a:pt x="634009" y="269887"/>
                  </a:lnTo>
                  <a:lnTo>
                    <a:pt x="598487" y="259105"/>
                  </a:lnTo>
                  <a:lnTo>
                    <a:pt x="566508" y="244411"/>
                  </a:lnTo>
                  <a:lnTo>
                    <a:pt x="545198" y="222910"/>
                  </a:lnTo>
                  <a:lnTo>
                    <a:pt x="541705" y="191706"/>
                  </a:lnTo>
                  <a:lnTo>
                    <a:pt x="553237" y="167970"/>
                  </a:lnTo>
                  <a:lnTo>
                    <a:pt x="574865" y="148424"/>
                  </a:lnTo>
                  <a:lnTo>
                    <a:pt x="603186" y="135166"/>
                  </a:lnTo>
                  <a:lnTo>
                    <a:pt x="634784" y="130289"/>
                  </a:lnTo>
                  <a:lnTo>
                    <a:pt x="656831" y="131673"/>
                  </a:lnTo>
                  <a:lnTo>
                    <a:pt x="701929" y="151714"/>
                  </a:lnTo>
                  <a:lnTo>
                    <a:pt x="716394" y="192925"/>
                  </a:lnTo>
                  <a:lnTo>
                    <a:pt x="713587" y="211251"/>
                  </a:lnTo>
                  <a:lnTo>
                    <a:pt x="899706" y="211251"/>
                  </a:lnTo>
                  <a:lnTo>
                    <a:pt x="908519" y="161366"/>
                  </a:lnTo>
                  <a:close/>
                </a:path>
                <a:path w="3693159" h="700405">
                  <a:moveTo>
                    <a:pt x="1580972" y="13944"/>
                  </a:moveTo>
                  <a:lnTo>
                    <a:pt x="1069111" y="13944"/>
                  </a:lnTo>
                  <a:lnTo>
                    <a:pt x="926261" y="685927"/>
                  </a:lnTo>
                  <a:lnTo>
                    <a:pt x="1438135" y="685927"/>
                  </a:lnTo>
                  <a:lnTo>
                    <a:pt x="1465897" y="555599"/>
                  </a:lnTo>
                  <a:lnTo>
                    <a:pt x="1140142" y="555599"/>
                  </a:lnTo>
                  <a:lnTo>
                    <a:pt x="1170393" y="413207"/>
                  </a:lnTo>
                  <a:lnTo>
                    <a:pt x="1470075" y="413207"/>
                  </a:lnTo>
                  <a:lnTo>
                    <a:pt x="1497685" y="282956"/>
                  </a:lnTo>
                  <a:lnTo>
                    <a:pt x="1198003" y="282956"/>
                  </a:lnTo>
                  <a:lnTo>
                    <a:pt x="1227467" y="144233"/>
                  </a:lnTo>
                  <a:lnTo>
                    <a:pt x="1553222" y="144233"/>
                  </a:lnTo>
                  <a:lnTo>
                    <a:pt x="1580972" y="13944"/>
                  </a:lnTo>
                  <a:close/>
                </a:path>
                <a:path w="3693159" h="700405">
                  <a:moveTo>
                    <a:pt x="2341346" y="13944"/>
                  </a:moveTo>
                  <a:lnTo>
                    <a:pt x="2173833" y="13944"/>
                  </a:lnTo>
                  <a:lnTo>
                    <a:pt x="2067737" y="512775"/>
                  </a:lnTo>
                  <a:lnTo>
                    <a:pt x="2065566" y="514680"/>
                  </a:lnTo>
                  <a:lnTo>
                    <a:pt x="1984082" y="171272"/>
                  </a:lnTo>
                  <a:lnTo>
                    <a:pt x="1946757" y="13944"/>
                  </a:lnTo>
                  <a:lnTo>
                    <a:pt x="1686140" y="13944"/>
                  </a:lnTo>
                  <a:lnTo>
                    <a:pt x="1543291" y="685927"/>
                  </a:lnTo>
                  <a:lnTo>
                    <a:pt x="1710829" y="685927"/>
                  </a:lnTo>
                  <a:lnTo>
                    <a:pt x="1820189" y="171272"/>
                  </a:lnTo>
                  <a:lnTo>
                    <a:pt x="1822043" y="171272"/>
                  </a:lnTo>
                  <a:lnTo>
                    <a:pt x="1940687" y="685927"/>
                  </a:lnTo>
                  <a:lnTo>
                    <a:pt x="2198509" y="685927"/>
                  </a:lnTo>
                  <a:lnTo>
                    <a:pt x="2234920" y="514680"/>
                  </a:lnTo>
                  <a:lnTo>
                    <a:pt x="2341346" y="13944"/>
                  </a:lnTo>
                  <a:close/>
                </a:path>
                <a:path w="3693159" h="700405">
                  <a:moveTo>
                    <a:pt x="3024962" y="685927"/>
                  </a:moveTo>
                  <a:lnTo>
                    <a:pt x="3001060" y="554685"/>
                  </a:lnTo>
                  <a:lnTo>
                    <a:pt x="2977337" y="424395"/>
                  </a:lnTo>
                  <a:lnTo>
                    <a:pt x="2926486" y="145148"/>
                  </a:lnTo>
                  <a:lnTo>
                    <a:pt x="2902585" y="13944"/>
                  </a:lnTo>
                  <a:lnTo>
                    <a:pt x="2779890" y="13944"/>
                  </a:lnTo>
                  <a:lnTo>
                    <a:pt x="2779890" y="424395"/>
                  </a:lnTo>
                  <a:lnTo>
                    <a:pt x="2600261" y="424395"/>
                  </a:lnTo>
                  <a:lnTo>
                    <a:pt x="2750870" y="145148"/>
                  </a:lnTo>
                  <a:lnTo>
                    <a:pt x="2753652" y="145148"/>
                  </a:lnTo>
                  <a:lnTo>
                    <a:pt x="2779890" y="424395"/>
                  </a:lnTo>
                  <a:lnTo>
                    <a:pt x="2779890" y="13944"/>
                  </a:lnTo>
                  <a:lnTo>
                    <a:pt x="2675483" y="13944"/>
                  </a:lnTo>
                  <a:lnTo>
                    <a:pt x="2267356" y="685927"/>
                  </a:lnTo>
                  <a:lnTo>
                    <a:pt x="2453525" y="685927"/>
                  </a:lnTo>
                  <a:lnTo>
                    <a:pt x="2525179" y="554685"/>
                  </a:lnTo>
                  <a:lnTo>
                    <a:pt x="2797886" y="554685"/>
                  </a:lnTo>
                  <a:lnTo>
                    <a:pt x="2814637" y="685927"/>
                  </a:lnTo>
                  <a:lnTo>
                    <a:pt x="3024962" y="685927"/>
                  </a:lnTo>
                  <a:close/>
                </a:path>
                <a:path w="3693159" h="700405">
                  <a:moveTo>
                    <a:pt x="3424682" y="13944"/>
                  </a:moveTo>
                  <a:lnTo>
                    <a:pt x="3238563" y="13944"/>
                  </a:lnTo>
                  <a:lnTo>
                    <a:pt x="3095675" y="685927"/>
                  </a:lnTo>
                  <a:lnTo>
                    <a:pt x="3281832" y="685927"/>
                  </a:lnTo>
                  <a:lnTo>
                    <a:pt x="3424682" y="13944"/>
                  </a:lnTo>
                  <a:close/>
                </a:path>
                <a:path w="3693159" h="700405">
                  <a:moveTo>
                    <a:pt x="3692931" y="660984"/>
                  </a:moveTo>
                  <a:lnTo>
                    <a:pt x="3494570" y="660984"/>
                  </a:lnTo>
                  <a:lnTo>
                    <a:pt x="3494570" y="685812"/>
                  </a:lnTo>
                  <a:lnTo>
                    <a:pt x="3692931" y="685812"/>
                  </a:lnTo>
                  <a:lnTo>
                    <a:pt x="3692931" y="660984"/>
                  </a:lnTo>
                  <a:close/>
                </a:path>
                <a:path w="3693159" h="700405">
                  <a:moveTo>
                    <a:pt x="3692931" y="502246"/>
                  </a:moveTo>
                  <a:lnTo>
                    <a:pt x="3494570" y="502246"/>
                  </a:lnTo>
                  <a:lnTo>
                    <a:pt x="3494570" y="527050"/>
                  </a:lnTo>
                  <a:lnTo>
                    <a:pt x="3692931" y="527050"/>
                  </a:lnTo>
                  <a:lnTo>
                    <a:pt x="3692931" y="502246"/>
                  </a:lnTo>
                  <a:close/>
                </a:path>
                <a:path w="3693159" h="700405">
                  <a:moveTo>
                    <a:pt x="3692931" y="337540"/>
                  </a:moveTo>
                  <a:lnTo>
                    <a:pt x="3494570" y="337540"/>
                  </a:lnTo>
                  <a:lnTo>
                    <a:pt x="3494570" y="362356"/>
                  </a:lnTo>
                  <a:lnTo>
                    <a:pt x="3692931" y="362356"/>
                  </a:lnTo>
                  <a:lnTo>
                    <a:pt x="3692931" y="337540"/>
                  </a:lnTo>
                  <a:close/>
                </a:path>
                <a:path w="3693159" h="700405">
                  <a:moveTo>
                    <a:pt x="3692931" y="175044"/>
                  </a:moveTo>
                  <a:lnTo>
                    <a:pt x="3494570" y="175044"/>
                  </a:lnTo>
                  <a:lnTo>
                    <a:pt x="3494570" y="199898"/>
                  </a:lnTo>
                  <a:lnTo>
                    <a:pt x="3692931" y="199898"/>
                  </a:lnTo>
                  <a:lnTo>
                    <a:pt x="3692931" y="175044"/>
                  </a:lnTo>
                  <a:close/>
                </a:path>
                <a:path w="3693159" h="700405">
                  <a:moveTo>
                    <a:pt x="3692931" y="16789"/>
                  </a:moveTo>
                  <a:lnTo>
                    <a:pt x="3494570" y="16789"/>
                  </a:lnTo>
                  <a:lnTo>
                    <a:pt x="3494570" y="41592"/>
                  </a:lnTo>
                  <a:lnTo>
                    <a:pt x="3692931" y="41592"/>
                  </a:lnTo>
                  <a:lnTo>
                    <a:pt x="3692931" y="16789"/>
                  </a:lnTo>
                  <a:close/>
                </a:path>
              </a:pathLst>
            </a:custGeom>
            <a:solidFill>
              <a:srgbClr val="FFFFFF"/>
            </a:solidFill>
          </p:spPr>
          <p:txBody>
            <a:bodyPr wrap="square" lIns="0" tIns="0" rIns="0" bIns="0" rtlCol="0"/>
            <a:lstStyle/>
            <a:p>
              <a:endParaRPr/>
            </a:p>
          </p:txBody>
        </p:sp>
      </p:grpSp>
      <p:sp>
        <p:nvSpPr>
          <p:cNvPr id="7" name="object 7"/>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grpSp>
        <p:nvGrpSpPr>
          <p:cNvPr id="8" name="object 8"/>
          <p:cNvGrpSpPr/>
          <p:nvPr/>
        </p:nvGrpSpPr>
        <p:grpSpPr>
          <a:xfrm>
            <a:off x="261772" y="5821812"/>
            <a:ext cx="7329805" cy="5487035"/>
            <a:chOff x="261772" y="5821812"/>
            <a:chExt cx="7329805" cy="5487035"/>
          </a:xfrm>
        </p:grpSpPr>
        <p:pic>
          <p:nvPicPr>
            <p:cNvPr id="9" name="object 9"/>
            <p:cNvPicPr/>
            <p:nvPr/>
          </p:nvPicPr>
          <p:blipFill>
            <a:blip r:embed="rId3" cstate="print"/>
            <a:stretch>
              <a:fillRect/>
            </a:stretch>
          </p:blipFill>
          <p:spPr>
            <a:xfrm>
              <a:off x="261772" y="5821812"/>
              <a:ext cx="7329619" cy="5486743"/>
            </a:xfrm>
            <a:prstGeom prst="rect">
              <a:avLst/>
            </a:prstGeom>
          </p:spPr>
        </p:pic>
        <p:sp>
          <p:nvSpPr>
            <p:cNvPr id="10" name="object 10"/>
            <p:cNvSpPr/>
            <p:nvPr/>
          </p:nvSpPr>
          <p:spPr>
            <a:xfrm>
              <a:off x="1047088" y="6609380"/>
              <a:ext cx="5759450" cy="4542155"/>
            </a:xfrm>
            <a:custGeom>
              <a:avLst/>
              <a:gdLst/>
              <a:ahLst/>
              <a:cxnLst/>
              <a:rect l="l" t="t" r="r" b="b"/>
              <a:pathLst>
                <a:path w="5759450" h="4542155">
                  <a:moveTo>
                    <a:pt x="0" y="4542113"/>
                  </a:moveTo>
                  <a:lnTo>
                    <a:pt x="5758986" y="4542113"/>
                  </a:lnTo>
                  <a:lnTo>
                    <a:pt x="5758986" y="0"/>
                  </a:lnTo>
                  <a:lnTo>
                    <a:pt x="0" y="0"/>
                  </a:lnTo>
                  <a:lnTo>
                    <a:pt x="0" y="4542113"/>
                  </a:lnTo>
                  <a:close/>
                </a:path>
              </a:pathLst>
            </a:custGeom>
            <a:solidFill>
              <a:srgbClr val="FFFFFF"/>
            </a:solidFill>
          </p:spPr>
          <p:txBody>
            <a:bodyPr wrap="square" lIns="0" tIns="0" rIns="0" bIns="0" rtlCol="0"/>
            <a:lstStyle/>
            <a:p>
              <a:endParaRPr/>
            </a:p>
          </p:txBody>
        </p:sp>
      </p:grpSp>
      <p:grpSp>
        <p:nvGrpSpPr>
          <p:cNvPr id="11" name="object 11"/>
          <p:cNvGrpSpPr/>
          <p:nvPr/>
        </p:nvGrpSpPr>
        <p:grpSpPr>
          <a:xfrm>
            <a:off x="6387239" y="5821812"/>
            <a:ext cx="13455650" cy="5487035"/>
            <a:chOff x="6387239" y="5821812"/>
            <a:chExt cx="13455650" cy="5487035"/>
          </a:xfrm>
        </p:grpSpPr>
        <p:pic>
          <p:nvPicPr>
            <p:cNvPr id="12" name="object 12"/>
            <p:cNvPicPr/>
            <p:nvPr/>
          </p:nvPicPr>
          <p:blipFill>
            <a:blip r:embed="rId3" cstate="print"/>
            <a:stretch>
              <a:fillRect/>
            </a:stretch>
          </p:blipFill>
          <p:spPr>
            <a:xfrm>
              <a:off x="12512707" y="5821812"/>
              <a:ext cx="7329619" cy="5486743"/>
            </a:xfrm>
            <a:prstGeom prst="rect">
              <a:avLst/>
            </a:prstGeom>
          </p:spPr>
        </p:pic>
        <p:sp>
          <p:nvSpPr>
            <p:cNvPr id="13" name="object 13"/>
            <p:cNvSpPr/>
            <p:nvPr/>
          </p:nvSpPr>
          <p:spPr>
            <a:xfrm>
              <a:off x="13298024" y="6609380"/>
              <a:ext cx="5759450" cy="4542155"/>
            </a:xfrm>
            <a:custGeom>
              <a:avLst/>
              <a:gdLst/>
              <a:ahLst/>
              <a:cxnLst/>
              <a:rect l="l" t="t" r="r" b="b"/>
              <a:pathLst>
                <a:path w="5759450" h="4542155">
                  <a:moveTo>
                    <a:pt x="0" y="4542113"/>
                  </a:moveTo>
                  <a:lnTo>
                    <a:pt x="5758986" y="4542113"/>
                  </a:lnTo>
                  <a:lnTo>
                    <a:pt x="5758986" y="0"/>
                  </a:lnTo>
                  <a:lnTo>
                    <a:pt x="0" y="0"/>
                  </a:lnTo>
                  <a:lnTo>
                    <a:pt x="0" y="4542113"/>
                  </a:lnTo>
                  <a:close/>
                </a:path>
              </a:pathLst>
            </a:custGeom>
            <a:solidFill>
              <a:srgbClr val="FFFFFF"/>
            </a:solidFill>
          </p:spPr>
          <p:txBody>
            <a:bodyPr wrap="square" lIns="0" tIns="0" rIns="0" bIns="0" rtlCol="0"/>
            <a:lstStyle/>
            <a:p>
              <a:endParaRPr/>
            </a:p>
          </p:txBody>
        </p:sp>
        <p:pic>
          <p:nvPicPr>
            <p:cNvPr id="14" name="object 14"/>
            <p:cNvPicPr/>
            <p:nvPr/>
          </p:nvPicPr>
          <p:blipFill>
            <a:blip r:embed="rId3" cstate="print"/>
            <a:stretch>
              <a:fillRect/>
            </a:stretch>
          </p:blipFill>
          <p:spPr>
            <a:xfrm>
              <a:off x="6387239" y="5821812"/>
              <a:ext cx="7329619" cy="5486743"/>
            </a:xfrm>
            <a:prstGeom prst="rect">
              <a:avLst/>
            </a:prstGeom>
          </p:spPr>
        </p:pic>
        <p:sp>
          <p:nvSpPr>
            <p:cNvPr id="15" name="object 15"/>
            <p:cNvSpPr/>
            <p:nvPr/>
          </p:nvSpPr>
          <p:spPr>
            <a:xfrm>
              <a:off x="7172556" y="6609380"/>
              <a:ext cx="5759450" cy="4542155"/>
            </a:xfrm>
            <a:custGeom>
              <a:avLst/>
              <a:gdLst/>
              <a:ahLst/>
              <a:cxnLst/>
              <a:rect l="l" t="t" r="r" b="b"/>
              <a:pathLst>
                <a:path w="5759450" h="4542155">
                  <a:moveTo>
                    <a:pt x="0" y="4542113"/>
                  </a:moveTo>
                  <a:lnTo>
                    <a:pt x="5758986" y="4542113"/>
                  </a:lnTo>
                  <a:lnTo>
                    <a:pt x="5758986" y="0"/>
                  </a:lnTo>
                  <a:lnTo>
                    <a:pt x="0" y="0"/>
                  </a:lnTo>
                  <a:lnTo>
                    <a:pt x="0" y="4542113"/>
                  </a:lnTo>
                  <a:close/>
                </a:path>
              </a:pathLst>
            </a:custGeom>
            <a:solidFill>
              <a:srgbClr val="FFFFFF"/>
            </a:solidFill>
          </p:spPr>
          <p:txBody>
            <a:bodyPr wrap="square" lIns="0" tIns="0" rIns="0" bIns="0" rtlCol="0"/>
            <a:lstStyle/>
            <a:p>
              <a:endParaRPr/>
            </a:p>
          </p:txBody>
        </p:sp>
      </p:grpSp>
      <p:sp>
        <p:nvSpPr>
          <p:cNvPr id="16" name="object 16"/>
          <p:cNvSpPr/>
          <p:nvPr/>
        </p:nvSpPr>
        <p:spPr>
          <a:xfrm>
            <a:off x="235594" y="6020370"/>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7" name="object 17"/>
          <p:cNvSpPr/>
          <p:nvPr/>
        </p:nvSpPr>
        <p:spPr>
          <a:xfrm>
            <a:off x="497367" y="6020370"/>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8" name="object 18"/>
          <p:cNvSpPr/>
          <p:nvPr/>
        </p:nvSpPr>
        <p:spPr>
          <a:xfrm>
            <a:off x="759139" y="6020370"/>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9" name="object 19"/>
          <p:cNvSpPr/>
          <p:nvPr/>
        </p:nvSpPr>
        <p:spPr>
          <a:xfrm>
            <a:off x="235594" y="6282142"/>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0" name="object 20"/>
          <p:cNvSpPr/>
          <p:nvPr/>
        </p:nvSpPr>
        <p:spPr>
          <a:xfrm>
            <a:off x="497367" y="6282142"/>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1" name="object 21"/>
          <p:cNvSpPr/>
          <p:nvPr/>
        </p:nvSpPr>
        <p:spPr>
          <a:xfrm>
            <a:off x="759139" y="6282142"/>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2" name="object 22"/>
          <p:cNvSpPr/>
          <p:nvPr/>
        </p:nvSpPr>
        <p:spPr>
          <a:xfrm>
            <a:off x="235594" y="6543915"/>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3" name="object 23"/>
          <p:cNvSpPr/>
          <p:nvPr/>
        </p:nvSpPr>
        <p:spPr>
          <a:xfrm>
            <a:off x="497367" y="6543915"/>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4" name="object 24"/>
          <p:cNvSpPr/>
          <p:nvPr/>
        </p:nvSpPr>
        <p:spPr>
          <a:xfrm>
            <a:off x="759139" y="6543915"/>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5" name="object 25"/>
          <p:cNvSpPr/>
          <p:nvPr/>
        </p:nvSpPr>
        <p:spPr>
          <a:xfrm>
            <a:off x="235594" y="6805686"/>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6" name="object 26"/>
          <p:cNvSpPr/>
          <p:nvPr/>
        </p:nvSpPr>
        <p:spPr>
          <a:xfrm>
            <a:off x="497367" y="6805686"/>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7" name="object 27"/>
          <p:cNvSpPr/>
          <p:nvPr/>
        </p:nvSpPr>
        <p:spPr>
          <a:xfrm>
            <a:off x="759139" y="6805686"/>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8" name="object 28"/>
          <p:cNvSpPr/>
          <p:nvPr/>
        </p:nvSpPr>
        <p:spPr>
          <a:xfrm>
            <a:off x="235594" y="706745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9" name="object 29"/>
          <p:cNvSpPr/>
          <p:nvPr/>
        </p:nvSpPr>
        <p:spPr>
          <a:xfrm>
            <a:off x="497367" y="706745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0" name="object 30"/>
          <p:cNvSpPr/>
          <p:nvPr/>
        </p:nvSpPr>
        <p:spPr>
          <a:xfrm>
            <a:off x="759139" y="706745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1" name="object 31"/>
          <p:cNvSpPr/>
          <p:nvPr/>
        </p:nvSpPr>
        <p:spPr>
          <a:xfrm>
            <a:off x="235594" y="732923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2" name="object 32"/>
          <p:cNvSpPr/>
          <p:nvPr/>
        </p:nvSpPr>
        <p:spPr>
          <a:xfrm>
            <a:off x="497367" y="732923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3" name="object 33"/>
          <p:cNvSpPr/>
          <p:nvPr/>
        </p:nvSpPr>
        <p:spPr>
          <a:xfrm>
            <a:off x="759139" y="732923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4" name="object 34"/>
          <p:cNvSpPr/>
          <p:nvPr/>
        </p:nvSpPr>
        <p:spPr>
          <a:xfrm>
            <a:off x="235594" y="7591003"/>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5" name="object 35"/>
          <p:cNvSpPr/>
          <p:nvPr/>
        </p:nvSpPr>
        <p:spPr>
          <a:xfrm>
            <a:off x="497367" y="7591003"/>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6" name="object 36"/>
          <p:cNvSpPr/>
          <p:nvPr/>
        </p:nvSpPr>
        <p:spPr>
          <a:xfrm>
            <a:off x="759139" y="7591003"/>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7" name="object 37"/>
          <p:cNvSpPr/>
          <p:nvPr/>
        </p:nvSpPr>
        <p:spPr>
          <a:xfrm>
            <a:off x="235594" y="7852775"/>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8" name="object 38"/>
          <p:cNvSpPr/>
          <p:nvPr/>
        </p:nvSpPr>
        <p:spPr>
          <a:xfrm>
            <a:off x="497367" y="7852775"/>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9" name="object 39"/>
          <p:cNvSpPr/>
          <p:nvPr/>
        </p:nvSpPr>
        <p:spPr>
          <a:xfrm>
            <a:off x="759139" y="7852775"/>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0" name="object 40"/>
          <p:cNvSpPr/>
          <p:nvPr/>
        </p:nvSpPr>
        <p:spPr>
          <a:xfrm>
            <a:off x="19292606" y="602037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1" name="object 41"/>
          <p:cNvSpPr/>
          <p:nvPr/>
        </p:nvSpPr>
        <p:spPr>
          <a:xfrm>
            <a:off x="19554378" y="602037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2" name="object 42"/>
          <p:cNvSpPr/>
          <p:nvPr/>
        </p:nvSpPr>
        <p:spPr>
          <a:xfrm>
            <a:off x="19816150" y="602037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3" name="object 43"/>
          <p:cNvSpPr/>
          <p:nvPr/>
        </p:nvSpPr>
        <p:spPr>
          <a:xfrm>
            <a:off x="19292606" y="628214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4" name="object 44"/>
          <p:cNvSpPr/>
          <p:nvPr/>
        </p:nvSpPr>
        <p:spPr>
          <a:xfrm>
            <a:off x="19554378" y="628214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5" name="object 45"/>
          <p:cNvSpPr/>
          <p:nvPr/>
        </p:nvSpPr>
        <p:spPr>
          <a:xfrm>
            <a:off x="19816150" y="628214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6" name="object 46"/>
          <p:cNvSpPr/>
          <p:nvPr/>
        </p:nvSpPr>
        <p:spPr>
          <a:xfrm>
            <a:off x="19292606" y="654391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7" name="object 47"/>
          <p:cNvSpPr/>
          <p:nvPr/>
        </p:nvSpPr>
        <p:spPr>
          <a:xfrm>
            <a:off x="19554378" y="654391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8" name="object 48"/>
          <p:cNvSpPr/>
          <p:nvPr/>
        </p:nvSpPr>
        <p:spPr>
          <a:xfrm>
            <a:off x="19816150" y="654391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9" name="object 49"/>
          <p:cNvSpPr/>
          <p:nvPr/>
        </p:nvSpPr>
        <p:spPr>
          <a:xfrm>
            <a:off x="19292606" y="680568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0" name="object 50"/>
          <p:cNvSpPr/>
          <p:nvPr/>
        </p:nvSpPr>
        <p:spPr>
          <a:xfrm>
            <a:off x="19554378" y="680568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1" name="object 51"/>
          <p:cNvSpPr/>
          <p:nvPr/>
        </p:nvSpPr>
        <p:spPr>
          <a:xfrm>
            <a:off x="19816150" y="680568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2" name="object 52"/>
          <p:cNvSpPr/>
          <p:nvPr/>
        </p:nvSpPr>
        <p:spPr>
          <a:xfrm>
            <a:off x="19292606" y="7067459"/>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3" name="object 53"/>
          <p:cNvSpPr/>
          <p:nvPr/>
        </p:nvSpPr>
        <p:spPr>
          <a:xfrm>
            <a:off x="19554378" y="7067459"/>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4" name="object 54"/>
          <p:cNvSpPr/>
          <p:nvPr/>
        </p:nvSpPr>
        <p:spPr>
          <a:xfrm>
            <a:off x="19816150" y="7067459"/>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5" name="object 55"/>
          <p:cNvSpPr/>
          <p:nvPr/>
        </p:nvSpPr>
        <p:spPr>
          <a:xfrm>
            <a:off x="19292606" y="732923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6" name="object 56"/>
          <p:cNvSpPr/>
          <p:nvPr/>
        </p:nvSpPr>
        <p:spPr>
          <a:xfrm>
            <a:off x="19554378" y="732923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7" name="object 57"/>
          <p:cNvSpPr/>
          <p:nvPr/>
        </p:nvSpPr>
        <p:spPr>
          <a:xfrm>
            <a:off x="19816150" y="732923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8" name="object 58"/>
          <p:cNvSpPr/>
          <p:nvPr/>
        </p:nvSpPr>
        <p:spPr>
          <a:xfrm>
            <a:off x="19292606" y="759100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9" name="object 59"/>
          <p:cNvSpPr/>
          <p:nvPr/>
        </p:nvSpPr>
        <p:spPr>
          <a:xfrm>
            <a:off x="19554378" y="759100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0" name="object 60"/>
          <p:cNvSpPr/>
          <p:nvPr/>
        </p:nvSpPr>
        <p:spPr>
          <a:xfrm>
            <a:off x="19816150" y="759100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1" name="object 61"/>
          <p:cNvSpPr/>
          <p:nvPr/>
        </p:nvSpPr>
        <p:spPr>
          <a:xfrm>
            <a:off x="19292606" y="785277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2" name="object 62"/>
          <p:cNvSpPr/>
          <p:nvPr/>
        </p:nvSpPr>
        <p:spPr>
          <a:xfrm>
            <a:off x="19554378" y="785277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3" name="object 63"/>
          <p:cNvSpPr/>
          <p:nvPr/>
        </p:nvSpPr>
        <p:spPr>
          <a:xfrm>
            <a:off x="19816150" y="785277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7" name="object 67"/>
          <p:cNvSpPr/>
          <p:nvPr/>
        </p:nvSpPr>
        <p:spPr>
          <a:xfrm>
            <a:off x="2879493" y="7407275"/>
            <a:ext cx="2094230" cy="0"/>
          </a:xfrm>
          <a:custGeom>
            <a:avLst/>
            <a:gdLst/>
            <a:ahLst/>
            <a:cxnLst/>
            <a:rect l="l" t="t" r="r" b="b"/>
            <a:pathLst>
              <a:path w="2094229">
                <a:moveTo>
                  <a:pt x="0" y="0"/>
                </a:moveTo>
                <a:lnTo>
                  <a:pt x="2094177" y="0"/>
                </a:lnTo>
              </a:path>
            </a:pathLst>
          </a:custGeom>
          <a:ln w="31412">
            <a:solidFill>
              <a:srgbClr val="C1272C"/>
            </a:solidFill>
          </a:ln>
        </p:spPr>
        <p:txBody>
          <a:bodyPr wrap="square" lIns="0" tIns="0" rIns="0" bIns="0" rtlCol="0"/>
          <a:lstStyle/>
          <a:p>
            <a:endParaRPr/>
          </a:p>
        </p:txBody>
      </p:sp>
      <p:sp>
        <p:nvSpPr>
          <p:cNvPr id="68" name="object 68"/>
          <p:cNvSpPr txBox="1"/>
          <p:nvPr/>
        </p:nvSpPr>
        <p:spPr>
          <a:xfrm>
            <a:off x="1072683" y="7556199"/>
            <a:ext cx="5785978" cy="3034549"/>
          </a:xfrm>
          <a:prstGeom prst="rect">
            <a:avLst/>
          </a:prstGeom>
        </p:spPr>
        <p:txBody>
          <a:bodyPr vert="horz" wrap="square" lIns="0" tIns="24765" rIns="0" bIns="0" rtlCol="0">
            <a:spAutoFit/>
          </a:bodyPr>
          <a:lstStyle/>
          <a:p>
            <a:pPr marL="664210" marR="200025" indent="-457200" algn="just">
              <a:lnSpc>
                <a:spcPts val="2870"/>
              </a:lnSpc>
              <a:spcBef>
                <a:spcPts val="195"/>
              </a:spcBef>
              <a:buFont typeface="Arial" panose="020B0604020202020204" pitchFamily="34" charset="0"/>
              <a:buChar char="•"/>
            </a:pPr>
            <a:r>
              <a:rPr lang="pt-BR" sz="2400" spc="-20" dirty="0">
                <a:solidFill>
                  <a:srgbClr val="4D4D4D"/>
                </a:solidFill>
                <a:latin typeface="Montserrat"/>
                <a:cs typeface="Montserrat"/>
              </a:rPr>
              <a:t>Seleciona </a:t>
            </a:r>
            <a:r>
              <a:rPr lang="pt-BR" sz="2400" spc="-20" dirty="0" smtClean="0">
                <a:solidFill>
                  <a:srgbClr val="4D4D4D"/>
                </a:solidFill>
                <a:latin typeface="Montserrat"/>
                <a:cs typeface="Montserrat"/>
              </a:rPr>
              <a:t>a </a:t>
            </a:r>
            <a:r>
              <a:rPr lang="pt-BR" sz="2400" b="1" spc="-20" dirty="0" smtClean="0">
                <a:solidFill>
                  <a:srgbClr val="C00000"/>
                </a:solidFill>
                <a:latin typeface="Montserrat"/>
                <a:cs typeface="Montserrat"/>
              </a:rPr>
              <a:t>intersecção</a:t>
            </a:r>
            <a:r>
              <a:rPr lang="pt-BR" sz="2400" spc="-20" dirty="0" smtClean="0">
                <a:solidFill>
                  <a:srgbClr val="4D4D4D"/>
                </a:solidFill>
                <a:latin typeface="Montserrat"/>
                <a:cs typeface="Montserrat"/>
              </a:rPr>
              <a:t> entre as tabelas, ou seja, todos os registros que tem correspondência em </a:t>
            </a:r>
            <a:r>
              <a:rPr lang="pt-BR" sz="2400" b="1" spc="-20" dirty="0" smtClean="0">
                <a:solidFill>
                  <a:srgbClr val="C00000"/>
                </a:solidFill>
                <a:latin typeface="Montserrat"/>
                <a:cs typeface="Montserrat"/>
              </a:rPr>
              <a:t>ambas</a:t>
            </a:r>
            <a:r>
              <a:rPr lang="pt-BR" sz="2400" spc="-20" dirty="0" smtClean="0">
                <a:solidFill>
                  <a:srgbClr val="4D4D4D"/>
                </a:solidFill>
                <a:latin typeface="Montserrat"/>
                <a:cs typeface="Montserrat"/>
              </a:rPr>
              <a:t>  as tabelas;</a:t>
            </a:r>
          </a:p>
          <a:p>
            <a:pPr marL="664210" marR="200025" indent="-457200" algn="just">
              <a:lnSpc>
                <a:spcPts val="2870"/>
              </a:lnSpc>
              <a:spcBef>
                <a:spcPts val="195"/>
              </a:spcBef>
              <a:buFont typeface="Arial" panose="020B0604020202020204" pitchFamily="34" charset="0"/>
              <a:buChar char="•"/>
            </a:pPr>
            <a:endParaRPr lang="pt-BR" sz="2400" spc="-20" dirty="0">
              <a:solidFill>
                <a:srgbClr val="4D4D4D"/>
              </a:solidFill>
              <a:latin typeface="Montserrat"/>
              <a:cs typeface="Montserrat"/>
            </a:endParaRPr>
          </a:p>
          <a:p>
            <a:pPr marL="664210" marR="200025" indent="-457200" algn="just">
              <a:lnSpc>
                <a:spcPts val="2870"/>
              </a:lnSpc>
              <a:spcBef>
                <a:spcPts val="195"/>
              </a:spcBef>
              <a:buFont typeface="Arial" panose="020B0604020202020204" pitchFamily="34" charset="0"/>
              <a:buChar char="•"/>
            </a:pPr>
            <a:r>
              <a:rPr lang="pt-BR" sz="2400" spc="-20" dirty="0" err="1" smtClean="0">
                <a:solidFill>
                  <a:srgbClr val="4D4D4D"/>
                </a:solidFill>
                <a:latin typeface="Montserrat"/>
                <a:cs typeface="Montserrat"/>
              </a:rPr>
              <a:t>Ex</a:t>
            </a:r>
            <a:r>
              <a:rPr lang="pt-BR" sz="2400" spc="-20" dirty="0" smtClean="0">
                <a:solidFill>
                  <a:srgbClr val="4D4D4D"/>
                </a:solidFill>
                <a:latin typeface="Montserrat"/>
                <a:cs typeface="Montserrat"/>
              </a:rPr>
              <a:t>: Seleciona os </a:t>
            </a:r>
            <a:r>
              <a:rPr lang="pt-BR" sz="2400" b="1" spc="-20" dirty="0" smtClean="0">
                <a:solidFill>
                  <a:srgbClr val="C00000"/>
                </a:solidFill>
                <a:latin typeface="Montserrat"/>
                <a:cs typeface="Montserrat"/>
              </a:rPr>
              <a:t>alunos</a:t>
            </a:r>
            <a:r>
              <a:rPr lang="pt-BR" sz="2400" spc="-20" dirty="0" smtClean="0">
                <a:solidFill>
                  <a:srgbClr val="4D4D4D"/>
                </a:solidFill>
                <a:latin typeface="Montserrat"/>
                <a:cs typeface="Montserrat"/>
              </a:rPr>
              <a:t> e </a:t>
            </a:r>
            <a:r>
              <a:rPr lang="pt-BR" sz="2400" b="1" spc="-20" dirty="0" smtClean="0">
                <a:solidFill>
                  <a:srgbClr val="C00000"/>
                </a:solidFill>
                <a:latin typeface="Montserrat"/>
                <a:cs typeface="Montserrat"/>
              </a:rPr>
              <a:t>cursos</a:t>
            </a:r>
            <a:r>
              <a:rPr lang="pt-BR" sz="2400" spc="-20" dirty="0" smtClean="0">
                <a:solidFill>
                  <a:srgbClr val="4D4D4D"/>
                </a:solidFill>
                <a:latin typeface="Montserrat"/>
                <a:cs typeface="Montserrat"/>
              </a:rPr>
              <a:t> que estão relacionados;</a:t>
            </a:r>
            <a:endParaRPr sz="2400" dirty="0">
              <a:latin typeface="Montserrat"/>
              <a:cs typeface="Montserrat"/>
            </a:endParaRPr>
          </a:p>
        </p:txBody>
      </p:sp>
      <p:sp>
        <p:nvSpPr>
          <p:cNvPr id="69" name="object 69"/>
          <p:cNvSpPr txBox="1"/>
          <p:nvPr/>
        </p:nvSpPr>
        <p:spPr>
          <a:xfrm>
            <a:off x="1073264" y="6706292"/>
            <a:ext cx="5733274" cy="545277"/>
          </a:xfrm>
          <a:prstGeom prst="rect">
            <a:avLst/>
          </a:prstGeom>
        </p:spPr>
        <p:txBody>
          <a:bodyPr vert="horz" wrap="square" lIns="0" tIns="11430" rIns="0" bIns="0" rtlCol="0">
            <a:spAutoFit/>
          </a:bodyPr>
          <a:lstStyle/>
          <a:p>
            <a:pPr marL="877569" marR="5080" indent="-865505" algn="ctr">
              <a:lnSpc>
                <a:spcPct val="100800"/>
              </a:lnSpc>
              <a:spcBef>
                <a:spcPts val="90"/>
              </a:spcBef>
            </a:pPr>
            <a:r>
              <a:rPr lang="pt-BR" sz="3600" b="1" spc="15" dirty="0" smtClean="0">
                <a:solidFill>
                  <a:srgbClr val="333333"/>
                </a:solidFill>
                <a:latin typeface="Montserrat ExtraBold" panose="020B0604020202020204" charset="0"/>
                <a:cs typeface="Montserrat ExtraBold"/>
              </a:rPr>
              <a:t>INNER</a:t>
            </a:r>
            <a:r>
              <a:rPr lang="pt-BR" sz="3600" spc="15" dirty="0" smtClean="0">
                <a:solidFill>
                  <a:srgbClr val="333333"/>
                </a:solidFill>
                <a:latin typeface="Montserrat Light"/>
                <a:cs typeface="Montserrat ExtraBold"/>
              </a:rPr>
              <a:t> JOIN</a:t>
            </a:r>
            <a:endParaRPr sz="3600" dirty="0">
              <a:latin typeface="Montserrat ExtraBold"/>
              <a:cs typeface="Montserrat ExtraBold"/>
            </a:endParaRPr>
          </a:p>
        </p:txBody>
      </p:sp>
      <p:sp>
        <p:nvSpPr>
          <p:cNvPr id="70" name="object 70"/>
          <p:cNvSpPr/>
          <p:nvPr/>
        </p:nvSpPr>
        <p:spPr>
          <a:xfrm>
            <a:off x="15130429" y="7407275"/>
            <a:ext cx="2094230" cy="0"/>
          </a:xfrm>
          <a:custGeom>
            <a:avLst/>
            <a:gdLst/>
            <a:ahLst/>
            <a:cxnLst/>
            <a:rect l="l" t="t" r="r" b="b"/>
            <a:pathLst>
              <a:path w="2094230">
                <a:moveTo>
                  <a:pt x="0" y="0"/>
                </a:moveTo>
                <a:lnTo>
                  <a:pt x="2094177" y="0"/>
                </a:lnTo>
              </a:path>
            </a:pathLst>
          </a:custGeom>
          <a:ln w="31412">
            <a:solidFill>
              <a:srgbClr val="C1272C"/>
            </a:solidFill>
          </a:ln>
        </p:spPr>
        <p:txBody>
          <a:bodyPr wrap="square" lIns="0" tIns="0" rIns="0" bIns="0" rtlCol="0"/>
          <a:lstStyle/>
          <a:p>
            <a:endParaRPr/>
          </a:p>
        </p:txBody>
      </p:sp>
      <p:sp>
        <p:nvSpPr>
          <p:cNvPr id="73" name="object 73"/>
          <p:cNvSpPr/>
          <p:nvPr/>
        </p:nvSpPr>
        <p:spPr>
          <a:xfrm>
            <a:off x="9004961" y="7407275"/>
            <a:ext cx="2094230" cy="0"/>
          </a:xfrm>
          <a:custGeom>
            <a:avLst/>
            <a:gdLst/>
            <a:ahLst/>
            <a:cxnLst/>
            <a:rect l="l" t="t" r="r" b="b"/>
            <a:pathLst>
              <a:path w="2094229">
                <a:moveTo>
                  <a:pt x="0" y="0"/>
                </a:moveTo>
                <a:lnTo>
                  <a:pt x="2094177" y="0"/>
                </a:lnTo>
              </a:path>
            </a:pathLst>
          </a:custGeom>
          <a:ln w="31412">
            <a:solidFill>
              <a:srgbClr val="C1272C"/>
            </a:solidFill>
          </a:ln>
        </p:spPr>
        <p:txBody>
          <a:bodyPr wrap="square" lIns="0" tIns="0" rIns="0" bIns="0" rtlCol="0"/>
          <a:lstStyle/>
          <a:p>
            <a:endParaRPr/>
          </a:p>
        </p:txBody>
      </p:sp>
      <p:sp>
        <p:nvSpPr>
          <p:cNvPr id="76" name="object 76"/>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1A1A1A"/>
          </a:solidFill>
        </p:spPr>
        <p:txBody>
          <a:bodyPr wrap="square" lIns="0" tIns="0" rIns="0" bIns="0" rtlCol="0"/>
          <a:lstStyle/>
          <a:p>
            <a:endParaRPr/>
          </a:p>
        </p:txBody>
      </p:sp>
      <p:sp>
        <p:nvSpPr>
          <p:cNvPr id="77" name="object 77"/>
          <p:cNvSpPr txBox="1">
            <a:spLocks noGrp="1"/>
          </p:cNvSpPr>
          <p:nvPr>
            <p:ph type="title"/>
          </p:nvPr>
        </p:nvSpPr>
        <p:spPr>
          <a:xfrm>
            <a:off x="1509065" y="984549"/>
            <a:ext cx="10328275" cy="1533525"/>
          </a:xfrm>
          <a:prstGeom prst="rect">
            <a:avLst/>
          </a:prstGeom>
        </p:spPr>
        <p:txBody>
          <a:bodyPr vert="horz" wrap="square" lIns="0" tIns="12065" rIns="0" bIns="0" rtlCol="0">
            <a:spAutoFit/>
          </a:bodyPr>
          <a:lstStyle/>
          <a:p>
            <a:pPr marL="12700">
              <a:lnSpc>
                <a:spcPts val="5940"/>
              </a:lnSpc>
              <a:spcBef>
                <a:spcPts val="95"/>
              </a:spcBef>
            </a:pPr>
            <a:r>
              <a:rPr lang="pt-BR" sz="4950" b="1" spc="-15" dirty="0" smtClean="0">
                <a:latin typeface="Montserrat ExtraBold"/>
                <a:cs typeface="Montserrat ExtraBold"/>
              </a:rPr>
              <a:t>DIFERENTES TIPOS DE JOINS</a:t>
            </a:r>
            <a:endParaRPr sz="4950" dirty="0">
              <a:latin typeface="Montserrat ExtraBold"/>
              <a:cs typeface="Montserrat ExtraBold"/>
            </a:endParaRPr>
          </a:p>
          <a:p>
            <a:pPr marL="12700">
              <a:lnSpc>
                <a:spcPts val="5940"/>
              </a:lnSpc>
            </a:pPr>
            <a:r>
              <a:rPr lang="pt-BR" sz="4950" b="0" spc="-25" dirty="0" smtClean="0">
                <a:latin typeface="Montserrat"/>
                <a:cs typeface="Montserrat"/>
              </a:rPr>
              <a:t>INNER, LEFT E RIGHT</a:t>
            </a:r>
            <a:endParaRPr sz="4950" dirty="0">
              <a:latin typeface="Montserrat"/>
              <a:cs typeface="Montserrat"/>
            </a:endParaRPr>
          </a:p>
        </p:txBody>
      </p:sp>
      <p:sp>
        <p:nvSpPr>
          <p:cNvPr id="81" name="Retângulo 80"/>
          <p:cNvSpPr/>
          <p:nvPr/>
        </p:nvSpPr>
        <p:spPr>
          <a:xfrm>
            <a:off x="1073616" y="3555000"/>
            <a:ext cx="5732922" cy="3041619"/>
          </a:xfrm>
          <a:prstGeom prst="rect">
            <a:avLst/>
          </a:prstGeom>
          <a:solidFill>
            <a:srgbClr val="F8ED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bg1"/>
              </a:solidFill>
            </a:endParaRPr>
          </a:p>
        </p:txBody>
      </p:sp>
      <p:sp>
        <p:nvSpPr>
          <p:cNvPr id="85" name="Retângulo 84"/>
          <p:cNvSpPr/>
          <p:nvPr/>
        </p:nvSpPr>
        <p:spPr>
          <a:xfrm>
            <a:off x="7173543" y="3555000"/>
            <a:ext cx="5732922" cy="3041619"/>
          </a:xfrm>
          <a:prstGeom prst="rect">
            <a:avLst/>
          </a:prstGeom>
          <a:solidFill>
            <a:srgbClr val="F8ED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bg1"/>
              </a:solidFill>
            </a:endParaRPr>
          </a:p>
        </p:txBody>
      </p:sp>
      <p:sp>
        <p:nvSpPr>
          <p:cNvPr id="86" name="Retângulo 85"/>
          <p:cNvSpPr/>
          <p:nvPr/>
        </p:nvSpPr>
        <p:spPr>
          <a:xfrm>
            <a:off x="13297559" y="3555000"/>
            <a:ext cx="5732922" cy="3041619"/>
          </a:xfrm>
          <a:prstGeom prst="rect">
            <a:avLst/>
          </a:prstGeom>
          <a:solidFill>
            <a:srgbClr val="F8ED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bg1"/>
              </a:solidFill>
            </a:endParaRPr>
          </a:p>
        </p:txBody>
      </p:sp>
      <p:sp>
        <p:nvSpPr>
          <p:cNvPr id="87" name="object 69"/>
          <p:cNvSpPr txBox="1"/>
          <p:nvPr/>
        </p:nvSpPr>
        <p:spPr>
          <a:xfrm>
            <a:off x="7170005" y="6706292"/>
            <a:ext cx="5735010" cy="571054"/>
          </a:xfrm>
          <a:prstGeom prst="rect">
            <a:avLst/>
          </a:prstGeom>
        </p:spPr>
        <p:txBody>
          <a:bodyPr vert="horz" wrap="square" lIns="0" tIns="11430" rIns="0" bIns="0" rtlCol="0">
            <a:spAutoFit/>
          </a:bodyPr>
          <a:lstStyle/>
          <a:p>
            <a:pPr marL="877569" marR="5080" indent="-865505" algn="ctr">
              <a:lnSpc>
                <a:spcPct val="100800"/>
              </a:lnSpc>
              <a:spcBef>
                <a:spcPts val="90"/>
              </a:spcBef>
            </a:pPr>
            <a:r>
              <a:rPr lang="pt-BR" sz="3600" b="1" spc="15" dirty="0" smtClean="0">
                <a:solidFill>
                  <a:srgbClr val="333333"/>
                </a:solidFill>
                <a:latin typeface="Montserrat ExtraBold" panose="020B0604020202020204" charset="0"/>
                <a:cs typeface="Montserrat ExtraBold"/>
              </a:rPr>
              <a:t>LEFT</a:t>
            </a:r>
            <a:r>
              <a:rPr lang="pt-BR" sz="3600" spc="15" dirty="0" smtClean="0">
                <a:solidFill>
                  <a:srgbClr val="333333"/>
                </a:solidFill>
                <a:latin typeface="Montserrat Light"/>
                <a:cs typeface="Montserrat ExtraBold"/>
              </a:rPr>
              <a:t> JOIN</a:t>
            </a:r>
            <a:endParaRPr sz="3600" dirty="0">
              <a:latin typeface="Montserrat ExtraBold"/>
              <a:cs typeface="Montserrat ExtraBold"/>
            </a:endParaRPr>
          </a:p>
        </p:txBody>
      </p:sp>
      <p:sp>
        <p:nvSpPr>
          <p:cNvPr id="88" name="object 69"/>
          <p:cNvSpPr txBox="1"/>
          <p:nvPr/>
        </p:nvSpPr>
        <p:spPr>
          <a:xfrm>
            <a:off x="13297559" y="6704305"/>
            <a:ext cx="5759449" cy="571054"/>
          </a:xfrm>
          <a:prstGeom prst="rect">
            <a:avLst/>
          </a:prstGeom>
        </p:spPr>
        <p:txBody>
          <a:bodyPr vert="horz" wrap="square" lIns="0" tIns="11430" rIns="0" bIns="0" rtlCol="0">
            <a:spAutoFit/>
          </a:bodyPr>
          <a:lstStyle/>
          <a:p>
            <a:pPr marL="877569" marR="5080" indent="-865505" algn="ctr">
              <a:lnSpc>
                <a:spcPct val="100800"/>
              </a:lnSpc>
              <a:spcBef>
                <a:spcPts val="90"/>
              </a:spcBef>
            </a:pPr>
            <a:r>
              <a:rPr lang="pt-BR" sz="3600" b="1" spc="15" dirty="0" smtClean="0">
                <a:solidFill>
                  <a:srgbClr val="333333"/>
                </a:solidFill>
                <a:latin typeface="Montserrat ExtraBold" panose="020B0604020202020204" charset="0"/>
                <a:cs typeface="Montserrat ExtraBold"/>
              </a:rPr>
              <a:t>RIGHT</a:t>
            </a:r>
            <a:r>
              <a:rPr lang="pt-BR" sz="3600" spc="15" dirty="0" smtClean="0">
                <a:solidFill>
                  <a:srgbClr val="333333"/>
                </a:solidFill>
                <a:latin typeface="Montserrat Light"/>
                <a:cs typeface="Montserrat ExtraBold"/>
              </a:rPr>
              <a:t> JOIN</a:t>
            </a:r>
            <a:endParaRPr sz="3600" dirty="0">
              <a:latin typeface="Montserrat ExtraBold"/>
              <a:cs typeface="Montserrat ExtraBold"/>
            </a:endParaRPr>
          </a:p>
        </p:txBody>
      </p:sp>
      <p:sp>
        <p:nvSpPr>
          <p:cNvPr id="89" name="object 68"/>
          <p:cNvSpPr txBox="1"/>
          <p:nvPr/>
        </p:nvSpPr>
        <p:spPr>
          <a:xfrm>
            <a:off x="7170005" y="7551333"/>
            <a:ext cx="5785978" cy="3423373"/>
          </a:xfrm>
          <a:prstGeom prst="rect">
            <a:avLst/>
          </a:prstGeom>
        </p:spPr>
        <p:txBody>
          <a:bodyPr vert="horz" wrap="square" lIns="0" tIns="24765" rIns="0" bIns="0" rtlCol="0">
            <a:spAutoFit/>
          </a:bodyPr>
          <a:lstStyle/>
          <a:p>
            <a:pPr marL="664210" marR="200025" indent="-457200" algn="just">
              <a:lnSpc>
                <a:spcPts val="2870"/>
              </a:lnSpc>
              <a:spcBef>
                <a:spcPts val="195"/>
              </a:spcBef>
              <a:buFont typeface="Arial" panose="020B0604020202020204" pitchFamily="34" charset="0"/>
              <a:buChar char="•"/>
            </a:pPr>
            <a:r>
              <a:rPr lang="pt-BR" sz="2400" spc="-20" dirty="0" smtClean="0">
                <a:solidFill>
                  <a:srgbClr val="4D4D4D"/>
                </a:solidFill>
                <a:latin typeface="Montserrat"/>
                <a:cs typeface="Montserrat"/>
              </a:rPr>
              <a:t>Seleciona todos os registros da tabela </a:t>
            </a:r>
            <a:r>
              <a:rPr lang="pt-BR" sz="2400" b="1" spc="-20" dirty="0" smtClean="0">
                <a:solidFill>
                  <a:srgbClr val="C00000"/>
                </a:solidFill>
                <a:latin typeface="Montserrat"/>
                <a:cs typeface="Montserrat"/>
              </a:rPr>
              <a:t>à esquerda</a:t>
            </a:r>
            <a:r>
              <a:rPr lang="pt-BR" sz="2400" spc="-20" dirty="0" smtClean="0">
                <a:solidFill>
                  <a:srgbClr val="4D4D4D"/>
                </a:solidFill>
                <a:latin typeface="Montserrat"/>
                <a:cs typeface="Montserrat"/>
              </a:rPr>
              <a:t>, mesmo aqueles que nã</a:t>
            </a:r>
            <a:r>
              <a:rPr lang="pt-BR" sz="2400" spc="-20" dirty="0" smtClean="0">
                <a:solidFill>
                  <a:srgbClr val="4D4D4D"/>
                </a:solidFill>
                <a:latin typeface="Montserrat"/>
                <a:cs typeface="Montserrat"/>
              </a:rPr>
              <a:t>o possuem correspondência na tabela à direita.</a:t>
            </a:r>
          </a:p>
          <a:p>
            <a:pPr marL="664210" marR="200025" indent="-457200" algn="just">
              <a:lnSpc>
                <a:spcPts val="2870"/>
              </a:lnSpc>
              <a:spcBef>
                <a:spcPts val="195"/>
              </a:spcBef>
              <a:buFont typeface="Arial" panose="020B0604020202020204" pitchFamily="34" charset="0"/>
              <a:buChar char="•"/>
            </a:pPr>
            <a:endParaRPr lang="pt-BR" sz="2400" spc="-20" dirty="0" smtClean="0">
              <a:solidFill>
                <a:srgbClr val="4D4D4D"/>
              </a:solidFill>
              <a:latin typeface="Montserrat"/>
              <a:cs typeface="Montserrat"/>
            </a:endParaRPr>
          </a:p>
          <a:p>
            <a:pPr marL="664210" marR="200025" indent="-457200" algn="just">
              <a:lnSpc>
                <a:spcPts val="2870"/>
              </a:lnSpc>
              <a:spcBef>
                <a:spcPts val="195"/>
              </a:spcBef>
              <a:buFont typeface="Arial" panose="020B0604020202020204" pitchFamily="34" charset="0"/>
              <a:buChar char="•"/>
            </a:pPr>
            <a:r>
              <a:rPr lang="pt-BR" sz="2400" spc="-20" dirty="0" err="1" smtClean="0">
                <a:solidFill>
                  <a:srgbClr val="4D4D4D"/>
                </a:solidFill>
                <a:latin typeface="Montserrat"/>
                <a:cs typeface="Montserrat"/>
              </a:rPr>
              <a:t>Ex</a:t>
            </a:r>
            <a:r>
              <a:rPr lang="pt-BR" sz="2400" spc="-20" dirty="0" smtClean="0">
                <a:solidFill>
                  <a:srgbClr val="4D4D4D"/>
                </a:solidFill>
                <a:latin typeface="Montserrat"/>
                <a:cs typeface="Montserrat"/>
              </a:rPr>
              <a:t>: Seleciona os </a:t>
            </a:r>
            <a:r>
              <a:rPr lang="pt-BR" sz="2400" b="1" spc="-20" dirty="0" smtClean="0">
                <a:solidFill>
                  <a:srgbClr val="C00000"/>
                </a:solidFill>
                <a:latin typeface="Montserrat"/>
                <a:cs typeface="Montserrat"/>
              </a:rPr>
              <a:t>alunos</a:t>
            </a:r>
            <a:r>
              <a:rPr lang="pt-BR" sz="2400" spc="-20" dirty="0" smtClean="0">
                <a:solidFill>
                  <a:srgbClr val="4D4D4D"/>
                </a:solidFill>
                <a:latin typeface="Montserrat"/>
                <a:cs typeface="Montserrat"/>
              </a:rPr>
              <a:t> e cursos que estão relacionados, e também os alunos sem curso;</a:t>
            </a:r>
            <a:endParaRPr sz="2400" dirty="0">
              <a:latin typeface="Montserrat"/>
              <a:cs typeface="Montserrat"/>
            </a:endParaRPr>
          </a:p>
        </p:txBody>
      </p:sp>
      <p:sp>
        <p:nvSpPr>
          <p:cNvPr id="90" name="object 68"/>
          <p:cNvSpPr txBox="1"/>
          <p:nvPr/>
        </p:nvSpPr>
        <p:spPr>
          <a:xfrm>
            <a:off x="13271748" y="7556645"/>
            <a:ext cx="5785978" cy="3423373"/>
          </a:xfrm>
          <a:prstGeom prst="rect">
            <a:avLst/>
          </a:prstGeom>
        </p:spPr>
        <p:txBody>
          <a:bodyPr vert="horz" wrap="square" lIns="0" tIns="24765" rIns="0" bIns="0" rtlCol="0">
            <a:spAutoFit/>
          </a:bodyPr>
          <a:lstStyle/>
          <a:p>
            <a:pPr marL="664210" marR="200025" indent="-457200" algn="just">
              <a:lnSpc>
                <a:spcPts val="2870"/>
              </a:lnSpc>
              <a:spcBef>
                <a:spcPts val="195"/>
              </a:spcBef>
              <a:buFont typeface="Arial" panose="020B0604020202020204" pitchFamily="34" charset="0"/>
              <a:buChar char="•"/>
            </a:pPr>
            <a:r>
              <a:rPr lang="pt-BR" sz="2400" spc="-20" dirty="0" smtClean="0">
                <a:solidFill>
                  <a:srgbClr val="4D4D4D"/>
                </a:solidFill>
                <a:latin typeface="Montserrat"/>
                <a:cs typeface="Montserrat"/>
              </a:rPr>
              <a:t>Seleciona todos os registros da tabela </a:t>
            </a:r>
            <a:r>
              <a:rPr lang="pt-BR" sz="2400" b="1" spc="-20" dirty="0" smtClean="0">
                <a:solidFill>
                  <a:srgbClr val="C00000"/>
                </a:solidFill>
                <a:latin typeface="Montserrat"/>
                <a:cs typeface="Montserrat"/>
              </a:rPr>
              <a:t>à direita</a:t>
            </a:r>
            <a:r>
              <a:rPr lang="pt-BR" sz="2400" spc="-20" dirty="0" smtClean="0">
                <a:solidFill>
                  <a:srgbClr val="4D4D4D"/>
                </a:solidFill>
                <a:latin typeface="Montserrat"/>
                <a:cs typeface="Montserrat"/>
              </a:rPr>
              <a:t>, mesmo aqueles que nã</a:t>
            </a:r>
            <a:r>
              <a:rPr lang="pt-BR" sz="2400" spc="-20" dirty="0" smtClean="0">
                <a:solidFill>
                  <a:srgbClr val="4D4D4D"/>
                </a:solidFill>
                <a:latin typeface="Montserrat"/>
                <a:cs typeface="Montserrat"/>
              </a:rPr>
              <a:t>o possuem correspondência na tabela à esquerda.</a:t>
            </a:r>
          </a:p>
          <a:p>
            <a:pPr marL="664210" marR="200025" indent="-457200" algn="just">
              <a:lnSpc>
                <a:spcPts val="2870"/>
              </a:lnSpc>
              <a:spcBef>
                <a:spcPts val="195"/>
              </a:spcBef>
              <a:buFont typeface="Arial" panose="020B0604020202020204" pitchFamily="34" charset="0"/>
              <a:buChar char="•"/>
            </a:pPr>
            <a:endParaRPr lang="pt-BR" sz="2400" spc="-20" dirty="0" smtClean="0">
              <a:solidFill>
                <a:srgbClr val="4D4D4D"/>
              </a:solidFill>
              <a:latin typeface="Montserrat"/>
              <a:cs typeface="Montserrat"/>
            </a:endParaRPr>
          </a:p>
          <a:p>
            <a:pPr marL="664210" marR="200025" indent="-457200" algn="just">
              <a:lnSpc>
                <a:spcPts val="2870"/>
              </a:lnSpc>
              <a:spcBef>
                <a:spcPts val="195"/>
              </a:spcBef>
              <a:buFont typeface="Arial" panose="020B0604020202020204" pitchFamily="34" charset="0"/>
              <a:buChar char="•"/>
            </a:pPr>
            <a:r>
              <a:rPr lang="pt-BR" sz="2400" spc="-20" dirty="0" err="1" smtClean="0">
                <a:solidFill>
                  <a:srgbClr val="4D4D4D"/>
                </a:solidFill>
                <a:latin typeface="Montserrat"/>
                <a:cs typeface="Montserrat"/>
              </a:rPr>
              <a:t>Ex</a:t>
            </a:r>
            <a:r>
              <a:rPr lang="pt-BR" sz="2400" spc="-20" dirty="0">
                <a:solidFill>
                  <a:srgbClr val="4D4D4D"/>
                </a:solidFill>
                <a:latin typeface="Montserrat"/>
                <a:cs typeface="Montserrat"/>
              </a:rPr>
              <a:t>: Seleciona </a:t>
            </a:r>
            <a:r>
              <a:rPr lang="pt-BR" sz="2400" spc="-20" dirty="0" smtClean="0">
                <a:solidFill>
                  <a:srgbClr val="4D4D4D"/>
                </a:solidFill>
                <a:latin typeface="Montserrat"/>
                <a:cs typeface="Montserrat"/>
              </a:rPr>
              <a:t>os alunos </a:t>
            </a:r>
            <a:r>
              <a:rPr lang="pt-BR" sz="2400" spc="-20" dirty="0">
                <a:solidFill>
                  <a:srgbClr val="4D4D4D"/>
                </a:solidFill>
                <a:latin typeface="Montserrat"/>
                <a:cs typeface="Montserrat"/>
              </a:rPr>
              <a:t>e </a:t>
            </a:r>
            <a:r>
              <a:rPr lang="pt-BR" sz="2400" b="1" spc="-20" dirty="0">
                <a:solidFill>
                  <a:srgbClr val="C00000"/>
                </a:solidFill>
                <a:latin typeface="Montserrat"/>
                <a:cs typeface="Montserrat"/>
              </a:rPr>
              <a:t>cursos</a:t>
            </a:r>
            <a:r>
              <a:rPr lang="pt-BR" sz="2400" spc="-20" dirty="0">
                <a:solidFill>
                  <a:srgbClr val="4D4D4D"/>
                </a:solidFill>
                <a:latin typeface="Montserrat"/>
                <a:cs typeface="Montserrat"/>
              </a:rPr>
              <a:t> que estão relacionados, </a:t>
            </a:r>
            <a:r>
              <a:rPr lang="pt-BR" sz="2400" spc="-20" dirty="0" smtClean="0">
                <a:solidFill>
                  <a:srgbClr val="4D4D4D"/>
                </a:solidFill>
                <a:latin typeface="Montserrat"/>
                <a:cs typeface="Montserrat"/>
              </a:rPr>
              <a:t>e também os cursos sem alunos;</a:t>
            </a:r>
            <a:endParaRPr sz="2400" dirty="0">
              <a:latin typeface="Montserrat"/>
              <a:cs typeface="Montserrat"/>
            </a:endParaRPr>
          </a:p>
        </p:txBody>
      </p:sp>
      <p:grpSp>
        <p:nvGrpSpPr>
          <p:cNvPr id="101" name="Agrupar 100"/>
          <p:cNvGrpSpPr/>
          <p:nvPr/>
        </p:nvGrpSpPr>
        <p:grpSpPr>
          <a:xfrm>
            <a:off x="1806924" y="3625258"/>
            <a:ext cx="4229690" cy="2956973"/>
            <a:chOff x="1806924" y="3625258"/>
            <a:chExt cx="4229690" cy="2956973"/>
          </a:xfrm>
        </p:grpSpPr>
        <p:pic>
          <p:nvPicPr>
            <p:cNvPr id="78" name="Imagem 77"/>
            <p:cNvPicPr>
              <a:picLocks noChangeAspect="1"/>
            </p:cNvPicPr>
            <p:nvPr/>
          </p:nvPicPr>
          <p:blipFill>
            <a:blip r:embed="rId4"/>
            <a:stretch>
              <a:fillRect/>
            </a:stretch>
          </p:blipFill>
          <p:spPr>
            <a:xfrm>
              <a:off x="1806924" y="3625258"/>
              <a:ext cx="4229690" cy="2956973"/>
            </a:xfrm>
            <a:prstGeom prst="rect">
              <a:avLst/>
            </a:prstGeom>
          </p:spPr>
        </p:pic>
        <p:sp>
          <p:nvSpPr>
            <p:cNvPr id="91" name="CaixaDeTexto 90"/>
            <p:cNvSpPr txBox="1"/>
            <p:nvPr/>
          </p:nvSpPr>
          <p:spPr>
            <a:xfrm>
              <a:off x="1945721" y="4973976"/>
              <a:ext cx="1371600" cy="400110"/>
            </a:xfrm>
            <a:prstGeom prst="rect">
              <a:avLst/>
            </a:prstGeom>
            <a:noFill/>
          </p:spPr>
          <p:txBody>
            <a:bodyPr wrap="square" rtlCol="0">
              <a:spAutoFit/>
            </a:bodyPr>
            <a:lstStyle/>
            <a:p>
              <a:r>
                <a:rPr lang="pt-BR" sz="2000" dirty="0" smtClean="0">
                  <a:latin typeface="Montserrat ExtraBold" panose="020B0604020202020204" charset="0"/>
                </a:rPr>
                <a:t>ALUNOS</a:t>
              </a:r>
              <a:endParaRPr lang="pt-BR" sz="2000" dirty="0">
                <a:latin typeface="Montserrat ExtraBold" panose="020B0604020202020204" charset="0"/>
              </a:endParaRPr>
            </a:p>
          </p:txBody>
        </p:sp>
        <p:sp>
          <p:nvSpPr>
            <p:cNvPr id="92" name="CaixaDeTexto 91"/>
            <p:cNvSpPr txBox="1"/>
            <p:nvPr/>
          </p:nvSpPr>
          <p:spPr>
            <a:xfrm>
              <a:off x="4652172" y="4973976"/>
              <a:ext cx="1371600" cy="400110"/>
            </a:xfrm>
            <a:prstGeom prst="rect">
              <a:avLst/>
            </a:prstGeom>
            <a:noFill/>
          </p:spPr>
          <p:txBody>
            <a:bodyPr wrap="square" rtlCol="0">
              <a:spAutoFit/>
            </a:bodyPr>
            <a:lstStyle/>
            <a:p>
              <a:r>
                <a:rPr lang="pt-BR" sz="2000" dirty="0" smtClean="0">
                  <a:latin typeface="Montserrat ExtraBold" panose="020B0604020202020204" charset="0"/>
                </a:rPr>
                <a:t>CURSOS</a:t>
              </a:r>
              <a:endParaRPr lang="pt-BR" sz="2000" dirty="0">
                <a:latin typeface="Montserrat ExtraBold" panose="020B0604020202020204" charset="0"/>
              </a:endParaRPr>
            </a:p>
          </p:txBody>
        </p:sp>
        <p:sp>
          <p:nvSpPr>
            <p:cNvPr id="93" name="CaixaDeTexto 92"/>
            <p:cNvSpPr txBox="1"/>
            <p:nvPr/>
          </p:nvSpPr>
          <p:spPr>
            <a:xfrm>
              <a:off x="3279872" y="4639920"/>
              <a:ext cx="1371600" cy="1015663"/>
            </a:xfrm>
            <a:prstGeom prst="rect">
              <a:avLst/>
            </a:prstGeom>
            <a:noFill/>
          </p:spPr>
          <p:txBody>
            <a:bodyPr wrap="square" rtlCol="0">
              <a:spAutoFit/>
            </a:bodyPr>
            <a:lstStyle/>
            <a:p>
              <a:pPr algn="ctr"/>
              <a:r>
                <a:rPr lang="pt-BR" sz="2000" dirty="0" smtClean="0">
                  <a:latin typeface="Montserrat ExtraBold" panose="020B0604020202020204" charset="0"/>
                </a:rPr>
                <a:t>ALUNOS </a:t>
              </a:r>
              <a:br>
                <a:rPr lang="pt-BR" sz="2000" dirty="0" smtClean="0">
                  <a:latin typeface="Montserrat ExtraBold" panose="020B0604020202020204" charset="0"/>
                </a:rPr>
              </a:br>
              <a:r>
                <a:rPr lang="pt-BR" sz="2000" dirty="0" smtClean="0">
                  <a:latin typeface="Montserrat ExtraBold" panose="020B0604020202020204" charset="0"/>
                </a:rPr>
                <a:t>E</a:t>
              </a:r>
              <a:br>
                <a:rPr lang="pt-BR" sz="2000" dirty="0" smtClean="0">
                  <a:latin typeface="Montserrat ExtraBold" panose="020B0604020202020204" charset="0"/>
                </a:rPr>
              </a:br>
              <a:r>
                <a:rPr lang="pt-BR" sz="2000" dirty="0" smtClean="0">
                  <a:latin typeface="Montserrat ExtraBold" panose="020B0604020202020204" charset="0"/>
                </a:rPr>
                <a:t>CURSOS</a:t>
              </a:r>
              <a:endParaRPr lang="pt-BR" sz="2000" dirty="0">
                <a:latin typeface="Montserrat ExtraBold" panose="020B0604020202020204" charset="0"/>
              </a:endParaRPr>
            </a:p>
          </p:txBody>
        </p:sp>
      </p:grpSp>
      <p:grpSp>
        <p:nvGrpSpPr>
          <p:cNvPr id="100" name="Agrupar 99"/>
          <p:cNvGrpSpPr/>
          <p:nvPr/>
        </p:nvGrpSpPr>
        <p:grpSpPr>
          <a:xfrm>
            <a:off x="7752143" y="3518590"/>
            <a:ext cx="4565017" cy="3124636"/>
            <a:chOff x="7752143" y="3518590"/>
            <a:chExt cx="4565017" cy="3124636"/>
          </a:xfrm>
        </p:grpSpPr>
        <p:pic>
          <p:nvPicPr>
            <p:cNvPr id="79" name="Imagem 78"/>
            <p:cNvPicPr>
              <a:picLocks noChangeAspect="1"/>
            </p:cNvPicPr>
            <p:nvPr/>
          </p:nvPicPr>
          <p:blipFill>
            <a:blip r:embed="rId5"/>
            <a:stretch>
              <a:fillRect/>
            </a:stretch>
          </p:blipFill>
          <p:spPr>
            <a:xfrm>
              <a:off x="7752143" y="3518590"/>
              <a:ext cx="4565017" cy="3124636"/>
            </a:xfrm>
            <a:prstGeom prst="rect">
              <a:avLst/>
            </a:prstGeom>
          </p:spPr>
        </p:pic>
        <p:sp>
          <p:nvSpPr>
            <p:cNvPr id="94" name="CaixaDeTexto 93"/>
            <p:cNvSpPr txBox="1"/>
            <p:nvPr/>
          </p:nvSpPr>
          <p:spPr>
            <a:xfrm>
              <a:off x="8008233" y="4973976"/>
              <a:ext cx="1371600" cy="400110"/>
            </a:xfrm>
            <a:prstGeom prst="rect">
              <a:avLst/>
            </a:prstGeom>
            <a:noFill/>
          </p:spPr>
          <p:txBody>
            <a:bodyPr wrap="square" rtlCol="0">
              <a:spAutoFit/>
            </a:bodyPr>
            <a:lstStyle/>
            <a:p>
              <a:r>
                <a:rPr lang="pt-BR" sz="2000" dirty="0" smtClean="0">
                  <a:latin typeface="Montserrat ExtraBold" panose="020B0604020202020204" charset="0"/>
                </a:rPr>
                <a:t>ALUNOS</a:t>
              </a:r>
              <a:endParaRPr lang="pt-BR" sz="2000" dirty="0">
                <a:latin typeface="Montserrat ExtraBold" panose="020B0604020202020204" charset="0"/>
              </a:endParaRPr>
            </a:p>
          </p:txBody>
        </p:sp>
        <p:sp>
          <p:nvSpPr>
            <p:cNvPr id="95" name="CaixaDeTexto 94"/>
            <p:cNvSpPr txBox="1"/>
            <p:nvPr/>
          </p:nvSpPr>
          <p:spPr>
            <a:xfrm>
              <a:off x="10714684" y="4973976"/>
              <a:ext cx="1371600" cy="400110"/>
            </a:xfrm>
            <a:prstGeom prst="rect">
              <a:avLst/>
            </a:prstGeom>
            <a:noFill/>
          </p:spPr>
          <p:txBody>
            <a:bodyPr wrap="square" rtlCol="0">
              <a:spAutoFit/>
            </a:bodyPr>
            <a:lstStyle/>
            <a:p>
              <a:r>
                <a:rPr lang="pt-BR" sz="2000" dirty="0" smtClean="0">
                  <a:latin typeface="Montserrat ExtraBold" panose="020B0604020202020204" charset="0"/>
                </a:rPr>
                <a:t>CURSOS</a:t>
              </a:r>
              <a:endParaRPr lang="pt-BR" sz="2000" dirty="0">
                <a:latin typeface="Montserrat ExtraBold" panose="020B0604020202020204" charset="0"/>
              </a:endParaRPr>
            </a:p>
          </p:txBody>
        </p:sp>
        <p:sp>
          <p:nvSpPr>
            <p:cNvPr id="96" name="CaixaDeTexto 95"/>
            <p:cNvSpPr txBox="1"/>
            <p:nvPr/>
          </p:nvSpPr>
          <p:spPr>
            <a:xfrm>
              <a:off x="9342384" y="4639920"/>
              <a:ext cx="1371600" cy="1015663"/>
            </a:xfrm>
            <a:prstGeom prst="rect">
              <a:avLst/>
            </a:prstGeom>
            <a:noFill/>
          </p:spPr>
          <p:txBody>
            <a:bodyPr wrap="square" rtlCol="0">
              <a:spAutoFit/>
            </a:bodyPr>
            <a:lstStyle/>
            <a:p>
              <a:pPr algn="ctr"/>
              <a:r>
                <a:rPr lang="pt-BR" sz="2000" dirty="0" smtClean="0">
                  <a:latin typeface="Montserrat ExtraBold" panose="020B0604020202020204" charset="0"/>
                </a:rPr>
                <a:t>ALUNOS </a:t>
              </a:r>
              <a:br>
                <a:rPr lang="pt-BR" sz="2000" dirty="0" smtClean="0">
                  <a:latin typeface="Montserrat ExtraBold" panose="020B0604020202020204" charset="0"/>
                </a:rPr>
              </a:br>
              <a:r>
                <a:rPr lang="pt-BR" sz="2000" dirty="0" smtClean="0">
                  <a:latin typeface="Montserrat ExtraBold" panose="020B0604020202020204" charset="0"/>
                </a:rPr>
                <a:t>E</a:t>
              </a:r>
              <a:br>
                <a:rPr lang="pt-BR" sz="2000" dirty="0" smtClean="0">
                  <a:latin typeface="Montserrat ExtraBold" panose="020B0604020202020204" charset="0"/>
                </a:rPr>
              </a:br>
              <a:r>
                <a:rPr lang="pt-BR" sz="2000" dirty="0" smtClean="0">
                  <a:latin typeface="Montserrat ExtraBold" panose="020B0604020202020204" charset="0"/>
                </a:rPr>
                <a:t>CURSOS</a:t>
              </a:r>
              <a:endParaRPr lang="pt-BR" sz="2000" dirty="0">
                <a:latin typeface="Montserrat ExtraBold" panose="020B0604020202020204" charset="0"/>
              </a:endParaRPr>
            </a:p>
          </p:txBody>
        </p:sp>
      </p:grpSp>
      <p:grpSp>
        <p:nvGrpSpPr>
          <p:cNvPr id="102" name="Agrupar 101"/>
          <p:cNvGrpSpPr/>
          <p:nvPr/>
        </p:nvGrpSpPr>
        <p:grpSpPr>
          <a:xfrm>
            <a:off x="13835785" y="3533805"/>
            <a:ext cx="4656470" cy="3139878"/>
            <a:chOff x="13835785" y="3533805"/>
            <a:chExt cx="4656470" cy="3139878"/>
          </a:xfrm>
        </p:grpSpPr>
        <p:pic>
          <p:nvPicPr>
            <p:cNvPr id="80" name="Imagem 79"/>
            <p:cNvPicPr>
              <a:picLocks noChangeAspect="1"/>
            </p:cNvPicPr>
            <p:nvPr/>
          </p:nvPicPr>
          <p:blipFill>
            <a:blip r:embed="rId6"/>
            <a:stretch>
              <a:fillRect/>
            </a:stretch>
          </p:blipFill>
          <p:spPr>
            <a:xfrm>
              <a:off x="13835785" y="3533805"/>
              <a:ext cx="4656470" cy="3139878"/>
            </a:xfrm>
            <a:prstGeom prst="rect">
              <a:avLst/>
            </a:prstGeom>
          </p:spPr>
        </p:pic>
        <p:sp>
          <p:nvSpPr>
            <p:cNvPr id="97" name="CaixaDeTexto 96"/>
            <p:cNvSpPr txBox="1"/>
            <p:nvPr/>
          </p:nvSpPr>
          <p:spPr>
            <a:xfrm>
              <a:off x="14182571" y="4968333"/>
              <a:ext cx="1371600" cy="400110"/>
            </a:xfrm>
            <a:prstGeom prst="rect">
              <a:avLst/>
            </a:prstGeom>
            <a:noFill/>
          </p:spPr>
          <p:txBody>
            <a:bodyPr wrap="square" rtlCol="0">
              <a:spAutoFit/>
            </a:bodyPr>
            <a:lstStyle/>
            <a:p>
              <a:r>
                <a:rPr lang="pt-BR" sz="2000" dirty="0" smtClean="0">
                  <a:latin typeface="Montserrat ExtraBold" panose="020B0604020202020204" charset="0"/>
                </a:rPr>
                <a:t>ALUNOS</a:t>
              </a:r>
              <a:endParaRPr lang="pt-BR" sz="2000" dirty="0">
                <a:latin typeface="Montserrat ExtraBold" panose="020B0604020202020204" charset="0"/>
              </a:endParaRPr>
            </a:p>
          </p:txBody>
        </p:sp>
        <p:sp>
          <p:nvSpPr>
            <p:cNvPr id="98" name="CaixaDeTexto 97"/>
            <p:cNvSpPr txBox="1"/>
            <p:nvPr/>
          </p:nvSpPr>
          <p:spPr>
            <a:xfrm>
              <a:off x="16889022" y="4968333"/>
              <a:ext cx="1371600" cy="400110"/>
            </a:xfrm>
            <a:prstGeom prst="rect">
              <a:avLst/>
            </a:prstGeom>
            <a:noFill/>
          </p:spPr>
          <p:txBody>
            <a:bodyPr wrap="square" rtlCol="0">
              <a:spAutoFit/>
            </a:bodyPr>
            <a:lstStyle/>
            <a:p>
              <a:r>
                <a:rPr lang="pt-BR" sz="2000" dirty="0" smtClean="0">
                  <a:latin typeface="Montserrat ExtraBold" panose="020B0604020202020204" charset="0"/>
                </a:rPr>
                <a:t>CURSOS</a:t>
              </a:r>
              <a:endParaRPr lang="pt-BR" sz="2000" dirty="0">
                <a:latin typeface="Montserrat ExtraBold" panose="020B0604020202020204" charset="0"/>
              </a:endParaRPr>
            </a:p>
          </p:txBody>
        </p:sp>
        <p:sp>
          <p:nvSpPr>
            <p:cNvPr id="99" name="CaixaDeTexto 98"/>
            <p:cNvSpPr txBox="1"/>
            <p:nvPr/>
          </p:nvSpPr>
          <p:spPr>
            <a:xfrm>
              <a:off x="15516722" y="4634277"/>
              <a:ext cx="1371600" cy="1015663"/>
            </a:xfrm>
            <a:prstGeom prst="rect">
              <a:avLst/>
            </a:prstGeom>
            <a:noFill/>
          </p:spPr>
          <p:txBody>
            <a:bodyPr wrap="square" rtlCol="0">
              <a:spAutoFit/>
            </a:bodyPr>
            <a:lstStyle/>
            <a:p>
              <a:pPr algn="ctr"/>
              <a:r>
                <a:rPr lang="pt-BR" sz="2000" dirty="0" smtClean="0">
                  <a:latin typeface="Montserrat ExtraBold" panose="020B0604020202020204" charset="0"/>
                </a:rPr>
                <a:t>ALUNOS </a:t>
              </a:r>
              <a:br>
                <a:rPr lang="pt-BR" sz="2000" dirty="0" smtClean="0">
                  <a:latin typeface="Montserrat ExtraBold" panose="020B0604020202020204" charset="0"/>
                </a:rPr>
              </a:br>
              <a:r>
                <a:rPr lang="pt-BR" sz="2000" dirty="0" smtClean="0">
                  <a:latin typeface="Montserrat ExtraBold" panose="020B0604020202020204" charset="0"/>
                </a:rPr>
                <a:t>E</a:t>
              </a:r>
              <a:br>
                <a:rPr lang="pt-BR" sz="2000" dirty="0" smtClean="0">
                  <a:latin typeface="Montserrat ExtraBold" panose="020B0604020202020204" charset="0"/>
                </a:rPr>
              </a:br>
              <a:r>
                <a:rPr lang="pt-BR" sz="2000" dirty="0" smtClean="0">
                  <a:latin typeface="Montserrat ExtraBold" panose="020B0604020202020204" charset="0"/>
                </a:rPr>
                <a:t>CURSOS</a:t>
              </a:r>
              <a:endParaRPr lang="pt-BR" sz="2000" dirty="0">
                <a:latin typeface="Montserrat ExtraBold" panose="020B0604020202020204" charset="0"/>
              </a:endParaRPr>
            </a:p>
          </p:txBody>
        </p:sp>
      </p:grpSp>
    </p:spTree>
    <p:extLst>
      <p:ext uri="{BB962C8B-B14F-4D97-AF65-F5344CB8AC3E}">
        <p14:creationId xmlns:p14="http://schemas.microsoft.com/office/powerpoint/2010/main" val="33833955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20104100" cy="11151870"/>
          </a:xfrm>
          <a:custGeom>
            <a:avLst/>
            <a:gdLst/>
            <a:ahLst/>
            <a:cxnLst/>
            <a:rect l="l" t="t" r="r" b="b"/>
            <a:pathLst>
              <a:path w="20104100" h="11151870">
                <a:moveTo>
                  <a:pt x="0" y="11151492"/>
                </a:moveTo>
                <a:lnTo>
                  <a:pt x="20104099" y="11151492"/>
                </a:lnTo>
                <a:lnTo>
                  <a:pt x="20104099" y="0"/>
                </a:lnTo>
                <a:lnTo>
                  <a:pt x="0" y="0"/>
                </a:lnTo>
                <a:lnTo>
                  <a:pt x="0" y="11151492"/>
                </a:lnTo>
                <a:close/>
              </a:path>
            </a:pathLst>
          </a:custGeom>
          <a:solidFill>
            <a:schemeClr val="bg1"/>
          </a:solidFill>
        </p:spPr>
        <p:txBody>
          <a:bodyPr wrap="square" lIns="0" tIns="0" rIns="0" bIns="0" rtlCol="0"/>
          <a:lstStyle/>
          <a:p>
            <a:endParaRPr dirty="0"/>
          </a:p>
        </p:txBody>
      </p:sp>
      <p:grpSp>
        <p:nvGrpSpPr>
          <p:cNvPr id="3" name="object 3"/>
          <p:cNvGrpSpPr/>
          <p:nvPr/>
        </p:nvGrpSpPr>
        <p:grpSpPr>
          <a:xfrm>
            <a:off x="15364003" y="1047088"/>
            <a:ext cx="3693160" cy="942975"/>
            <a:chOff x="15364003" y="1047088"/>
            <a:chExt cx="3693160" cy="942975"/>
          </a:xfrm>
        </p:grpSpPr>
        <p:sp>
          <p:nvSpPr>
            <p:cNvPr id="4" name="object 4"/>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5" name="object 5"/>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6" name="object 6"/>
          <p:cNvSpPr/>
          <p:nvPr/>
        </p:nvSpPr>
        <p:spPr>
          <a:xfrm flipH="1">
            <a:off x="908050" y="1047088"/>
            <a:ext cx="139038" cy="2092987"/>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7" name="object 7"/>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8" name="object 8"/>
          <p:cNvSpPr/>
          <p:nvPr/>
        </p:nvSpPr>
        <p:spPr>
          <a:xfrm>
            <a:off x="17957569"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9" name="object 9"/>
          <p:cNvSpPr/>
          <p:nvPr/>
        </p:nvSpPr>
        <p:spPr>
          <a:xfrm>
            <a:off x="17957569"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0" name="object 10"/>
          <p:cNvSpPr/>
          <p:nvPr/>
        </p:nvSpPr>
        <p:spPr>
          <a:xfrm>
            <a:off x="17957569"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1" name="object 11"/>
          <p:cNvSpPr/>
          <p:nvPr/>
        </p:nvSpPr>
        <p:spPr>
          <a:xfrm>
            <a:off x="18219340"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2" name="object 12"/>
          <p:cNvSpPr/>
          <p:nvPr/>
        </p:nvSpPr>
        <p:spPr>
          <a:xfrm>
            <a:off x="18219340"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3" name="object 13"/>
          <p:cNvSpPr/>
          <p:nvPr/>
        </p:nvSpPr>
        <p:spPr>
          <a:xfrm>
            <a:off x="18219340"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4" name="object 14"/>
          <p:cNvSpPr/>
          <p:nvPr/>
        </p:nvSpPr>
        <p:spPr>
          <a:xfrm>
            <a:off x="18481112"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5" name="object 15"/>
          <p:cNvSpPr/>
          <p:nvPr/>
        </p:nvSpPr>
        <p:spPr>
          <a:xfrm>
            <a:off x="18481112"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6" name="object 16"/>
          <p:cNvSpPr/>
          <p:nvPr/>
        </p:nvSpPr>
        <p:spPr>
          <a:xfrm>
            <a:off x="18481112"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7" name="object 17"/>
          <p:cNvSpPr/>
          <p:nvPr/>
        </p:nvSpPr>
        <p:spPr>
          <a:xfrm>
            <a:off x="18742885"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8" name="object 18"/>
          <p:cNvSpPr/>
          <p:nvPr/>
        </p:nvSpPr>
        <p:spPr>
          <a:xfrm>
            <a:off x="18742885"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9" name="object 19"/>
          <p:cNvSpPr/>
          <p:nvPr/>
        </p:nvSpPr>
        <p:spPr>
          <a:xfrm>
            <a:off x="18742885"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0" name="object 20"/>
          <p:cNvSpPr/>
          <p:nvPr/>
        </p:nvSpPr>
        <p:spPr>
          <a:xfrm>
            <a:off x="19004657"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1" name="object 21"/>
          <p:cNvSpPr/>
          <p:nvPr/>
        </p:nvSpPr>
        <p:spPr>
          <a:xfrm>
            <a:off x="19004657"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2" name="object 22"/>
          <p:cNvSpPr/>
          <p:nvPr/>
        </p:nvSpPr>
        <p:spPr>
          <a:xfrm>
            <a:off x="19004657"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3" name="object 23"/>
          <p:cNvSpPr/>
          <p:nvPr/>
        </p:nvSpPr>
        <p:spPr>
          <a:xfrm>
            <a:off x="19266428"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4" name="object 24"/>
          <p:cNvSpPr/>
          <p:nvPr/>
        </p:nvSpPr>
        <p:spPr>
          <a:xfrm>
            <a:off x="19266428"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5" name="object 25"/>
          <p:cNvSpPr/>
          <p:nvPr/>
        </p:nvSpPr>
        <p:spPr>
          <a:xfrm>
            <a:off x="19266428"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6" name="object 26"/>
          <p:cNvSpPr/>
          <p:nvPr/>
        </p:nvSpPr>
        <p:spPr>
          <a:xfrm>
            <a:off x="19528201"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7" name="object 27"/>
          <p:cNvSpPr/>
          <p:nvPr/>
        </p:nvSpPr>
        <p:spPr>
          <a:xfrm>
            <a:off x="19528201"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8" name="object 28"/>
          <p:cNvSpPr/>
          <p:nvPr/>
        </p:nvSpPr>
        <p:spPr>
          <a:xfrm>
            <a:off x="19528201"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9" name="object 29"/>
          <p:cNvSpPr/>
          <p:nvPr/>
        </p:nvSpPr>
        <p:spPr>
          <a:xfrm>
            <a:off x="19789973"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0" name="object 30"/>
          <p:cNvSpPr/>
          <p:nvPr/>
        </p:nvSpPr>
        <p:spPr>
          <a:xfrm>
            <a:off x="19789973"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1" name="object 31"/>
          <p:cNvSpPr/>
          <p:nvPr/>
        </p:nvSpPr>
        <p:spPr>
          <a:xfrm>
            <a:off x="19789973"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4" name="object 34"/>
          <p:cNvSpPr/>
          <p:nvPr/>
        </p:nvSpPr>
        <p:spPr>
          <a:xfrm>
            <a:off x="1570632" y="9057315"/>
            <a:ext cx="0" cy="1570990"/>
          </a:xfrm>
          <a:custGeom>
            <a:avLst/>
            <a:gdLst/>
            <a:ahLst/>
            <a:cxnLst/>
            <a:rect l="l" t="t" r="r" b="b"/>
            <a:pathLst>
              <a:path h="1570990">
                <a:moveTo>
                  <a:pt x="0" y="0"/>
                </a:moveTo>
                <a:lnTo>
                  <a:pt x="0" y="1570632"/>
                </a:lnTo>
              </a:path>
            </a:pathLst>
          </a:custGeom>
          <a:ln w="31412">
            <a:solidFill>
              <a:srgbClr val="C1272C"/>
            </a:solidFill>
          </a:ln>
        </p:spPr>
        <p:txBody>
          <a:bodyPr wrap="square" lIns="0" tIns="0" rIns="0" bIns="0" rtlCol="0"/>
          <a:lstStyle/>
          <a:p>
            <a:endParaRPr/>
          </a:p>
        </p:txBody>
      </p:sp>
      <p:sp>
        <p:nvSpPr>
          <p:cNvPr id="35" name="object 35"/>
          <p:cNvSpPr txBox="1"/>
          <p:nvPr/>
        </p:nvSpPr>
        <p:spPr>
          <a:xfrm>
            <a:off x="1779699" y="9322297"/>
            <a:ext cx="6263640" cy="1040670"/>
          </a:xfrm>
          <a:prstGeom prst="rect">
            <a:avLst/>
          </a:prstGeom>
        </p:spPr>
        <p:txBody>
          <a:bodyPr vert="horz" wrap="square" lIns="0" tIns="12065" rIns="0" bIns="0" rtlCol="0">
            <a:spAutoFit/>
          </a:bodyPr>
          <a:lstStyle/>
          <a:p>
            <a:pPr marL="12700">
              <a:lnSpc>
                <a:spcPct val="100000"/>
              </a:lnSpc>
              <a:spcBef>
                <a:spcPts val="95"/>
              </a:spcBef>
            </a:pPr>
            <a:r>
              <a:rPr lang="pt-BR" sz="3300" b="1" spc="-5" dirty="0" smtClean="0">
                <a:solidFill>
                  <a:srgbClr val="0070C0"/>
                </a:solidFill>
                <a:latin typeface="Montserrat ExtraBold"/>
                <a:cs typeface="Montserrat ExtraBold"/>
              </a:rPr>
              <a:t>TABELA ALUNO</a:t>
            </a:r>
          </a:p>
          <a:p>
            <a:pPr marL="12700">
              <a:lnSpc>
                <a:spcPct val="100000"/>
              </a:lnSpc>
              <a:spcBef>
                <a:spcPts val="95"/>
              </a:spcBef>
            </a:pPr>
            <a:r>
              <a:rPr lang="pt-BR" sz="3300" b="1" spc="-5" dirty="0" smtClean="0">
                <a:solidFill>
                  <a:srgbClr val="00B050"/>
                </a:solidFill>
                <a:latin typeface="Montserrat ExtraBold"/>
                <a:cs typeface="Montserrat ExtraBold"/>
              </a:rPr>
              <a:t>TABELA CURSO</a:t>
            </a:r>
            <a:endParaRPr sz="3300" dirty="0">
              <a:solidFill>
                <a:srgbClr val="00B050"/>
              </a:solidFill>
              <a:latin typeface="Montserrat ExtraBold"/>
              <a:cs typeface="Montserrat ExtraBold"/>
            </a:endParaRPr>
          </a:p>
        </p:txBody>
      </p:sp>
      <p:sp>
        <p:nvSpPr>
          <p:cNvPr id="36" name="object 36"/>
          <p:cNvSpPr txBox="1">
            <a:spLocks noGrp="1"/>
          </p:cNvSpPr>
          <p:nvPr>
            <p:ph type="title"/>
          </p:nvPr>
        </p:nvSpPr>
        <p:spPr>
          <a:xfrm>
            <a:off x="1509065" y="984549"/>
            <a:ext cx="14181785" cy="1525418"/>
          </a:xfrm>
          <a:prstGeom prst="rect">
            <a:avLst/>
          </a:prstGeom>
        </p:spPr>
        <p:txBody>
          <a:bodyPr vert="horz" wrap="square" lIns="0" tIns="12065" rIns="0" bIns="0" rtlCol="0">
            <a:spAutoFit/>
          </a:bodyPr>
          <a:lstStyle/>
          <a:p>
            <a:pPr marL="12700">
              <a:lnSpc>
                <a:spcPts val="5940"/>
              </a:lnSpc>
              <a:spcBef>
                <a:spcPts val="95"/>
              </a:spcBef>
            </a:pPr>
            <a:r>
              <a:rPr lang="pt-BR" sz="4950" b="1" spc="-15" dirty="0" smtClean="0">
                <a:solidFill>
                  <a:schemeClr val="tx1"/>
                </a:solidFill>
                <a:latin typeface="Montserrat ExtraBold"/>
                <a:cs typeface="Montserrat ExtraBold"/>
              </a:rPr>
              <a:t>EXEMPLOS</a:t>
            </a:r>
            <a:endParaRPr sz="4950" dirty="0">
              <a:solidFill>
                <a:schemeClr val="tx1"/>
              </a:solidFill>
              <a:latin typeface="Montserrat ExtraBold"/>
              <a:cs typeface="Montserrat ExtraBold"/>
            </a:endParaRPr>
          </a:p>
          <a:p>
            <a:pPr marL="12700">
              <a:lnSpc>
                <a:spcPts val="5940"/>
              </a:lnSpc>
            </a:pPr>
            <a:r>
              <a:rPr lang="pt-BR" sz="4950" spc="-25" dirty="0" smtClean="0">
                <a:solidFill>
                  <a:schemeClr val="tx1"/>
                </a:solidFill>
                <a:latin typeface="Montserrat"/>
                <a:cs typeface="Montserrat"/>
              </a:rPr>
              <a:t>JUNÇÃO ENTRE ALUNOS E CURSOS</a:t>
            </a:r>
            <a:endParaRPr sz="4950" dirty="0">
              <a:solidFill>
                <a:schemeClr val="tx1"/>
              </a:solidFill>
              <a:latin typeface="Montserrat"/>
              <a:cs typeface="Montserrat"/>
            </a:endParaRPr>
          </a:p>
        </p:txBody>
      </p:sp>
      <p:pic>
        <p:nvPicPr>
          <p:cNvPr id="33" name="Imagem 32"/>
          <p:cNvPicPr>
            <a:picLocks noChangeAspect="1"/>
          </p:cNvPicPr>
          <p:nvPr/>
        </p:nvPicPr>
        <p:blipFill>
          <a:blip r:embed="rId2"/>
          <a:stretch>
            <a:fillRect/>
          </a:stretch>
        </p:blipFill>
        <p:spPr>
          <a:xfrm>
            <a:off x="1067494" y="3455810"/>
            <a:ext cx="4659776" cy="3083334"/>
          </a:xfrm>
          <a:prstGeom prst="rect">
            <a:avLst/>
          </a:prstGeom>
        </p:spPr>
      </p:pic>
      <p:sp>
        <p:nvSpPr>
          <p:cNvPr id="39" name="CaixaDeTexto 38"/>
          <p:cNvSpPr txBox="1"/>
          <p:nvPr/>
        </p:nvSpPr>
        <p:spPr>
          <a:xfrm>
            <a:off x="1803578" y="6539144"/>
            <a:ext cx="3130810" cy="1015663"/>
          </a:xfrm>
          <a:prstGeom prst="rect">
            <a:avLst/>
          </a:prstGeom>
          <a:noFill/>
        </p:spPr>
        <p:txBody>
          <a:bodyPr wrap="square" rtlCol="0">
            <a:spAutoFit/>
          </a:bodyPr>
          <a:lstStyle/>
          <a:p>
            <a:pPr algn="ctr"/>
            <a:r>
              <a:rPr lang="pt-BR" sz="3600" b="1" spc="15" dirty="0" smtClean="0">
                <a:solidFill>
                  <a:srgbClr val="333333"/>
                </a:solidFill>
                <a:latin typeface="Montserrat ExtraBold" panose="020B0604020202020204" charset="0"/>
                <a:cs typeface="Montserrat ExtraBold"/>
              </a:rPr>
              <a:t>OUTER</a:t>
            </a:r>
            <a:r>
              <a:rPr lang="pt-BR" sz="3600" spc="15" dirty="0" smtClean="0">
                <a:solidFill>
                  <a:srgbClr val="333333"/>
                </a:solidFill>
                <a:latin typeface="Montserrat Light"/>
                <a:cs typeface="Montserrat ExtraBold"/>
              </a:rPr>
              <a:t> </a:t>
            </a:r>
            <a:r>
              <a:rPr lang="pt-BR" sz="3600" spc="15" dirty="0">
                <a:solidFill>
                  <a:srgbClr val="333333"/>
                </a:solidFill>
                <a:latin typeface="Montserrat Light"/>
                <a:cs typeface="Montserrat ExtraBold"/>
              </a:rPr>
              <a:t>JOIN</a:t>
            </a:r>
            <a:endParaRPr lang="pt-BR" sz="3600" dirty="0">
              <a:latin typeface="Montserrat ExtraBold"/>
              <a:cs typeface="Montserrat ExtraBold"/>
            </a:endParaRPr>
          </a:p>
          <a:p>
            <a:pPr algn="ctr"/>
            <a:r>
              <a:rPr lang="pt-BR" sz="2400" dirty="0" smtClean="0"/>
              <a:t>NÃO TEM NO MYSQL</a:t>
            </a:r>
            <a:endParaRPr lang="pt-BR" sz="2400" dirty="0"/>
          </a:p>
        </p:txBody>
      </p:sp>
      <p:sp>
        <p:nvSpPr>
          <p:cNvPr id="38" name="CaixaDeTexto 37"/>
          <p:cNvSpPr txBox="1"/>
          <p:nvPr/>
        </p:nvSpPr>
        <p:spPr>
          <a:xfrm>
            <a:off x="1289050" y="4816475"/>
            <a:ext cx="1371600" cy="400110"/>
          </a:xfrm>
          <a:prstGeom prst="rect">
            <a:avLst/>
          </a:prstGeom>
          <a:noFill/>
        </p:spPr>
        <p:txBody>
          <a:bodyPr wrap="square" rtlCol="0">
            <a:spAutoFit/>
          </a:bodyPr>
          <a:lstStyle/>
          <a:p>
            <a:r>
              <a:rPr lang="pt-BR" sz="2000" dirty="0" smtClean="0">
                <a:latin typeface="Montserrat ExtraBold" panose="020B0604020202020204" charset="0"/>
              </a:rPr>
              <a:t>ALUNOS</a:t>
            </a:r>
            <a:endParaRPr lang="pt-BR" sz="2000" dirty="0">
              <a:latin typeface="Montserrat ExtraBold" panose="020B0604020202020204" charset="0"/>
            </a:endParaRPr>
          </a:p>
        </p:txBody>
      </p:sp>
      <p:sp>
        <p:nvSpPr>
          <p:cNvPr id="40" name="CaixaDeTexto 39"/>
          <p:cNvSpPr txBox="1"/>
          <p:nvPr/>
        </p:nvSpPr>
        <p:spPr>
          <a:xfrm>
            <a:off x="4184650" y="4797365"/>
            <a:ext cx="1371600" cy="400110"/>
          </a:xfrm>
          <a:prstGeom prst="rect">
            <a:avLst/>
          </a:prstGeom>
          <a:noFill/>
        </p:spPr>
        <p:txBody>
          <a:bodyPr wrap="square" rtlCol="0">
            <a:spAutoFit/>
          </a:bodyPr>
          <a:lstStyle/>
          <a:p>
            <a:r>
              <a:rPr lang="pt-BR" sz="2000" dirty="0" smtClean="0">
                <a:latin typeface="Montserrat ExtraBold" panose="020B0604020202020204" charset="0"/>
              </a:rPr>
              <a:t>CURSOS</a:t>
            </a:r>
            <a:endParaRPr lang="pt-BR" sz="2000" dirty="0">
              <a:latin typeface="Montserrat ExtraBold" panose="020B0604020202020204" charset="0"/>
            </a:endParaRPr>
          </a:p>
        </p:txBody>
      </p:sp>
      <p:sp>
        <p:nvSpPr>
          <p:cNvPr id="41" name="CaixaDeTexto 40"/>
          <p:cNvSpPr txBox="1"/>
          <p:nvPr/>
        </p:nvSpPr>
        <p:spPr>
          <a:xfrm>
            <a:off x="2736150" y="4511675"/>
            <a:ext cx="1371600" cy="1015663"/>
          </a:xfrm>
          <a:prstGeom prst="rect">
            <a:avLst/>
          </a:prstGeom>
          <a:noFill/>
        </p:spPr>
        <p:txBody>
          <a:bodyPr wrap="square" rtlCol="0">
            <a:spAutoFit/>
          </a:bodyPr>
          <a:lstStyle/>
          <a:p>
            <a:pPr algn="ctr"/>
            <a:r>
              <a:rPr lang="pt-BR" sz="2000" dirty="0" smtClean="0">
                <a:latin typeface="Montserrat ExtraBold" panose="020B0604020202020204" charset="0"/>
              </a:rPr>
              <a:t>ALUNOS </a:t>
            </a:r>
            <a:br>
              <a:rPr lang="pt-BR" sz="2000" dirty="0" smtClean="0">
                <a:latin typeface="Montserrat ExtraBold" panose="020B0604020202020204" charset="0"/>
              </a:rPr>
            </a:br>
            <a:r>
              <a:rPr lang="pt-BR" sz="2000" dirty="0" smtClean="0">
                <a:latin typeface="Montserrat ExtraBold" panose="020B0604020202020204" charset="0"/>
              </a:rPr>
              <a:t>E</a:t>
            </a:r>
            <a:br>
              <a:rPr lang="pt-BR" sz="2000" dirty="0" smtClean="0">
                <a:latin typeface="Montserrat ExtraBold" panose="020B0604020202020204" charset="0"/>
              </a:rPr>
            </a:br>
            <a:r>
              <a:rPr lang="pt-BR" sz="2000" dirty="0" smtClean="0">
                <a:latin typeface="Montserrat ExtraBold" panose="020B0604020202020204" charset="0"/>
              </a:rPr>
              <a:t>CURSOS</a:t>
            </a:r>
            <a:endParaRPr lang="pt-BR" sz="2000" dirty="0">
              <a:latin typeface="Montserrat ExtraBold" panose="020B0604020202020204" charset="0"/>
            </a:endParaRPr>
          </a:p>
        </p:txBody>
      </p:sp>
      <p:pic>
        <p:nvPicPr>
          <p:cNvPr id="37" name="Imagem 36"/>
          <p:cNvPicPr>
            <a:picLocks noChangeAspect="1"/>
          </p:cNvPicPr>
          <p:nvPr/>
        </p:nvPicPr>
        <p:blipFill>
          <a:blip r:embed="rId3"/>
          <a:stretch>
            <a:fillRect/>
          </a:stretch>
        </p:blipFill>
        <p:spPr>
          <a:xfrm>
            <a:off x="5802770" y="3624388"/>
            <a:ext cx="13860047" cy="5623726"/>
          </a:xfrm>
          <a:prstGeom prst="rect">
            <a:avLst/>
          </a:prstGeom>
        </p:spPr>
      </p:pic>
    </p:spTree>
    <p:extLst>
      <p:ext uri="{BB962C8B-B14F-4D97-AF65-F5344CB8AC3E}">
        <p14:creationId xmlns:p14="http://schemas.microsoft.com/office/powerpoint/2010/main" val="617780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20104100" cy="11151870"/>
          </a:xfrm>
          <a:custGeom>
            <a:avLst/>
            <a:gdLst/>
            <a:ahLst/>
            <a:cxnLst/>
            <a:rect l="l" t="t" r="r" b="b"/>
            <a:pathLst>
              <a:path w="20104100" h="11151870">
                <a:moveTo>
                  <a:pt x="0" y="11151492"/>
                </a:moveTo>
                <a:lnTo>
                  <a:pt x="20104099" y="11151492"/>
                </a:lnTo>
                <a:lnTo>
                  <a:pt x="20104099" y="0"/>
                </a:lnTo>
                <a:lnTo>
                  <a:pt x="0" y="0"/>
                </a:lnTo>
                <a:lnTo>
                  <a:pt x="0" y="11151492"/>
                </a:lnTo>
                <a:close/>
              </a:path>
            </a:pathLst>
          </a:custGeom>
          <a:solidFill>
            <a:schemeClr val="bg1"/>
          </a:solidFill>
        </p:spPr>
        <p:txBody>
          <a:bodyPr wrap="square" lIns="0" tIns="0" rIns="0" bIns="0" rtlCol="0"/>
          <a:lstStyle/>
          <a:p>
            <a:endParaRPr dirty="0"/>
          </a:p>
        </p:txBody>
      </p:sp>
      <p:grpSp>
        <p:nvGrpSpPr>
          <p:cNvPr id="3" name="object 3"/>
          <p:cNvGrpSpPr/>
          <p:nvPr/>
        </p:nvGrpSpPr>
        <p:grpSpPr>
          <a:xfrm>
            <a:off x="15364003" y="1047088"/>
            <a:ext cx="3693160" cy="942975"/>
            <a:chOff x="15364003" y="1047088"/>
            <a:chExt cx="3693160" cy="942975"/>
          </a:xfrm>
        </p:grpSpPr>
        <p:sp>
          <p:nvSpPr>
            <p:cNvPr id="4" name="object 4"/>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5" name="object 5"/>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6" name="object 6"/>
          <p:cNvSpPr/>
          <p:nvPr/>
        </p:nvSpPr>
        <p:spPr>
          <a:xfrm flipH="1">
            <a:off x="908050" y="1047088"/>
            <a:ext cx="139038" cy="2092987"/>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7" name="object 7"/>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8" name="object 8"/>
          <p:cNvSpPr/>
          <p:nvPr/>
        </p:nvSpPr>
        <p:spPr>
          <a:xfrm>
            <a:off x="17957569"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9" name="object 9"/>
          <p:cNvSpPr/>
          <p:nvPr/>
        </p:nvSpPr>
        <p:spPr>
          <a:xfrm>
            <a:off x="17957569"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0" name="object 10"/>
          <p:cNvSpPr/>
          <p:nvPr/>
        </p:nvSpPr>
        <p:spPr>
          <a:xfrm>
            <a:off x="17957569"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1" name="object 11"/>
          <p:cNvSpPr/>
          <p:nvPr/>
        </p:nvSpPr>
        <p:spPr>
          <a:xfrm>
            <a:off x="18219340"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2" name="object 12"/>
          <p:cNvSpPr/>
          <p:nvPr/>
        </p:nvSpPr>
        <p:spPr>
          <a:xfrm>
            <a:off x="18219340"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3" name="object 13"/>
          <p:cNvSpPr/>
          <p:nvPr/>
        </p:nvSpPr>
        <p:spPr>
          <a:xfrm>
            <a:off x="18219340"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4" name="object 14"/>
          <p:cNvSpPr/>
          <p:nvPr/>
        </p:nvSpPr>
        <p:spPr>
          <a:xfrm>
            <a:off x="18481112"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5" name="object 15"/>
          <p:cNvSpPr/>
          <p:nvPr/>
        </p:nvSpPr>
        <p:spPr>
          <a:xfrm>
            <a:off x="18481112"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6" name="object 16"/>
          <p:cNvSpPr/>
          <p:nvPr/>
        </p:nvSpPr>
        <p:spPr>
          <a:xfrm>
            <a:off x="18481112"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7" name="object 17"/>
          <p:cNvSpPr/>
          <p:nvPr/>
        </p:nvSpPr>
        <p:spPr>
          <a:xfrm>
            <a:off x="18742885"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8" name="object 18"/>
          <p:cNvSpPr/>
          <p:nvPr/>
        </p:nvSpPr>
        <p:spPr>
          <a:xfrm>
            <a:off x="18742885"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9" name="object 19"/>
          <p:cNvSpPr/>
          <p:nvPr/>
        </p:nvSpPr>
        <p:spPr>
          <a:xfrm>
            <a:off x="18742885"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0" name="object 20"/>
          <p:cNvSpPr/>
          <p:nvPr/>
        </p:nvSpPr>
        <p:spPr>
          <a:xfrm>
            <a:off x="19004657"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1" name="object 21"/>
          <p:cNvSpPr/>
          <p:nvPr/>
        </p:nvSpPr>
        <p:spPr>
          <a:xfrm>
            <a:off x="19004657"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2" name="object 22"/>
          <p:cNvSpPr/>
          <p:nvPr/>
        </p:nvSpPr>
        <p:spPr>
          <a:xfrm>
            <a:off x="19004657"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3" name="object 23"/>
          <p:cNvSpPr/>
          <p:nvPr/>
        </p:nvSpPr>
        <p:spPr>
          <a:xfrm>
            <a:off x="19266428"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4" name="object 24"/>
          <p:cNvSpPr/>
          <p:nvPr/>
        </p:nvSpPr>
        <p:spPr>
          <a:xfrm>
            <a:off x="19266428"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5" name="object 25"/>
          <p:cNvSpPr/>
          <p:nvPr/>
        </p:nvSpPr>
        <p:spPr>
          <a:xfrm>
            <a:off x="19266428"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6" name="object 26"/>
          <p:cNvSpPr/>
          <p:nvPr/>
        </p:nvSpPr>
        <p:spPr>
          <a:xfrm>
            <a:off x="19528201"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7" name="object 27"/>
          <p:cNvSpPr/>
          <p:nvPr/>
        </p:nvSpPr>
        <p:spPr>
          <a:xfrm>
            <a:off x="19528201"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8" name="object 28"/>
          <p:cNvSpPr/>
          <p:nvPr/>
        </p:nvSpPr>
        <p:spPr>
          <a:xfrm>
            <a:off x="19528201"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9" name="object 29"/>
          <p:cNvSpPr/>
          <p:nvPr/>
        </p:nvSpPr>
        <p:spPr>
          <a:xfrm>
            <a:off x="19789973"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0" name="object 30"/>
          <p:cNvSpPr/>
          <p:nvPr/>
        </p:nvSpPr>
        <p:spPr>
          <a:xfrm>
            <a:off x="19789973"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1" name="object 31"/>
          <p:cNvSpPr/>
          <p:nvPr/>
        </p:nvSpPr>
        <p:spPr>
          <a:xfrm>
            <a:off x="19789973"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4" name="object 34"/>
          <p:cNvSpPr/>
          <p:nvPr/>
        </p:nvSpPr>
        <p:spPr>
          <a:xfrm>
            <a:off x="1570632" y="9057315"/>
            <a:ext cx="0" cy="1570990"/>
          </a:xfrm>
          <a:custGeom>
            <a:avLst/>
            <a:gdLst/>
            <a:ahLst/>
            <a:cxnLst/>
            <a:rect l="l" t="t" r="r" b="b"/>
            <a:pathLst>
              <a:path h="1570990">
                <a:moveTo>
                  <a:pt x="0" y="0"/>
                </a:moveTo>
                <a:lnTo>
                  <a:pt x="0" y="1570632"/>
                </a:lnTo>
              </a:path>
            </a:pathLst>
          </a:custGeom>
          <a:ln w="31412">
            <a:solidFill>
              <a:srgbClr val="C1272C"/>
            </a:solidFill>
          </a:ln>
        </p:spPr>
        <p:txBody>
          <a:bodyPr wrap="square" lIns="0" tIns="0" rIns="0" bIns="0" rtlCol="0"/>
          <a:lstStyle/>
          <a:p>
            <a:endParaRPr/>
          </a:p>
        </p:txBody>
      </p:sp>
      <p:sp>
        <p:nvSpPr>
          <p:cNvPr id="35" name="object 35"/>
          <p:cNvSpPr txBox="1"/>
          <p:nvPr/>
        </p:nvSpPr>
        <p:spPr>
          <a:xfrm>
            <a:off x="1779699" y="9322297"/>
            <a:ext cx="6263640" cy="1040670"/>
          </a:xfrm>
          <a:prstGeom prst="rect">
            <a:avLst/>
          </a:prstGeom>
        </p:spPr>
        <p:txBody>
          <a:bodyPr vert="horz" wrap="square" lIns="0" tIns="12065" rIns="0" bIns="0" rtlCol="0">
            <a:spAutoFit/>
          </a:bodyPr>
          <a:lstStyle/>
          <a:p>
            <a:pPr marL="12700">
              <a:lnSpc>
                <a:spcPct val="100000"/>
              </a:lnSpc>
              <a:spcBef>
                <a:spcPts val="95"/>
              </a:spcBef>
            </a:pPr>
            <a:r>
              <a:rPr lang="pt-BR" sz="3300" b="1" spc="-5" dirty="0" smtClean="0">
                <a:solidFill>
                  <a:srgbClr val="0070C0"/>
                </a:solidFill>
                <a:latin typeface="Montserrat ExtraBold"/>
                <a:cs typeface="Montserrat ExtraBold"/>
              </a:rPr>
              <a:t>TABELA ALUNO</a:t>
            </a:r>
          </a:p>
          <a:p>
            <a:pPr marL="12700">
              <a:lnSpc>
                <a:spcPct val="100000"/>
              </a:lnSpc>
              <a:spcBef>
                <a:spcPts val="95"/>
              </a:spcBef>
            </a:pPr>
            <a:r>
              <a:rPr lang="pt-BR" sz="3300" b="1" spc="-5" dirty="0" smtClean="0">
                <a:solidFill>
                  <a:srgbClr val="00B050"/>
                </a:solidFill>
                <a:latin typeface="Montserrat ExtraBold"/>
                <a:cs typeface="Montserrat ExtraBold"/>
              </a:rPr>
              <a:t>TABELA CURSO</a:t>
            </a:r>
            <a:endParaRPr sz="3300" dirty="0">
              <a:solidFill>
                <a:srgbClr val="00B050"/>
              </a:solidFill>
              <a:latin typeface="Montserrat ExtraBold"/>
              <a:cs typeface="Montserrat ExtraBold"/>
            </a:endParaRPr>
          </a:p>
        </p:txBody>
      </p:sp>
      <p:sp>
        <p:nvSpPr>
          <p:cNvPr id="36" name="object 36"/>
          <p:cNvSpPr txBox="1">
            <a:spLocks noGrp="1"/>
          </p:cNvSpPr>
          <p:nvPr>
            <p:ph type="title"/>
          </p:nvPr>
        </p:nvSpPr>
        <p:spPr>
          <a:xfrm>
            <a:off x="1509065" y="984549"/>
            <a:ext cx="14181785" cy="1525418"/>
          </a:xfrm>
          <a:prstGeom prst="rect">
            <a:avLst/>
          </a:prstGeom>
        </p:spPr>
        <p:txBody>
          <a:bodyPr vert="horz" wrap="square" lIns="0" tIns="12065" rIns="0" bIns="0" rtlCol="0">
            <a:spAutoFit/>
          </a:bodyPr>
          <a:lstStyle/>
          <a:p>
            <a:pPr marL="12700">
              <a:lnSpc>
                <a:spcPts val="5940"/>
              </a:lnSpc>
              <a:spcBef>
                <a:spcPts val="95"/>
              </a:spcBef>
            </a:pPr>
            <a:r>
              <a:rPr lang="pt-BR" sz="4950" b="1" spc="-15" dirty="0" smtClean="0">
                <a:solidFill>
                  <a:schemeClr val="tx1"/>
                </a:solidFill>
                <a:latin typeface="Montserrat ExtraBold"/>
                <a:cs typeface="Montserrat ExtraBold"/>
              </a:rPr>
              <a:t>EXEMPLOS</a:t>
            </a:r>
            <a:endParaRPr sz="4950" dirty="0">
              <a:solidFill>
                <a:schemeClr val="tx1"/>
              </a:solidFill>
              <a:latin typeface="Montserrat ExtraBold"/>
              <a:cs typeface="Montserrat ExtraBold"/>
            </a:endParaRPr>
          </a:p>
          <a:p>
            <a:pPr marL="12700">
              <a:lnSpc>
                <a:spcPts val="5940"/>
              </a:lnSpc>
            </a:pPr>
            <a:r>
              <a:rPr lang="pt-BR" sz="4950" spc="-25" dirty="0">
                <a:solidFill>
                  <a:schemeClr val="tx1"/>
                </a:solidFill>
                <a:latin typeface="Montserrat"/>
                <a:cs typeface="Montserrat"/>
              </a:rPr>
              <a:t>JUNÇÃO ENTRE ALUNOS E CURSOS</a:t>
            </a:r>
            <a:endParaRPr sz="4950" dirty="0">
              <a:solidFill>
                <a:schemeClr val="tx1"/>
              </a:solidFill>
              <a:latin typeface="Montserrat"/>
              <a:cs typeface="Montserrat"/>
            </a:endParaRPr>
          </a:p>
        </p:txBody>
      </p:sp>
      <p:sp>
        <p:nvSpPr>
          <p:cNvPr id="39" name="CaixaDeTexto 38"/>
          <p:cNvSpPr txBox="1"/>
          <p:nvPr/>
        </p:nvSpPr>
        <p:spPr>
          <a:xfrm>
            <a:off x="1803578" y="6539144"/>
            <a:ext cx="3130810" cy="646331"/>
          </a:xfrm>
          <a:prstGeom prst="rect">
            <a:avLst/>
          </a:prstGeom>
          <a:noFill/>
        </p:spPr>
        <p:txBody>
          <a:bodyPr wrap="square" rtlCol="0">
            <a:spAutoFit/>
          </a:bodyPr>
          <a:lstStyle/>
          <a:p>
            <a:pPr algn="ctr"/>
            <a:r>
              <a:rPr lang="pt-BR" sz="3600" b="1" spc="15" dirty="0" smtClean="0">
                <a:solidFill>
                  <a:srgbClr val="333333"/>
                </a:solidFill>
                <a:latin typeface="Montserrat ExtraBold" panose="020B0604020202020204" charset="0"/>
                <a:cs typeface="Montserrat ExtraBold"/>
              </a:rPr>
              <a:t>INNER</a:t>
            </a:r>
            <a:r>
              <a:rPr lang="pt-BR" sz="3600" spc="15" dirty="0" smtClean="0">
                <a:solidFill>
                  <a:srgbClr val="333333"/>
                </a:solidFill>
                <a:latin typeface="Montserrat Light"/>
                <a:cs typeface="Montserrat ExtraBold"/>
              </a:rPr>
              <a:t> JOIN</a:t>
            </a:r>
            <a:endParaRPr lang="pt-BR" sz="3600" dirty="0">
              <a:latin typeface="Montserrat ExtraBold"/>
              <a:cs typeface="Montserrat ExtraBold"/>
            </a:endParaRPr>
          </a:p>
        </p:txBody>
      </p:sp>
      <p:grpSp>
        <p:nvGrpSpPr>
          <p:cNvPr id="41" name="Agrupar 40"/>
          <p:cNvGrpSpPr/>
          <p:nvPr/>
        </p:nvGrpSpPr>
        <p:grpSpPr>
          <a:xfrm>
            <a:off x="1254138" y="3475652"/>
            <a:ext cx="4229690" cy="2956973"/>
            <a:chOff x="1806924" y="3625258"/>
            <a:chExt cx="4229690" cy="2956973"/>
          </a:xfrm>
        </p:grpSpPr>
        <p:pic>
          <p:nvPicPr>
            <p:cNvPr id="42" name="Imagem 41"/>
            <p:cNvPicPr>
              <a:picLocks noChangeAspect="1"/>
            </p:cNvPicPr>
            <p:nvPr/>
          </p:nvPicPr>
          <p:blipFill>
            <a:blip r:embed="rId2"/>
            <a:stretch>
              <a:fillRect/>
            </a:stretch>
          </p:blipFill>
          <p:spPr>
            <a:xfrm>
              <a:off x="1806924" y="3625258"/>
              <a:ext cx="4229690" cy="2956973"/>
            </a:xfrm>
            <a:prstGeom prst="rect">
              <a:avLst/>
            </a:prstGeom>
          </p:spPr>
        </p:pic>
        <p:sp>
          <p:nvSpPr>
            <p:cNvPr id="43" name="CaixaDeTexto 42"/>
            <p:cNvSpPr txBox="1"/>
            <p:nvPr/>
          </p:nvSpPr>
          <p:spPr>
            <a:xfrm>
              <a:off x="1945721" y="4973976"/>
              <a:ext cx="1371600" cy="400110"/>
            </a:xfrm>
            <a:prstGeom prst="rect">
              <a:avLst/>
            </a:prstGeom>
            <a:noFill/>
          </p:spPr>
          <p:txBody>
            <a:bodyPr wrap="square" rtlCol="0">
              <a:spAutoFit/>
            </a:bodyPr>
            <a:lstStyle/>
            <a:p>
              <a:r>
                <a:rPr lang="pt-BR" sz="2000" dirty="0" smtClean="0">
                  <a:latin typeface="Montserrat ExtraBold" panose="020B0604020202020204" charset="0"/>
                </a:rPr>
                <a:t>ALUNOS</a:t>
              </a:r>
              <a:endParaRPr lang="pt-BR" sz="2000" dirty="0">
                <a:latin typeface="Montserrat ExtraBold" panose="020B0604020202020204" charset="0"/>
              </a:endParaRPr>
            </a:p>
          </p:txBody>
        </p:sp>
        <p:sp>
          <p:nvSpPr>
            <p:cNvPr id="44" name="CaixaDeTexto 43"/>
            <p:cNvSpPr txBox="1"/>
            <p:nvPr/>
          </p:nvSpPr>
          <p:spPr>
            <a:xfrm>
              <a:off x="4652172" y="4973976"/>
              <a:ext cx="1371600" cy="400110"/>
            </a:xfrm>
            <a:prstGeom prst="rect">
              <a:avLst/>
            </a:prstGeom>
            <a:noFill/>
          </p:spPr>
          <p:txBody>
            <a:bodyPr wrap="square" rtlCol="0">
              <a:spAutoFit/>
            </a:bodyPr>
            <a:lstStyle/>
            <a:p>
              <a:r>
                <a:rPr lang="pt-BR" sz="2000" dirty="0" smtClean="0">
                  <a:latin typeface="Montserrat ExtraBold" panose="020B0604020202020204" charset="0"/>
                </a:rPr>
                <a:t>CURSOS</a:t>
              </a:r>
              <a:endParaRPr lang="pt-BR" sz="2000" dirty="0">
                <a:latin typeface="Montserrat ExtraBold" panose="020B0604020202020204" charset="0"/>
              </a:endParaRPr>
            </a:p>
          </p:txBody>
        </p:sp>
        <p:sp>
          <p:nvSpPr>
            <p:cNvPr id="45" name="CaixaDeTexto 44"/>
            <p:cNvSpPr txBox="1"/>
            <p:nvPr/>
          </p:nvSpPr>
          <p:spPr>
            <a:xfrm>
              <a:off x="3279872" y="4639920"/>
              <a:ext cx="1371600" cy="1015663"/>
            </a:xfrm>
            <a:prstGeom prst="rect">
              <a:avLst/>
            </a:prstGeom>
            <a:noFill/>
          </p:spPr>
          <p:txBody>
            <a:bodyPr wrap="square" rtlCol="0">
              <a:spAutoFit/>
            </a:bodyPr>
            <a:lstStyle/>
            <a:p>
              <a:pPr algn="ctr"/>
              <a:r>
                <a:rPr lang="pt-BR" sz="2000" dirty="0" smtClean="0">
                  <a:latin typeface="Montserrat ExtraBold" panose="020B0604020202020204" charset="0"/>
                </a:rPr>
                <a:t>ALUNOS </a:t>
              </a:r>
              <a:br>
                <a:rPr lang="pt-BR" sz="2000" dirty="0" smtClean="0">
                  <a:latin typeface="Montserrat ExtraBold" panose="020B0604020202020204" charset="0"/>
                </a:rPr>
              </a:br>
              <a:r>
                <a:rPr lang="pt-BR" sz="2000" dirty="0" smtClean="0">
                  <a:latin typeface="Montserrat ExtraBold" panose="020B0604020202020204" charset="0"/>
                </a:rPr>
                <a:t>E</a:t>
              </a:r>
              <a:br>
                <a:rPr lang="pt-BR" sz="2000" dirty="0" smtClean="0">
                  <a:latin typeface="Montserrat ExtraBold" panose="020B0604020202020204" charset="0"/>
                </a:rPr>
              </a:br>
              <a:r>
                <a:rPr lang="pt-BR" sz="2000" dirty="0" smtClean="0">
                  <a:latin typeface="Montserrat ExtraBold" panose="020B0604020202020204" charset="0"/>
                </a:rPr>
                <a:t>CURSOS</a:t>
              </a:r>
              <a:endParaRPr lang="pt-BR" sz="2000" dirty="0">
                <a:latin typeface="Montserrat ExtraBold" panose="020B0604020202020204" charset="0"/>
              </a:endParaRPr>
            </a:p>
          </p:txBody>
        </p:sp>
      </p:grpSp>
      <p:pic>
        <p:nvPicPr>
          <p:cNvPr id="48" name="Imagem 47"/>
          <p:cNvPicPr>
            <a:picLocks noChangeAspect="1"/>
          </p:cNvPicPr>
          <p:nvPr/>
        </p:nvPicPr>
        <p:blipFill>
          <a:blip r:embed="rId3"/>
          <a:stretch>
            <a:fillRect/>
          </a:stretch>
        </p:blipFill>
        <p:spPr>
          <a:xfrm>
            <a:off x="5565494" y="3271288"/>
            <a:ext cx="14392556" cy="5931756"/>
          </a:xfrm>
          <a:prstGeom prst="rect">
            <a:avLst/>
          </a:prstGeom>
        </p:spPr>
      </p:pic>
    </p:spTree>
    <p:extLst>
      <p:ext uri="{BB962C8B-B14F-4D97-AF65-F5344CB8AC3E}">
        <p14:creationId xmlns:p14="http://schemas.microsoft.com/office/powerpoint/2010/main" val="41140224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20104100" cy="11151870"/>
          </a:xfrm>
          <a:custGeom>
            <a:avLst/>
            <a:gdLst/>
            <a:ahLst/>
            <a:cxnLst/>
            <a:rect l="l" t="t" r="r" b="b"/>
            <a:pathLst>
              <a:path w="20104100" h="11151870">
                <a:moveTo>
                  <a:pt x="0" y="11151492"/>
                </a:moveTo>
                <a:lnTo>
                  <a:pt x="20104099" y="11151492"/>
                </a:lnTo>
                <a:lnTo>
                  <a:pt x="20104099" y="0"/>
                </a:lnTo>
                <a:lnTo>
                  <a:pt x="0" y="0"/>
                </a:lnTo>
                <a:lnTo>
                  <a:pt x="0" y="11151492"/>
                </a:lnTo>
                <a:close/>
              </a:path>
            </a:pathLst>
          </a:custGeom>
          <a:solidFill>
            <a:schemeClr val="bg1"/>
          </a:solidFill>
        </p:spPr>
        <p:txBody>
          <a:bodyPr wrap="square" lIns="0" tIns="0" rIns="0" bIns="0" rtlCol="0"/>
          <a:lstStyle/>
          <a:p>
            <a:endParaRPr dirty="0"/>
          </a:p>
        </p:txBody>
      </p:sp>
      <p:grpSp>
        <p:nvGrpSpPr>
          <p:cNvPr id="3" name="object 3"/>
          <p:cNvGrpSpPr/>
          <p:nvPr/>
        </p:nvGrpSpPr>
        <p:grpSpPr>
          <a:xfrm>
            <a:off x="15364003" y="1047088"/>
            <a:ext cx="3693160" cy="942975"/>
            <a:chOff x="15364003" y="1047088"/>
            <a:chExt cx="3693160" cy="942975"/>
          </a:xfrm>
        </p:grpSpPr>
        <p:sp>
          <p:nvSpPr>
            <p:cNvPr id="4" name="object 4"/>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5" name="object 5"/>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6" name="object 6"/>
          <p:cNvSpPr/>
          <p:nvPr/>
        </p:nvSpPr>
        <p:spPr>
          <a:xfrm flipH="1">
            <a:off x="908050" y="1047088"/>
            <a:ext cx="139038" cy="2092987"/>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7" name="object 7"/>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8" name="object 8"/>
          <p:cNvSpPr/>
          <p:nvPr/>
        </p:nvSpPr>
        <p:spPr>
          <a:xfrm>
            <a:off x="17957569"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9" name="object 9"/>
          <p:cNvSpPr/>
          <p:nvPr/>
        </p:nvSpPr>
        <p:spPr>
          <a:xfrm>
            <a:off x="17957569"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0" name="object 10"/>
          <p:cNvSpPr/>
          <p:nvPr/>
        </p:nvSpPr>
        <p:spPr>
          <a:xfrm>
            <a:off x="17957569"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1" name="object 11"/>
          <p:cNvSpPr/>
          <p:nvPr/>
        </p:nvSpPr>
        <p:spPr>
          <a:xfrm>
            <a:off x="18219340"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2" name="object 12"/>
          <p:cNvSpPr/>
          <p:nvPr/>
        </p:nvSpPr>
        <p:spPr>
          <a:xfrm>
            <a:off x="18219340"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3" name="object 13"/>
          <p:cNvSpPr/>
          <p:nvPr/>
        </p:nvSpPr>
        <p:spPr>
          <a:xfrm>
            <a:off x="18219340"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4" name="object 14"/>
          <p:cNvSpPr/>
          <p:nvPr/>
        </p:nvSpPr>
        <p:spPr>
          <a:xfrm>
            <a:off x="18481112"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5" name="object 15"/>
          <p:cNvSpPr/>
          <p:nvPr/>
        </p:nvSpPr>
        <p:spPr>
          <a:xfrm>
            <a:off x="18481112"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6" name="object 16"/>
          <p:cNvSpPr/>
          <p:nvPr/>
        </p:nvSpPr>
        <p:spPr>
          <a:xfrm>
            <a:off x="18481112"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7" name="object 17"/>
          <p:cNvSpPr/>
          <p:nvPr/>
        </p:nvSpPr>
        <p:spPr>
          <a:xfrm>
            <a:off x="18742885"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8" name="object 18"/>
          <p:cNvSpPr/>
          <p:nvPr/>
        </p:nvSpPr>
        <p:spPr>
          <a:xfrm>
            <a:off x="18742885"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9" name="object 19"/>
          <p:cNvSpPr/>
          <p:nvPr/>
        </p:nvSpPr>
        <p:spPr>
          <a:xfrm>
            <a:off x="18742885"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0" name="object 20"/>
          <p:cNvSpPr/>
          <p:nvPr/>
        </p:nvSpPr>
        <p:spPr>
          <a:xfrm>
            <a:off x="19004657"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1" name="object 21"/>
          <p:cNvSpPr/>
          <p:nvPr/>
        </p:nvSpPr>
        <p:spPr>
          <a:xfrm>
            <a:off x="19004657"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2" name="object 22"/>
          <p:cNvSpPr/>
          <p:nvPr/>
        </p:nvSpPr>
        <p:spPr>
          <a:xfrm>
            <a:off x="19004657"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3" name="object 23"/>
          <p:cNvSpPr/>
          <p:nvPr/>
        </p:nvSpPr>
        <p:spPr>
          <a:xfrm>
            <a:off x="19266428"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4" name="object 24"/>
          <p:cNvSpPr/>
          <p:nvPr/>
        </p:nvSpPr>
        <p:spPr>
          <a:xfrm>
            <a:off x="19266428"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5" name="object 25"/>
          <p:cNvSpPr/>
          <p:nvPr/>
        </p:nvSpPr>
        <p:spPr>
          <a:xfrm>
            <a:off x="19266428"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6" name="object 26"/>
          <p:cNvSpPr/>
          <p:nvPr/>
        </p:nvSpPr>
        <p:spPr>
          <a:xfrm>
            <a:off x="19528201"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7" name="object 27"/>
          <p:cNvSpPr/>
          <p:nvPr/>
        </p:nvSpPr>
        <p:spPr>
          <a:xfrm>
            <a:off x="19528201"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8" name="object 28"/>
          <p:cNvSpPr/>
          <p:nvPr/>
        </p:nvSpPr>
        <p:spPr>
          <a:xfrm>
            <a:off x="19528201"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9" name="object 29"/>
          <p:cNvSpPr/>
          <p:nvPr/>
        </p:nvSpPr>
        <p:spPr>
          <a:xfrm>
            <a:off x="19789973"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0" name="object 30"/>
          <p:cNvSpPr/>
          <p:nvPr/>
        </p:nvSpPr>
        <p:spPr>
          <a:xfrm>
            <a:off x="19789973"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1" name="object 31"/>
          <p:cNvSpPr/>
          <p:nvPr/>
        </p:nvSpPr>
        <p:spPr>
          <a:xfrm>
            <a:off x="19789973"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4" name="object 34"/>
          <p:cNvSpPr/>
          <p:nvPr/>
        </p:nvSpPr>
        <p:spPr>
          <a:xfrm>
            <a:off x="1570632" y="9057315"/>
            <a:ext cx="0" cy="1570990"/>
          </a:xfrm>
          <a:custGeom>
            <a:avLst/>
            <a:gdLst/>
            <a:ahLst/>
            <a:cxnLst/>
            <a:rect l="l" t="t" r="r" b="b"/>
            <a:pathLst>
              <a:path h="1570990">
                <a:moveTo>
                  <a:pt x="0" y="0"/>
                </a:moveTo>
                <a:lnTo>
                  <a:pt x="0" y="1570632"/>
                </a:lnTo>
              </a:path>
            </a:pathLst>
          </a:custGeom>
          <a:ln w="31412">
            <a:solidFill>
              <a:srgbClr val="C1272C"/>
            </a:solidFill>
          </a:ln>
        </p:spPr>
        <p:txBody>
          <a:bodyPr wrap="square" lIns="0" tIns="0" rIns="0" bIns="0" rtlCol="0"/>
          <a:lstStyle/>
          <a:p>
            <a:endParaRPr/>
          </a:p>
        </p:txBody>
      </p:sp>
      <p:sp>
        <p:nvSpPr>
          <p:cNvPr id="35" name="object 35"/>
          <p:cNvSpPr txBox="1"/>
          <p:nvPr/>
        </p:nvSpPr>
        <p:spPr>
          <a:xfrm>
            <a:off x="1779699" y="9322297"/>
            <a:ext cx="6263640" cy="1040670"/>
          </a:xfrm>
          <a:prstGeom prst="rect">
            <a:avLst/>
          </a:prstGeom>
        </p:spPr>
        <p:txBody>
          <a:bodyPr vert="horz" wrap="square" lIns="0" tIns="12065" rIns="0" bIns="0" rtlCol="0">
            <a:spAutoFit/>
          </a:bodyPr>
          <a:lstStyle/>
          <a:p>
            <a:pPr marL="12700">
              <a:lnSpc>
                <a:spcPct val="100000"/>
              </a:lnSpc>
              <a:spcBef>
                <a:spcPts val="95"/>
              </a:spcBef>
            </a:pPr>
            <a:r>
              <a:rPr lang="pt-BR" sz="3300" b="1" spc="-5" dirty="0" smtClean="0">
                <a:solidFill>
                  <a:srgbClr val="0070C0"/>
                </a:solidFill>
                <a:latin typeface="Montserrat ExtraBold"/>
                <a:cs typeface="Montserrat ExtraBold"/>
              </a:rPr>
              <a:t>TABELA ALUNO</a:t>
            </a:r>
          </a:p>
          <a:p>
            <a:pPr marL="12700">
              <a:lnSpc>
                <a:spcPct val="100000"/>
              </a:lnSpc>
              <a:spcBef>
                <a:spcPts val="95"/>
              </a:spcBef>
            </a:pPr>
            <a:r>
              <a:rPr lang="pt-BR" sz="3300" b="1" spc="-5" dirty="0" smtClean="0">
                <a:solidFill>
                  <a:srgbClr val="00B050"/>
                </a:solidFill>
                <a:latin typeface="Montserrat ExtraBold"/>
                <a:cs typeface="Montserrat ExtraBold"/>
              </a:rPr>
              <a:t>TABELA CURSO</a:t>
            </a:r>
            <a:endParaRPr sz="3300" dirty="0">
              <a:solidFill>
                <a:srgbClr val="00B050"/>
              </a:solidFill>
              <a:latin typeface="Montserrat ExtraBold"/>
              <a:cs typeface="Montserrat ExtraBold"/>
            </a:endParaRPr>
          </a:p>
        </p:txBody>
      </p:sp>
      <p:sp>
        <p:nvSpPr>
          <p:cNvPr id="36" name="object 36"/>
          <p:cNvSpPr txBox="1">
            <a:spLocks noGrp="1"/>
          </p:cNvSpPr>
          <p:nvPr>
            <p:ph type="title"/>
          </p:nvPr>
        </p:nvSpPr>
        <p:spPr>
          <a:xfrm>
            <a:off x="1509065" y="984549"/>
            <a:ext cx="14181785" cy="1525418"/>
          </a:xfrm>
          <a:prstGeom prst="rect">
            <a:avLst/>
          </a:prstGeom>
        </p:spPr>
        <p:txBody>
          <a:bodyPr vert="horz" wrap="square" lIns="0" tIns="12065" rIns="0" bIns="0" rtlCol="0">
            <a:spAutoFit/>
          </a:bodyPr>
          <a:lstStyle/>
          <a:p>
            <a:pPr marL="12700">
              <a:lnSpc>
                <a:spcPts val="5940"/>
              </a:lnSpc>
              <a:spcBef>
                <a:spcPts val="95"/>
              </a:spcBef>
            </a:pPr>
            <a:r>
              <a:rPr lang="pt-BR" sz="4950" b="1" spc="-15" dirty="0" smtClean="0">
                <a:solidFill>
                  <a:schemeClr val="tx1"/>
                </a:solidFill>
                <a:latin typeface="Montserrat ExtraBold"/>
                <a:cs typeface="Montserrat ExtraBold"/>
              </a:rPr>
              <a:t>EXEMPLOS</a:t>
            </a:r>
            <a:endParaRPr sz="4950" dirty="0">
              <a:solidFill>
                <a:schemeClr val="tx1"/>
              </a:solidFill>
              <a:latin typeface="Montserrat ExtraBold"/>
              <a:cs typeface="Montserrat ExtraBold"/>
            </a:endParaRPr>
          </a:p>
          <a:p>
            <a:pPr marL="12700">
              <a:lnSpc>
                <a:spcPts val="5940"/>
              </a:lnSpc>
            </a:pPr>
            <a:r>
              <a:rPr lang="pt-BR" sz="4950" spc="-25" dirty="0">
                <a:solidFill>
                  <a:schemeClr val="tx1"/>
                </a:solidFill>
                <a:latin typeface="Montserrat"/>
                <a:cs typeface="Montserrat"/>
              </a:rPr>
              <a:t>JUNÇÃO ENTRE ALUNOS E CURSOS</a:t>
            </a:r>
            <a:endParaRPr sz="4950" dirty="0">
              <a:solidFill>
                <a:schemeClr val="tx1"/>
              </a:solidFill>
              <a:latin typeface="Montserrat"/>
              <a:cs typeface="Montserrat"/>
            </a:endParaRPr>
          </a:p>
        </p:txBody>
      </p:sp>
      <p:sp>
        <p:nvSpPr>
          <p:cNvPr id="39" name="CaixaDeTexto 38"/>
          <p:cNvSpPr txBox="1"/>
          <p:nvPr/>
        </p:nvSpPr>
        <p:spPr>
          <a:xfrm>
            <a:off x="1803578" y="6539144"/>
            <a:ext cx="3130810" cy="646331"/>
          </a:xfrm>
          <a:prstGeom prst="rect">
            <a:avLst/>
          </a:prstGeom>
          <a:noFill/>
        </p:spPr>
        <p:txBody>
          <a:bodyPr wrap="square" rtlCol="0">
            <a:spAutoFit/>
          </a:bodyPr>
          <a:lstStyle/>
          <a:p>
            <a:pPr algn="ctr"/>
            <a:r>
              <a:rPr lang="pt-BR" sz="3600" b="1" spc="15" dirty="0" smtClean="0">
                <a:solidFill>
                  <a:srgbClr val="333333"/>
                </a:solidFill>
                <a:latin typeface="Montserrat ExtraBold" panose="020B0604020202020204" charset="0"/>
                <a:cs typeface="Montserrat ExtraBold"/>
              </a:rPr>
              <a:t>INNER</a:t>
            </a:r>
            <a:r>
              <a:rPr lang="pt-BR" sz="3600" spc="15" dirty="0" smtClean="0">
                <a:solidFill>
                  <a:srgbClr val="333333"/>
                </a:solidFill>
                <a:latin typeface="Montserrat Light"/>
                <a:cs typeface="Montserrat ExtraBold"/>
              </a:rPr>
              <a:t> JOIN</a:t>
            </a:r>
            <a:endParaRPr lang="pt-BR" sz="3600" dirty="0">
              <a:latin typeface="Montserrat ExtraBold"/>
              <a:cs typeface="Montserrat ExtraBold"/>
            </a:endParaRPr>
          </a:p>
        </p:txBody>
      </p:sp>
      <p:grpSp>
        <p:nvGrpSpPr>
          <p:cNvPr id="41" name="Agrupar 40"/>
          <p:cNvGrpSpPr/>
          <p:nvPr/>
        </p:nvGrpSpPr>
        <p:grpSpPr>
          <a:xfrm>
            <a:off x="1254138" y="3475652"/>
            <a:ext cx="4229690" cy="2956973"/>
            <a:chOff x="1806924" y="3625258"/>
            <a:chExt cx="4229690" cy="2956973"/>
          </a:xfrm>
        </p:grpSpPr>
        <p:pic>
          <p:nvPicPr>
            <p:cNvPr id="42" name="Imagem 41"/>
            <p:cNvPicPr>
              <a:picLocks noChangeAspect="1"/>
            </p:cNvPicPr>
            <p:nvPr/>
          </p:nvPicPr>
          <p:blipFill>
            <a:blip r:embed="rId2"/>
            <a:stretch>
              <a:fillRect/>
            </a:stretch>
          </p:blipFill>
          <p:spPr>
            <a:xfrm>
              <a:off x="1806924" y="3625258"/>
              <a:ext cx="4229690" cy="2956973"/>
            </a:xfrm>
            <a:prstGeom prst="rect">
              <a:avLst/>
            </a:prstGeom>
          </p:spPr>
        </p:pic>
        <p:sp>
          <p:nvSpPr>
            <p:cNvPr id="43" name="CaixaDeTexto 42"/>
            <p:cNvSpPr txBox="1"/>
            <p:nvPr/>
          </p:nvSpPr>
          <p:spPr>
            <a:xfrm>
              <a:off x="1945721" y="4973976"/>
              <a:ext cx="1371600" cy="400110"/>
            </a:xfrm>
            <a:prstGeom prst="rect">
              <a:avLst/>
            </a:prstGeom>
            <a:noFill/>
          </p:spPr>
          <p:txBody>
            <a:bodyPr wrap="square" rtlCol="0">
              <a:spAutoFit/>
            </a:bodyPr>
            <a:lstStyle/>
            <a:p>
              <a:r>
                <a:rPr lang="pt-BR" sz="2000" dirty="0" smtClean="0">
                  <a:latin typeface="Montserrat ExtraBold" panose="020B0604020202020204" charset="0"/>
                </a:rPr>
                <a:t>ALUNOS</a:t>
              </a:r>
              <a:endParaRPr lang="pt-BR" sz="2000" dirty="0">
                <a:latin typeface="Montserrat ExtraBold" panose="020B0604020202020204" charset="0"/>
              </a:endParaRPr>
            </a:p>
          </p:txBody>
        </p:sp>
        <p:sp>
          <p:nvSpPr>
            <p:cNvPr id="44" name="CaixaDeTexto 43"/>
            <p:cNvSpPr txBox="1"/>
            <p:nvPr/>
          </p:nvSpPr>
          <p:spPr>
            <a:xfrm>
              <a:off x="4652172" y="4973976"/>
              <a:ext cx="1371600" cy="400110"/>
            </a:xfrm>
            <a:prstGeom prst="rect">
              <a:avLst/>
            </a:prstGeom>
            <a:noFill/>
          </p:spPr>
          <p:txBody>
            <a:bodyPr wrap="square" rtlCol="0">
              <a:spAutoFit/>
            </a:bodyPr>
            <a:lstStyle/>
            <a:p>
              <a:r>
                <a:rPr lang="pt-BR" sz="2000" dirty="0" smtClean="0">
                  <a:latin typeface="Montserrat ExtraBold" panose="020B0604020202020204" charset="0"/>
                </a:rPr>
                <a:t>CURSOS</a:t>
              </a:r>
              <a:endParaRPr lang="pt-BR" sz="2000" dirty="0">
                <a:latin typeface="Montserrat ExtraBold" panose="020B0604020202020204" charset="0"/>
              </a:endParaRPr>
            </a:p>
          </p:txBody>
        </p:sp>
        <p:sp>
          <p:nvSpPr>
            <p:cNvPr id="45" name="CaixaDeTexto 44"/>
            <p:cNvSpPr txBox="1"/>
            <p:nvPr/>
          </p:nvSpPr>
          <p:spPr>
            <a:xfrm>
              <a:off x="3279872" y="4639920"/>
              <a:ext cx="1371600" cy="1015663"/>
            </a:xfrm>
            <a:prstGeom prst="rect">
              <a:avLst/>
            </a:prstGeom>
            <a:noFill/>
          </p:spPr>
          <p:txBody>
            <a:bodyPr wrap="square" rtlCol="0">
              <a:spAutoFit/>
            </a:bodyPr>
            <a:lstStyle/>
            <a:p>
              <a:pPr algn="ctr"/>
              <a:r>
                <a:rPr lang="pt-BR" sz="2000" dirty="0" smtClean="0">
                  <a:latin typeface="Montserrat ExtraBold" panose="020B0604020202020204" charset="0"/>
                </a:rPr>
                <a:t>ALUNOS </a:t>
              </a:r>
              <a:br>
                <a:rPr lang="pt-BR" sz="2000" dirty="0" smtClean="0">
                  <a:latin typeface="Montserrat ExtraBold" panose="020B0604020202020204" charset="0"/>
                </a:rPr>
              </a:br>
              <a:r>
                <a:rPr lang="pt-BR" sz="2000" dirty="0" smtClean="0">
                  <a:latin typeface="Montserrat ExtraBold" panose="020B0604020202020204" charset="0"/>
                </a:rPr>
                <a:t>E</a:t>
              </a:r>
              <a:br>
                <a:rPr lang="pt-BR" sz="2000" dirty="0" smtClean="0">
                  <a:latin typeface="Montserrat ExtraBold" panose="020B0604020202020204" charset="0"/>
                </a:rPr>
              </a:br>
              <a:r>
                <a:rPr lang="pt-BR" sz="2000" dirty="0" smtClean="0">
                  <a:latin typeface="Montserrat ExtraBold" panose="020B0604020202020204" charset="0"/>
                </a:rPr>
                <a:t>CURSOS</a:t>
              </a:r>
              <a:endParaRPr lang="pt-BR" sz="2000" dirty="0">
                <a:latin typeface="Montserrat ExtraBold" panose="020B0604020202020204" charset="0"/>
              </a:endParaRPr>
            </a:p>
          </p:txBody>
        </p:sp>
      </p:grpSp>
      <p:sp>
        <p:nvSpPr>
          <p:cNvPr id="32" name="CaixaDeTexto 31"/>
          <p:cNvSpPr txBox="1"/>
          <p:nvPr/>
        </p:nvSpPr>
        <p:spPr>
          <a:xfrm>
            <a:off x="6466777" y="3598799"/>
            <a:ext cx="10553084" cy="6852287"/>
          </a:xfrm>
          <a:prstGeom prst="rect">
            <a:avLst/>
          </a:prstGeom>
          <a:solidFill>
            <a:srgbClr val="FFE9C9"/>
          </a:solidFill>
          <a:ln>
            <a:solidFill>
              <a:schemeClr val="tx1"/>
            </a:solidFill>
          </a:ln>
        </p:spPr>
        <p:txBody>
          <a:bodyPr wrap="square" rtlCol="0">
            <a:spAutoFit/>
          </a:bodyPr>
          <a:lstStyle/>
          <a:p>
            <a:pPr>
              <a:lnSpc>
                <a:spcPct val="150000"/>
              </a:lnSpc>
            </a:pPr>
            <a:r>
              <a:rPr lang="pt-BR" sz="3600" b="1" dirty="0">
                <a:latin typeface="Consolas" panose="020B0609020204030204" pitchFamily="49" charset="0"/>
              </a:rPr>
              <a:t>SELECT</a:t>
            </a:r>
          </a:p>
          <a:p>
            <a:pPr>
              <a:lnSpc>
                <a:spcPct val="150000"/>
              </a:lnSpc>
            </a:pPr>
            <a:r>
              <a:rPr lang="pt-BR" sz="3600" dirty="0" smtClean="0">
                <a:latin typeface="Consolas" panose="020B0609020204030204" pitchFamily="49" charset="0"/>
              </a:rPr>
              <a:t>	ALUNO.ID </a:t>
            </a:r>
            <a:r>
              <a:rPr lang="pt-BR" sz="3600" dirty="0">
                <a:latin typeface="Consolas" panose="020B0609020204030204" pitchFamily="49" charset="0"/>
              </a:rPr>
              <a:t>AS ALUNO_ID,</a:t>
            </a:r>
          </a:p>
          <a:p>
            <a:pPr>
              <a:lnSpc>
                <a:spcPct val="150000"/>
              </a:lnSpc>
            </a:pPr>
            <a:r>
              <a:rPr lang="pt-BR" sz="3600" dirty="0" smtClean="0">
                <a:latin typeface="Consolas" panose="020B0609020204030204" pitchFamily="49" charset="0"/>
              </a:rPr>
              <a:t>	ALUNO.NOME </a:t>
            </a:r>
            <a:r>
              <a:rPr lang="pt-BR" sz="3600" dirty="0">
                <a:latin typeface="Consolas" panose="020B0609020204030204" pitchFamily="49" charset="0"/>
              </a:rPr>
              <a:t>AS ALUNO_NOME,</a:t>
            </a:r>
          </a:p>
          <a:p>
            <a:pPr>
              <a:lnSpc>
                <a:spcPct val="150000"/>
              </a:lnSpc>
            </a:pPr>
            <a:r>
              <a:rPr lang="pt-BR" sz="3600" dirty="0" smtClean="0">
                <a:latin typeface="Consolas" panose="020B0609020204030204" pitchFamily="49" charset="0"/>
              </a:rPr>
              <a:t>	CURSO.ID </a:t>
            </a:r>
            <a:r>
              <a:rPr lang="pt-BR" sz="3600" dirty="0">
                <a:latin typeface="Consolas" panose="020B0609020204030204" pitchFamily="49" charset="0"/>
              </a:rPr>
              <a:t>AS CURSO_ID,</a:t>
            </a:r>
          </a:p>
          <a:p>
            <a:pPr>
              <a:lnSpc>
                <a:spcPct val="150000"/>
              </a:lnSpc>
            </a:pPr>
            <a:r>
              <a:rPr lang="pt-BR" sz="3600" dirty="0" smtClean="0">
                <a:latin typeface="Consolas" panose="020B0609020204030204" pitchFamily="49" charset="0"/>
              </a:rPr>
              <a:t>	CURSO.NOME </a:t>
            </a:r>
            <a:r>
              <a:rPr lang="pt-BR" sz="3600" dirty="0">
                <a:latin typeface="Consolas" panose="020B0609020204030204" pitchFamily="49" charset="0"/>
              </a:rPr>
              <a:t>AS CURSO_NOME</a:t>
            </a:r>
          </a:p>
          <a:p>
            <a:pPr>
              <a:lnSpc>
                <a:spcPct val="150000"/>
              </a:lnSpc>
            </a:pPr>
            <a:r>
              <a:rPr lang="pt-BR" sz="3600" b="1" dirty="0" smtClean="0">
                <a:latin typeface="Consolas" panose="020B0609020204030204" pitchFamily="49" charset="0"/>
              </a:rPr>
              <a:t>FROM</a:t>
            </a:r>
          </a:p>
          <a:p>
            <a:pPr>
              <a:lnSpc>
                <a:spcPct val="150000"/>
              </a:lnSpc>
            </a:pPr>
            <a:r>
              <a:rPr lang="pt-BR" sz="3600" b="1" dirty="0">
                <a:solidFill>
                  <a:srgbClr val="FF0000"/>
                </a:solidFill>
                <a:latin typeface="Consolas" panose="020B0609020204030204" pitchFamily="49" charset="0"/>
              </a:rPr>
              <a:t>	</a:t>
            </a:r>
            <a:r>
              <a:rPr lang="pt-BR" sz="3600" b="1" dirty="0" smtClean="0">
                <a:solidFill>
                  <a:srgbClr val="0070C0"/>
                </a:solidFill>
                <a:latin typeface="Consolas" panose="020B0609020204030204" pitchFamily="49" charset="0"/>
              </a:rPr>
              <a:t>ALUNO</a:t>
            </a:r>
            <a:r>
              <a:rPr lang="pt-BR" sz="3600" dirty="0" smtClean="0">
                <a:latin typeface="Consolas" panose="020B0609020204030204" pitchFamily="49" charset="0"/>
              </a:rPr>
              <a:t> </a:t>
            </a:r>
            <a:r>
              <a:rPr lang="pt-BR" sz="3600" b="1" dirty="0">
                <a:solidFill>
                  <a:srgbClr val="FF0000"/>
                </a:solidFill>
                <a:latin typeface="Consolas" panose="020B0609020204030204" pitchFamily="49" charset="0"/>
              </a:rPr>
              <a:t>INNER</a:t>
            </a:r>
            <a:r>
              <a:rPr lang="pt-BR" sz="3600" dirty="0">
                <a:latin typeface="Consolas" panose="020B0609020204030204" pitchFamily="49" charset="0"/>
              </a:rPr>
              <a:t> JOIN </a:t>
            </a:r>
            <a:r>
              <a:rPr lang="pt-BR" sz="3600" b="1" dirty="0" smtClean="0">
                <a:solidFill>
                  <a:srgbClr val="00B050"/>
                </a:solidFill>
                <a:latin typeface="Consolas" panose="020B0609020204030204" pitchFamily="49" charset="0"/>
              </a:rPr>
              <a:t>CURSO</a:t>
            </a:r>
            <a:endParaRPr lang="pt-BR" sz="3600" dirty="0" smtClean="0">
              <a:solidFill>
                <a:srgbClr val="00B050"/>
              </a:solidFill>
              <a:latin typeface="Consolas" panose="020B0609020204030204" pitchFamily="49" charset="0"/>
            </a:endParaRPr>
          </a:p>
          <a:p>
            <a:pPr>
              <a:lnSpc>
                <a:spcPct val="150000"/>
              </a:lnSpc>
            </a:pPr>
            <a:r>
              <a:rPr lang="pt-BR" sz="3600" dirty="0" smtClean="0">
                <a:latin typeface="Consolas" panose="020B0609020204030204" pitchFamily="49" charset="0"/>
              </a:rPr>
              <a:t>	ON </a:t>
            </a:r>
            <a:r>
              <a:rPr lang="pt-BR" sz="3600" dirty="0">
                <a:latin typeface="Consolas" panose="020B0609020204030204" pitchFamily="49" charset="0"/>
              </a:rPr>
              <a:t>ALUNO.CURSO_ID = </a:t>
            </a:r>
            <a:r>
              <a:rPr lang="pt-BR" sz="3600" dirty="0" smtClean="0">
                <a:latin typeface="Consolas" panose="020B0609020204030204" pitchFamily="49" charset="0"/>
              </a:rPr>
              <a:t>CURSO.ID</a:t>
            </a:r>
            <a:endParaRPr lang="pt-BR" sz="3600" dirty="0">
              <a:latin typeface="Consolas" panose="020B0609020204030204" pitchFamily="49" charset="0"/>
            </a:endParaRPr>
          </a:p>
        </p:txBody>
      </p:sp>
    </p:spTree>
    <p:extLst>
      <p:ext uri="{BB962C8B-B14F-4D97-AF65-F5344CB8AC3E}">
        <p14:creationId xmlns:p14="http://schemas.microsoft.com/office/powerpoint/2010/main" val="21656061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20104100" cy="11151870"/>
          </a:xfrm>
          <a:custGeom>
            <a:avLst/>
            <a:gdLst/>
            <a:ahLst/>
            <a:cxnLst/>
            <a:rect l="l" t="t" r="r" b="b"/>
            <a:pathLst>
              <a:path w="20104100" h="11151870">
                <a:moveTo>
                  <a:pt x="0" y="11151492"/>
                </a:moveTo>
                <a:lnTo>
                  <a:pt x="20104099" y="11151492"/>
                </a:lnTo>
                <a:lnTo>
                  <a:pt x="20104099" y="0"/>
                </a:lnTo>
                <a:lnTo>
                  <a:pt x="0" y="0"/>
                </a:lnTo>
                <a:lnTo>
                  <a:pt x="0" y="11151492"/>
                </a:lnTo>
                <a:close/>
              </a:path>
            </a:pathLst>
          </a:custGeom>
          <a:solidFill>
            <a:schemeClr val="bg1"/>
          </a:solidFill>
        </p:spPr>
        <p:txBody>
          <a:bodyPr wrap="square" lIns="0" tIns="0" rIns="0" bIns="0" rtlCol="0"/>
          <a:lstStyle/>
          <a:p>
            <a:endParaRPr dirty="0"/>
          </a:p>
        </p:txBody>
      </p:sp>
      <p:grpSp>
        <p:nvGrpSpPr>
          <p:cNvPr id="3" name="object 3"/>
          <p:cNvGrpSpPr/>
          <p:nvPr/>
        </p:nvGrpSpPr>
        <p:grpSpPr>
          <a:xfrm>
            <a:off x="15364003" y="1047088"/>
            <a:ext cx="3693160" cy="942975"/>
            <a:chOff x="15364003" y="1047088"/>
            <a:chExt cx="3693160" cy="942975"/>
          </a:xfrm>
        </p:grpSpPr>
        <p:sp>
          <p:nvSpPr>
            <p:cNvPr id="4" name="object 4"/>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5" name="object 5"/>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6" name="object 6"/>
          <p:cNvSpPr/>
          <p:nvPr/>
        </p:nvSpPr>
        <p:spPr>
          <a:xfrm flipH="1">
            <a:off x="908050" y="1047088"/>
            <a:ext cx="139038" cy="2092987"/>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7" name="object 7"/>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8" name="object 8"/>
          <p:cNvSpPr/>
          <p:nvPr/>
        </p:nvSpPr>
        <p:spPr>
          <a:xfrm>
            <a:off x="17957569"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9" name="object 9"/>
          <p:cNvSpPr/>
          <p:nvPr/>
        </p:nvSpPr>
        <p:spPr>
          <a:xfrm>
            <a:off x="17957569"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0" name="object 10"/>
          <p:cNvSpPr/>
          <p:nvPr/>
        </p:nvSpPr>
        <p:spPr>
          <a:xfrm>
            <a:off x="17957569"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1" name="object 11"/>
          <p:cNvSpPr/>
          <p:nvPr/>
        </p:nvSpPr>
        <p:spPr>
          <a:xfrm>
            <a:off x="18219340"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2" name="object 12"/>
          <p:cNvSpPr/>
          <p:nvPr/>
        </p:nvSpPr>
        <p:spPr>
          <a:xfrm>
            <a:off x="18219340"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3" name="object 13"/>
          <p:cNvSpPr/>
          <p:nvPr/>
        </p:nvSpPr>
        <p:spPr>
          <a:xfrm>
            <a:off x="18219340"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4" name="object 14"/>
          <p:cNvSpPr/>
          <p:nvPr/>
        </p:nvSpPr>
        <p:spPr>
          <a:xfrm>
            <a:off x="18481112"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5" name="object 15"/>
          <p:cNvSpPr/>
          <p:nvPr/>
        </p:nvSpPr>
        <p:spPr>
          <a:xfrm>
            <a:off x="18481112"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6" name="object 16"/>
          <p:cNvSpPr/>
          <p:nvPr/>
        </p:nvSpPr>
        <p:spPr>
          <a:xfrm>
            <a:off x="18481112"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7" name="object 17"/>
          <p:cNvSpPr/>
          <p:nvPr/>
        </p:nvSpPr>
        <p:spPr>
          <a:xfrm>
            <a:off x="18742885"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8" name="object 18"/>
          <p:cNvSpPr/>
          <p:nvPr/>
        </p:nvSpPr>
        <p:spPr>
          <a:xfrm>
            <a:off x="18742885"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9" name="object 19"/>
          <p:cNvSpPr/>
          <p:nvPr/>
        </p:nvSpPr>
        <p:spPr>
          <a:xfrm>
            <a:off x="18742885"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0" name="object 20"/>
          <p:cNvSpPr/>
          <p:nvPr/>
        </p:nvSpPr>
        <p:spPr>
          <a:xfrm>
            <a:off x="19004657"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1" name="object 21"/>
          <p:cNvSpPr/>
          <p:nvPr/>
        </p:nvSpPr>
        <p:spPr>
          <a:xfrm>
            <a:off x="19004657"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2" name="object 22"/>
          <p:cNvSpPr/>
          <p:nvPr/>
        </p:nvSpPr>
        <p:spPr>
          <a:xfrm>
            <a:off x="19004657"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3" name="object 23"/>
          <p:cNvSpPr/>
          <p:nvPr/>
        </p:nvSpPr>
        <p:spPr>
          <a:xfrm>
            <a:off x="19266428"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4" name="object 24"/>
          <p:cNvSpPr/>
          <p:nvPr/>
        </p:nvSpPr>
        <p:spPr>
          <a:xfrm>
            <a:off x="19266428"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5" name="object 25"/>
          <p:cNvSpPr/>
          <p:nvPr/>
        </p:nvSpPr>
        <p:spPr>
          <a:xfrm>
            <a:off x="19266428"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6" name="object 26"/>
          <p:cNvSpPr/>
          <p:nvPr/>
        </p:nvSpPr>
        <p:spPr>
          <a:xfrm>
            <a:off x="19528201"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7" name="object 27"/>
          <p:cNvSpPr/>
          <p:nvPr/>
        </p:nvSpPr>
        <p:spPr>
          <a:xfrm>
            <a:off x="19528201"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8" name="object 28"/>
          <p:cNvSpPr/>
          <p:nvPr/>
        </p:nvSpPr>
        <p:spPr>
          <a:xfrm>
            <a:off x="19528201"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9" name="object 29"/>
          <p:cNvSpPr/>
          <p:nvPr/>
        </p:nvSpPr>
        <p:spPr>
          <a:xfrm>
            <a:off x="19789973"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0" name="object 30"/>
          <p:cNvSpPr/>
          <p:nvPr/>
        </p:nvSpPr>
        <p:spPr>
          <a:xfrm>
            <a:off x="19789973"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1" name="object 31"/>
          <p:cNvSpPr/>
          <p:nvPr/>
        </p:nvSpPr>
        <p:spPr>
          <a:xfrm>
            <a:off x="19789973"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4" name="object 34"/>
          <p:cNvSpPr/>
          <p:nvPr/>
        </p:nvSpPr>
        <p:spPr>
          <a:xfrm>
            <a:off x="1570632" y="9057315"/>
            <a:ext cx="0" cy="1570990"/>
          </a:xfrm>
          <a:custGeom>
            <a:avLst/>
            <a:gdLst/>
            <a:ahLst/>
            <a:cxnLst/>
            <a:rect l="l" t="t" r="r" b="b"/>
            <a:pathLst>
              <a:path h="1570990">
                <a:moveTo>
                  <a:pt x="0" y="0"/>
                </a:moveTo>
                <a:lnTo>
                  <a:pt x="0" y="1570632"/>
                </a:lnTo>
              </a:path>
            </a:pathLst>
          </a:custGeom>
          <a:ln w="31412">
            <a:solidFill>
              <a:srgbClr val="C1272C"/>
            </a:solidFill>
          </a:ln>
        </p:spPr>
        <p:txBody>
          <a:bodyPr wrap="square" lIns="0" tIns="0" rIns="0" bIns="0" rtlCol="0"/>
          <a:lstStyle/>
          <a:p>
            <a:endParaRPr/>
          </a:p>
        </p:txBody>
      </p:sp>
      <p:sp>
        <p:nvSpPr>
          <p:cNvPr id="35" name="object 35"/>
          <p:cNvSpPr txBox="1"/>
          <p:nvPr/>
        </p:nvSpPr>
        <p:spPr>
          <a:xfrm>
            <a:off x="1779699" y="9322297"/>
            <a:ext cx="6263640" cy="1040670"/>
          </a:xfrm>
          <a:prstGeom prst="rect">
            <a:avLst/>
          </a:prstGeom>
        </p:spPr>
        <p:txBody>
          <a:bodyPr vert="horz" wrap="square" lIns="0" tIns="12065" rIns="0" bIns="0" rtlCol="0">
            <a:spAutoFit/>
          </a:bodyPr>
          <a:lstStyle/>
          <a:p>
            <a:pPr marL="12700">
              <a:lnSpc>
                <a:spcPct val="100000"/>
              </a:lnSpc>
              <a:spcBef>
                <a:spcPts val="95"/>
              </a:spcBef>
            </a:pPr>
            <a:r>
              <a:rPr lang="pt-BR" sz="3300" b="1" spc="-5" dirty="0" smtClean="0">
                <a:solidFill>
                  <a:srgbClr val="0070C0"/>
                </a:solidFill>
                <a:latin typeface="Montserrat ExtraBold"/>
                <a:cs typeface="Montserrat ExtraBold"/>
              </a:rPr>
              <a:t>TABELA ALUNO</a:t>
            </a:r>
          </a:p>
          <a:p>
            <a:pPr marL="12700">
              <a:lnSpc>
                <a:spcPct val="100000"/>
              </a:lnSpc>
              <a:spcBef>
                <a:spcPts val="95"/>
              </a:spcBef>
            </a:pPr>
            <a:r>
              <a:rPr lang="pt-BR" sz="3300" b="1" spc="-5" dirty="0" smtClean="0">
                <a:solidFill>
                  <a:srgbClr val="00B050"/>
                </a:solidFill>
                <a:latin typeface="Montserrat ExtraBold"/>
                <a:cs typeface="Montserrat ExtraBold"/>
              </a:rPr>
              <a:t>TABELA CURSO</a:t>
            </a:r>
            <a:endParaRPr sz="3300" dirty="0">
              <a:solidFill>
                <a:srgbClr val="00B050"/>
              </a:solidFill>
              <a:latin typeface="Montserrat ExtraBold"/>
              <a:cs typeface="Montserrat ExtraBold"/>
            </a:endParaRPr>
          </a:p>
        </p:txBody>
      </p:sp>
      <p:sp>
        <p:nvSpPr>
          <p:cNvPr id="36" name="object 36"/>
          <p:cNvSpPr txBox="1">
            <a:spLocks noGrp="1"/>
          </p:cNvSpPr>
          <p:nvPr>
            <p:ph type="title"/>
          </p:nvPr>
        </p:nvSpPr>
        <p:spPr>
          <a:xfrm>
            <a:off x="1509065" y="984549"/>
            <a:ext cx="14181785" cy="1525418"/>
          </a:xfrm>
          <a:prstGeom prst="rect">
            <a:avLst/>
          </a:prstGeom>
        </p:spPr>
        <p:txBody>
          <a:bodyPr vert="horz" wrap="square" lIns="0" tIns="12065" rIns="0" bIns="0" rtlCol="0">
            <a:spAutoFit/>
          </a:bodyPr>
          <a:lstStyle/>
          <a:p>
            <a:pPr marL="12700">
              <a:lnSpc>
                <a:spcPts val="5940"/>
              </a:lnSpc>
              <a:spcBef>
                <a:spcPts val="95"/>
              </a:spcBef>
            </a:pPr>
            <a:r>
              <a:rPr lang="pt-BR" sz="4950" b="1" spc="-15" dirty="0" smtClean="0">
                <a:solidFill>
                  <a:schemeClr val="tx1"/>
                </a:solidFill>
                <a:latin typeface="Montserrat ExtraBold"/>
                <a:cs typeface="Montserrat ExtraBold"/>
              </a:rPr>
              <a:t>EXEMPLOS</a:t>
            </a:r>
            <a:endParaRPr sz="4950" dirty="0">
              <a:solidFill>
                <a:schemeClr val="tx1"/>
              </a:solidFill>
              <a:latin typeface="Montserrat ExtraBold"/>
              <a:cs typeface="Montserrat ExtraBold"/>
            </a:endParaRPr>
          </a:p>
          <a:p>
            <a:pPr marL="12700">
              <a:lnSpc>
                <a:spcPts val="5940"/>
              </a:lnSpc>
            </a:pPr>
            <a:r>
              <a:rPr lang="pt-BR" sz="4950" spc="-25" dirty="0">
                <a:solidFill>
                  <a:schemeClr val="tx1"/>
                </a:solidFill>
                <a:latin typeface="Montserrat"/>
                <a:cs typeface="Montserrat"/>
              </a:rPr>
              <a:t>JUNÇÃO ENTRE ALUNOS E CURSOS</a:t>
            </a:r>
            <a:endParaRPr sz="4950" dirty="0">
              <a:solidFill>
                <a:schemeClr val="tx1"/>
              </a:solidFill>
              <a:latin typeface="Montserrat"/>
              <a:cs typeface="Montserrat"/>
            </a:endParaRPr>
          </a:p>
        </p:txBody>
      </p:sp>
      <p:sp>
        <p:nvSpPr>
          <p:cNvPr id="39" name="CaixaDeTexto 38"/>
          <p:cNvSpPr txBox="1"/>
          <p:nvPr/>
        </p:nvSpPr>
        <p:spPr>
          <a:xfrm>
            <a:off x="2044440" y="6539144"/>
            <a:ext cx="2673610" cy="646331"/>
          </a:xfrm>
          <a:prstGeom prst="rect">
            <a:avLst/>
          </a:prstGeom>
          <a:noFill/>
        </p:spPr>
        <p:txBody>
          <a:bodyPr wrap="square" rtlCol="0">
            <a:spAutoFit/>
          </a:bodyPr>
          <a:lstStyle/>
          <a:p>
            <a:pPr algn="ctr"/>
            <a:r>
              <a:rPr lang="pt-BR" sz="3600" b="1" spc="15" dirty="0" smtClean="0">
                <a:solidFill>
                  <a:srgbClr val="333333"/>
                </a:solidFill>
                <a:latin typeface="Montserrat ExtraBold" panose="020B0604020202020204" charset="0"/>
                <a:cs typeface="Montserrat ExtraBold"/>
              </a:rPr>
              <a:t>LEFT</a:t>
            </a:r>
            <a:r>
              <a:rPr lang="pt-BR" sz="3600" spc="15" dirty="0" smtClean="0">
                <a:solidFill>
                  <a:srgbClr val="333333"/>
                </a:solidFill>
                <a:latin typeface="Montserrat Light"/>
                <a:cs typeface="Montserrat ExtraBold"/>
              </a:rPr>
              <a:t> JOIN</a:t>
            </a:r>
            <a:endParaRPr lang="pt-BR" sz="3600" dirty="0">
              <a:latin typeface="Montserrat ExtraBold"/>
              <a:cs typeface="Montserrat ExtraBold"/>
            </a:endParaRPr>
          </a:p>
        </p:txBody>
      </p:sp>
      <p:grpSp>
        <p:nvGrpSpPr>
          <p:cNvPr id="46" name="Agrupar 45"/>
          <p:cNvGrpSpPr/>
          <p:nvPr/>
        </p:nvGrpSpPr>
        <p:grpSpPr>
          <a:xfrm>
            <a:off x="1086474" y="3340546"/>
            <a:ext cx="4565017" cy="3124636"/>
            <a:chOff x="7752143" y="3518590"/>
            <a:chExt cx="4565017" cy="3124636"/>
          </a:xfrm>
        </p:grpSpPr>
        <p:pic>
          <p:nvPicPr>
            <p:cNvPr id="47" name="Imagem 46"/>
            <p:cNvPicPr>
              <a:picLocks noChangeAspect="1"/>
            </p:cNvPicPr>
            <p:nvPr/>
          </p:nvPicPr>
          <p:blipFill>
            <a:blip r:embed="rId2"/>
            <a:stretch>
              <a:fillRect/>
            </a:stretch>
          </p:blipFill>
          <p:spPr>
            <a:xfrm>
              <a:off x="7752143" y="3518590"/>
              <a:ext cx="4565017" cy="3124636"/>
            </a:xfrm>
            <a:prstGeom prst="rect">
              <a:avLst/>
            </a:prstGeom>
          </p:spPr>
        </p:pic>
        <p:sp>
          <p:nvSpPr>
            <p:cNvPr id="48" name="CaixaDeTexto 47"/>
            <p:cNvSpPr txBox="1"/>
            <p:nvPr/>
          </p:nvSpPr>
          <p:spPr>
            <a:xfrm>
              <a:off x="8008233" y="4973976"/>
              <a:ext cx="1371600" cy="400110"/>
            </a:xfrm>
            <a:prstGeom prst="rect">
              <a:avLst/>
            </a:prstGeom>
            <a:noFill/>
          </p:spPr>
          <p:txBody>
            <a:bodyPr wrap="square" rtlCol="0">
              <a:spAutoFit/>
            </a:bodyPr>
            <a:lstStyle/>
            <a:p>
              <a:r>
                <a:rPr lang="pt-BR" sz="2000" dirty="0" smtClean="0">
                  <a:latin typeface="Montserrat ExtraBold" panose="020B0604020202020204" charset="0"/>
                </a:rPr>
                <a:t>ALUNOS</a:t>
              </a:r>
              <a:endParaRPr lang="pt-BR" sz="2000" dirty="0">
                <a:latin typeface="Montserrat ExtraBold" panose="020B0604020202020204" charset="0"/>
              </a:endParaRPr>
            </a:p>
          </p:txBody>
        </p:sp>
        <p:sp>
          <p:nvSpPr>
            <p:cNvPr id="49" name="CaixaDeTexto 48"/>
            <p:cNvSpPr txBox="1"/>
            <p:nvPr/>
          </p:nvSpPr>
          <p:spPr>
            <a:xfrm>
              <a:off x="10714684" y="4973976"/>
              <a:ext cx="1371600" cy="400110"/>
            </a:xfrm>
            <a:prstGeom prst="rect">
              <a:avLst/>
            </a:prstGeom>
            <a:noFill/>
          </p:spPr>
          <p:txBody>
            <a:bodyPr wrap="square" rtlCol="0">
              <a:spAutoFit/>
            </a:bodyPr>
            <a:lstStyle/>
            <a:p>
              <a:r>
                <a:rPr lang="pt-BR" sz="2000" dirty="0" smtClean="0">
                  <a:latin typeface="Montserrat ExtraBold" panose="020B0604020202020204" charset="0"/>
                </a:rPr>
                <a:t>CURSOS</a:t>
              </a:r>
              <a:endParaRPr lang="pt-BR" sz="2000" dirty="0">
                <a:latin typeface="Montserrat ExtraBold" panose="020B0604020202020204" charset="0"/>
              </a:endParaRPr>
            </a:p>
          </p:txBody>
        </p:sp>
        <p:sp>
          <p:nvSpPr>
            <p:cNvPr id="50" name="CaixaDeTexto 49"/>
            <p:cNvSpPr txBox="1"/>
            <p:nvPr/>
          </p:nvSpPr>
          <p:spPr>
            <a:xfrm>
              <a:off x="9342384" y="4639920"/>
              <a:ext cx="1371600" cy="1015663"/>
            </a:xfrm>
            <a:prstGeom prst="rect">
              <a:avLst/>
            </a:prstGeom>
            <a:noFill/>
          </p:spPr>
          <p:txBody>
            <a:bodyPr wrap="square" rtlCol="0">
              <a:spAutoFit/>
            </a:bodyPr>
            <a:lstStyle/>
            <a:p>
              <a:pPr algn="ctr"/>
              <a:r>
                <a:rPr lang="pt-BR" sz="2000" dirty="0" smtClean="0">
                  <a:latin typeface="Montserrat ExtraBold" panose="020B0604020202020204" charset="0"/>
                </a:rPr>
                <a:t>ALUNOS </a:t>
              </a:r>
              <a:br>
                <a:rPr lang="pt-BR" sz="2000" dirty="0" smtClean="0">
                  <a:latin typeface="Montserrat ExtraBold" panose="020B0604020202020204" charset="0"/>
                </a:rPr>
              </a:br>
              <a:r>
                <a:rPr lang="pt-BR" sz="2000" dirty="0" smtClean="0">
                  <a:latin typeface="Montserrat ExtraBold" panose="020B0604020202020204" charset="0"/>
                </a:rPr>
                <a:t>E</a:t>
              </a:r>
              <a:br>
                <a:rPr lang="pt-BR" sz="2000" dirty="0" smtClean="0">
                  <a:latin typeface="Montserrat ExtraBold" panose="020B0604020202020204" charset="0"/>
                </a:rPr>
              </a:br>
              <a:r>
                <a:rPr lang="pt-BR" sz="2000" dirty="0" smtClean="0">
                  <a:latin typeface="Montserrat ExtraBold" panose="020B0604020202020204" charset="0"/>
                </a:rPr>
                <a:t>CURSOS</a:t>
              </a:r>
              <a:endParaRPr lang="pt-BR" sz="2000" dirty="0">
                <a:latin typeface="Montserrat ExtraBold" panose="020B0604020202020204" charset="0"/>
              </a:endParaRPr>
            </a:p>
          </p:txBody>
        </p:sp>
      </p:grpSp>
      <p:pic>
        <p:nvPicPr>
          <p:cNvPr id="33" name="Imagem 32"/>
          <p:cNvPicPr>
            <a:picLocks noChangeAspect="1"/>
          </p:cNvPicPr>
          <p:nvPr/>
        </p:nvPicPr>
        <p:blipFill>
          <a:blip r:embed="rId3"/>
          <a:stretch>
            <a:fillRect/>
          </a:stretch>
        </p:blipFill>
        <p:spPr>
          <a:xfrm>
            <a:off x="5747572" y="3340546"/>
            <a:ext cx="14356528" cy="5829482"/>
          </a:xfrm>
          <a:prstGeom prst="rect">
            <a:avLst/>
          </a:prstGeom>
        </p:spPr>
      </p:pic>
    </p:spTree>
    <p:extLst>
      <p:ext uri="{BB962C8B-B14F-4D97-AF65-F5344CB8AC3E}">
        <p14:creationId xmlns:p14="http://schemas.microsoft.com/office/powerpoint/2010/main" val="1207432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20104100" cy="11151870"/>
          </a:xfrm>
          <a:custGeom>
            <a:avLst/>
            <a:gdLst/>
            <a:ahLst/>
            <a:cxnLst/>
            <a:rect l="l" t="t" r="r" b="b"/>
            <a:pathLst>
              <a:path w="20104100" h="11151870">
                <a:moveTo>
                  <a:pt x="0" y="11151492"/>
                </a:moveTo>
                <a:lnTo>
                  <a:pt x="20104099" y="11151492"/>
                </a:lnTo>
                <a:lnTo>
                  <a:pt x="20104099" y="0"/>
                </a:lnTo>
                <a:lnTo>
                  <a:pt x="0" y="0"/>
                </a:lnTo>
                <a:lnTo>
                  <a:pt x="0" y="11151492"/>
                </a:lnTo>
                <a:close/>
              </a:path>
            </a:pathLst>
          </a:custGeom>
          <a:solidFill>
            <a:schemeClr val="bg1"/>
          </a:solidFill>
        </p:spPr>
        <p:txBody>
          <a:bodyPr wrap="square" lIns="0" tIns="0" rIns="0" bIns="0" rtlCol="0"/>
          <a:lstStyle/>
          <a:p>
            <a:endParaRPr dirty="0"/>
          </a:p>
        </p:txBody>
      </p:sp>
      <p:grpSp>
        <p:nvGrpSpPr>
          <p:cNvPr id="3" name="object 3"/>
          <p:cNvGrpSpPr/>
          <p:nvPr/>
        </p:nvGrpSpPr>
        <p:grpSpPr>
          <a:xfrm>
            <a:off x="15364003" y="1047088"/>
            <a:ext cx="3693160" cy="942975"/>
            <a:chOff x="15364003" y="1047088"/>
            <a:chExt cx="3693160" cy="942975"/>
          </a:xfrm>
        </p:grpSpPr>
        <p:sp>
          <p:nvSpPr>
            <p:cNvPr id="4" name="object 4"/>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5" name="object 5"/>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6" name="object 6"/>
          <p:cNvSpPr/>
          <p:nvPr/>
        </p:nvSpPr>
        <p:spPr>
          <a:xfrm flipH="1">
            <a:off x="908050" y="1047088"/>
            <a:ext cx="139038" cy="2092987"/>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7" name="object 7"/>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8" name="object 8"/>
          <p:cNvSpPr/>
          <p:nvPr/>
        </p:nvSpPr>
        <p:spPr>
          <a:xfrm>
            <a:off x="17957569"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9" name="object 9"/>
          <p:cNvSpPr/>
          <p:nvPr/>
        </p:nvSpPr>
        <p:spPr>
          <a:xfrm>
            <a:off x="17957569"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0" name="object 10"/>
          <p:cNvSpPr/>
          <p:nvPr/>
        </p:nvSpPr>
        <p:spPr>
          <a:xfrm>
            <a:off x="17957569"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1" name="object 11"/>
          <p:cNvSpPr/>
          <p:nvPr/>
        </p:nvSpPr>
        <p:spPr>
          <a:xfrm>
            <a:off x="18219340"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2" name="object 12"/>
          <p:cNvSpPr/>
          <p:nvPr/>
        </p:nvSpPr>
        <p:spPr>
          <a:xfrm>
            <a:off x="18219340"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3" name="object 13"/>
          <p:cNvSpPr/>
          <p:nvPr/>
        </p:nvSpPr>
        <p:spPr>
          <a:xfrm>
            <a:off x="18219340"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4" name="object 14"/>
          <p:cNvSpPr/>
          <p:nvPr/>
        </p:nvSpPr>
        <p:spPr>
          <a:xfrm>
            <a:off x="18481112"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5" name="object 15"/>
          <p:cNvSpPr/>
          <p:nvPr/>
        </p:nvSpPr>
        <p:spPr>
          <a:xfrm>
            <a:off x="18481112"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6" name="object 16"/>
          <p:cNvSpPr/>
          <p:nvPr/>
        </p:nvSpPr>
        <p:spPr>
          <a:xfrm>
            <a:off x="18481112"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7" name="object 17"/>
          <p:cNvSpPr/>
          <p:nvPr/>
        </p:nvSpPr>
        <p:spPr>
          <a:xfrm>
            <a:off x="18742885"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8" name="object 18"/>
          <p:cNvSpPr/>
          <p:nvPr/>
        </p:nvSpPr>
        <p:spPr>
          <a:xfrm>
            <a:off x="18742885"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9" name="object 19"/>
          <p:cNvSpPr/>
          <p:nvPr/>
        </p:nvSpPr>
        <p:spPr>
          <a:xfrm>
            <a:off x="18742885"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0" name="object 20"/>
          <p:cNvSpPr/>
          <p:nvPr/>
        </p:nvSpPr>
        <p:spPr>
          <a:xfrm>
            <a:off x="19004657"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1" name="object 21"/>
          <p:cNvSpPr/>
          <p:nvPr/>
        </p:nvSpPr>
        <p:spPr>
          <a:xfrm>
            <a:off x="19004657"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2" name="object 22"/>
          <p:cNvSpPr/>
          <p:nvPr/>
        </p:nvSpPr>
        <p:spPr>
          <a:xfrm>
            <a:off x="19004657"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3" name="object 23"/>
          <p:cNvSpPr/>
          <p:nvPr/>
        </p:nvSpPr>
        <p:spPr>
          <a:xfrm>
            <a:off x="19266428"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4" name="object 24"/>
          <p:cNvSpPr/>
          <p:nvPr/>
        </p:nvSpPr>
        <p:spPr>
          <a:xfrm>
            <a:off x="19266428"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5" name="object 25"/>
          <p:cNvSpPr/>
          <p:nvPr/>
        </p:nvSpPr>
        <p:spPr>
          <a:xfrm>
            <a:off x="19266428"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6" name="object 26"/>
          <p:cNvSpPr/>
          <p:nvPr/>
        </p:nvSpPr>
        <p:spPr>
          <a:xfrm>
            <a:off x="19528201"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7" name="object 27"/>
          <p:cNvSpPr/>
          <p:nvPr/>
        </p:nvSpPr>
        <p:spPr>
          <a:xfrm>
            <a:off x="19528201"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8" name="object 28"/>
          <p:cNvSpPr/>
          <p:nvPr/>
        </p:nvSpPr>
        <p:spPr>
          <a:xfrm>
            <a:off x="19528201"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9" name="object 29"/>
          <p:cNvSpPr/>
          <p:nvPr/>
        </p:nvSpPr>
        <p:spPr>
          <a:xfrm>
            <a:off x="19789973"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0" name="object 30"/>
          <p:cNvSpPr/>
          <p:nvPr/>
        </p:nvSpPr>
        <p:spPr>
          <a:xfrm>
            <a:off x="19789973"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1" name="object 31"/>
          <p:cNvSpPr/>
          <p:nvPr/>
        </p:nvSpPr>
        <p:spPr>
          <a:xfrm>
            <a:off x="19789973"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4" name="object 34"/>
          <p:cNvSpPr/>
          <p:nvPr/>
        </p:nvSpPr>
        <p:spPr>
          <a:xfrm>
            <a:off x="1570632" y="9057315"/>
            <a:ext cx="0" cy="1570990"/>
          </a:xfrm>
          <a:custGeom>
            <a:avLst/>
            <a:gdLst/>
            <a:ahLst/>
            <a:cxnLst/>
            <a:rect l="l" t="t" r="r" b="b"/>
            <a:pathLst>
              <a:path h="1570990">
                <a:moveTo>
                  <a:pt x="0" y="0"/>
                </a:moveTo>
                <a:lnTo>
                  <a:pt x="0" y="1570632"/>
                </a:lnTo>
              </a:path>
            </a:pathLst>
          </a:custGeom>
          <a:ln w="31412">
            <a:solidFill>
              <a:srgbClr val="C1272C"/>
            </a:solidFill>
          </a:ln>
        </p:spPr>
        <p:txBody>
          <a:bodyPr wrap="square" lIns="0" tIns="0" rIns="0" bIns="0" rtlCol="0"/>
          <a:lstStyle/>
          <a:p>
            <a:endParaRPr/>
          </a:p>
        </p:txBody>
      </p:sp>
      <p:sp>
        <p:nvSpPr>
          <p:cNvPr id="35" name="object 35"/>
          <p:cNvSpPr txBox="1"/>
          <p:nvPr/>
        </p:nvSpPr>
        <p:spPr>
          <a:xfrm>
            <a:off x="1779699" y="9322297"/>
            <a:ext cx="6263640" cy="1040670"/>
          </a:xfrm>
          <a:prstGeom prst="rect">
            <a:avLst/>
          </a:prstGeom>
        </p:spPr>
        <p:txBody>
          <a:bodyPr vert="horz" wrap="square" lIns="0" tIns="12065" rIns="0" bIns="0" rtlCol="0">
            <a:spAutoFit/>
          </a:bodyPr>
          <a:lstStyle/>
          <a:p>
            <a:pPr marL="12700">
              <a:lnSpc>
                <a:spcPct val="100000"/>
              </a:lnSpc>
              <a:spcBef>
                <a:spcPts val="95"/>
              </a:spcBef>
            </a:pPr>
            <a:r>
              <a:rPr lang="pt-BR" sz="3300" b="1" spc="-5" dirty="0" smtClean="0">
                <a:solidFill>
                  <a:srgbClr val="0070C0"/>
                </a:solidFill>
                <a:latin typeface="Montserrat ExtraBold"/>
                <a:cs typeface="Montserrat ExtraBold"/>
              </a:rPr>
              <a:t>TABELA ALUNO</a:t>
            </a:r>
          </a:p>
          <a:p>
            <a:pPr marL="12700">
              <a:lnSpc>
                <a:spcPct val="100000"/>
              </a:lnSpc>
              <a:spcBef>
                <a:spcPts val="95"/>
              </a:spcBef>
            </a:pPr>
            <a:r>
              <a:rPr lang="pt-BR" sz="3300" b="1" spc="-5" dirty="0" smtClean="0">
                <a:solidFill>
                  <a:srgbClr val="00B050"/>
                </a:solidFill>
                <a:latin typeface="Montserrat ExtraBold"/>
                <a:cs typeface="Montserrat ExtraBold"/>
              </a:rPr>
              <a:t>TABELA CURSO</a:t>
            </a:r>
            <a:endParaRPr sz="3300" dirty="0">
              <a:solidFill>
                <a:srgbClr val="00B050"/>
              </a:solidFill>
              <a:latin typeface="Montserrat ExtraBold"/>
              <a:cs typeface="Montserrat ExtraBold"/>
            </a:endParaRPr>
          </a:p>
        </p:txBody>
      </p:sp>
      <p:sp>
        <p:nvSpPr>
          <p:cNvPr id="36" name="object 36"/>
          <p:cNvSpPr txBox="1">
            <a:spLocks noGrp="1"/>
          </p:cNvSpPr>
          <p:nvPr>
            <p:ph type="title"/>
          </p:nvPr>
        </p:nvSpPr>
        <p:spPr>
          <a:xfrm>
            <a:off x="1509065" y="984549"/>
            <a:ext cx="14181785" cy="1525418"/>
          </a:xfrm>
          <a:prstGeom prst="rect">
            <a:avLst/>
          </a:prstGeom>
        </p:spPr>
        <p:txBody>
          <a:bodyPr vert="horz" wrap="square" lIns="0" tIns="12065" rIns="0" bIns="0" rtlCol="0">
            <a:spAutoFit/>
          </a:bodyPr>
          <a:lstStyle/>
          <a:p>
            <a:pPr marL="12700">
              <a:lnSpc>
                <a:spcPts val="5940"/>
              </a:lnSpc>
              <a:spcBef>
                <a:spcPts val="95"/>
              </a:spcBef>
            </a:pPr>
            <a:r>
              <a:rPr lang="pt-BR" sz="4950" b="1" spc="-15" dirty="0" smtClean="0">
                <a:solidFill>
                  <a:schemeClr val="tx1"/>
                </a:solidFill>
                <a:latin typeface="Montserrat ExtraBold"/>
                <a:cs typeface="Montserrat ExtraBold"/>
              </a:rPr>
              <a:t>EXEMPLOS</a:t>
            </a:r>
            <a:endParaRPr sz="4950" dirty="0">
              <a:solidFill>
                <a:schemeClr val="tx1"/>
              </a:solidFill>
              <a:latin typeface="Montserrat ExtraBold"/>
              <a:cs typeface="Montserrat ExtraBold"/>
            </a:endParaRPr>
          </a:p>
          <a:p>
            <a:pPr marL="12700">
              <a:lnSpc>
                <a:spcPts val="5940"/>
              </a:lnSpc>
            </a:pPr>
            <a:r>
              <a:rPr lang="pt-BR" sz="4950" spc="-25" dirty="0">
                <a:solidFill>
                  <a:schemeClr val="tx1"/>
                </a:solidFill>
                <a:latin typeface="Montserrat"/>
                <a:cs typeface="Montserrat"/>
              </a:rPr>
              <a:t>JUNÇÃO ENTRE ALUNOS E CURSOS</a:t>
            </a:r>
            <a:endParaRPr sz="4950" dirty="0">
              <a:solidFill>
                <a:schemeClr val="tx1"/>
              </a:solidFill>
              <a:latin typeface="Montserrat"/>
              <a:cs typeface="Montserrat"/>
            </a:endParaRPr>
          </a:p>
        </p:txBody>
      </p:sp>
      <p:sp>
        <p:nvSpPr>
          <p:cNvPr id="39" name="CaixaDeTexto 38"/>
          <p:cNvSpPr txBox="1"/>
          <p:nvPr/>
        </p:nvSpPr>
        <p:spPr>
          <a:xfrm>
            <a:off x="2044440" y="6539144"/>
            <a:ext cx="2673610" cy="646331"/>
          </a:xfrm>
          <a:prstGeom prst="rect">
            <a:avLst/>
          </a:prstGeom>
          <a:noFill/>
        </p:spPr>
        <p:txBody>
          <a:bodyPr wrap="square" rtlCol="0">
            <a:spAutoFit/>
          </a:bodyPr>
          <a:lstStyle/>
          <a:p>
            <a:pPr algn="ctr"/>
            <a:r>
              <a:rPr lang="pt-BR" sz="3600" b="1" spc="15" dirty="0" smtClean="0">
                <a:solidFill>
                  <a:srgbClr val="333333"/>
                </a:solidFill>
                <a:latin typeface="Montserrat ExtraBold" panose="020B0604020202020204" charset="0"/>
                <a:cs typeface="Montserrat ExtraBold"/>
              </a:rPr>
              <a:t>LEFT</a:t>
            </a:r>
            <a:r>
              <a:rPr lang="pt-BR" sz="3600" spc="15" dirty="0" smtClean="0">
                <a:solidFill>
                  <a:srgbClr val="333333"/>
                </a:solidFill>
                <a:latin typeface="Montserrat Light"/>
                <a:cs typeface="Montserrat ExtraBold"/>
              </a:rPr>
              <a:t> JOIN</a:t>
            </a:r>
            <a:endParaRPr lang="pt-BR" sz="3600" dirty="0">
              <a:latin typeface="Montserrat ExtraBold"/>
              <a:cs typeface="Montserrat ExtraBold"/>
            </a:endParaRPr>
          </a:p>
        </p:txBody>
      </p:sp>
      <p:grpSp>
        <p:nvGrpSpPr>
          <p:cNvPr id="46" name="Agrupar 45"/>
          <p:cNvGrpSpPr/>
          <p:nvPr/>
        </p:nvGrpSpPr>
        <p:grpSpPr>
          <a:xfrm>
            <a:off x="1086474" y="3340546"/>
            <a:ext cx="4565017" cy="3124636"/>
            <a:chOff x="7752143" y="3518590"/>
            <a:chExt cx="4565017" cy="3124636"/>
          </a:xfrm>
        </p:grpSpPr>
        <p:pic>
          <p:nvPicPr>
            <p:cNvPr id="47" name="Imagem 46"/>
            <p:cNvPicPr>
              <a:picLocks noChangeAspect="1"/>
            </p:cNvPicPr>
            <p:nvPr/>
          </p:nvPicPr>
          <p:blipFill>
            <a:blip r:embed="rId2"/>
            <a:stretch>
              <a:fillRect/>
            </a:stretch>
          </p:blipFill>
          <p:spPr>
            <a:xfrm>
              <a:off x="7752143" y="3518590"/>
              <a:ext cx="4565017" cy="3124636"/>
            </a:xfrm>
            <a:prstGeom prst="rect">
              <a:avLst/>
            </a:prstGeom>
          </p:spPr>
        </p:pic>
        <p:sp>
          <p:nvSpPr>
            <p:cNvPr id="48" name="CaixaDeTexto 47"/>
            <p:cNvSpPr txBox="1"/>
            <p:nvPr/>
          </p:nvSpPr>
          <p:spPr>
            <a:xfrm>
              <a:off x="8008233" y="4973976"/>
              <a:ext cx="1371600" cy="400110"/>
            </a:xfrm>
            <a:prstGeom prst="rect">
              <a:avLst/>
            </a:prstGeom>
            <a:noFill/>
          </p:spPr>
          <p:txBody>
            <a:bodyPr wrap="square" rtlCol="0">
              <a:spAutoFit/>
            </a:bodyPr>
            <a:lstStyle/>
            <a:p>
              <a:r>
                <a:rPr lang="pt-BR" sz="2000" dirty="0" smtClean="0">
                  <a:latin typeface="Montserrat ExtraBold" panose="020B0604020202020204" charset="0"/>
                </a:rPr>
                <a:t>ALUNOS</a:t>
              </a:r>
              <a:endParaRPr lang="pt-BR" sz="2000" dirty="0">
                <a:latin typeface="Montserrat ExtraBold" panose="020B0604020202020204" charset="0"/>
              </a:endParaRPr>
            </a:p>
          </p:txBody>
        </p:sp>
        <p:sp>
          <p:nvSpPr>
            <p:cNvPr id="49" name="CaixaDeTexto 48"/>
            <p:cNvSpPr txBox="1"/>
            <p:nvPr/>
          </p:nvSpPr>
          <p:spPr>
            <a:xfrm>
              <a:off x="10714684" y="4973976"/>
              <a:ext cx="1371600" cy="400110"/>
            </a:xfrm>
            <a:prstGeom prst="rect">
              <a:avLst/>
            </a:prstGeom>
            <a:noFill/>
          </p:spPr>
          <p:txBody>
            <a:bodyPr wrap="square" rtlCol="0">
              <a:spAutoFit/>
            </a:bodyPr>
            <a:lstStyle/>
            <a:p>
              <a:r>
                <a:rPr lang="pt-BR" sz="2000" dirty="0" smtClean="0">
                  <a:latin typeface="Montserrat ExtraBold" panose="020B0604020202020204" charset="0"/>
                </a:rPr>
                <a:t>CURSOS</a:t>
              </a:r>
              <a:endParaRPr lang="pt-BR" sz="2000" dirty="0">
                <a:latin typeface="Montserrat ExtraBold" panose="020B0604020202020204" charset="0"/>
              </a:endParaRPr>
            </a:p>
          </p:txBody>
        </p:sp>
        <p:sp>
          <p:nvSpPr>
            <p:cNvPr id="50" name="CaixaDeTexto 49"/>
            <p:cNvSpPr txBox="1"/>
            <p:nvPr/>
          </p:nvSpPr>
          <p:spPr>
            <a:xfrm>
              <a:off x="9342384" y="4639920"/>
              <a:ext cx="1371600" cy="1015663"/>
            </a:xfrm>
            <a:prstGeom prst="rect">
              <a:avLst/>
            </a:prstGeom>
            <a:noFill/>
          </p:spPr>
          <p:txBody>
            <a:bodyPr wrap="square" rtlCol="0">
              <a:spAutoFit/>
            </a:bodyPr>
            <a:lstStyle/>
            <a:p>
              <a:pPr algn="ctr"/>
              <a:r>
                <a:rPr lang="pt-BR" sz="2000" dirty="0" smtClean="0">
                  <a:latin typeface="Montserrat ExtraBold" panose="020B0604020202020204" charset="0"/>
                </a:rPr>
                <a:t>ALUNOS </a:t>
              </a:r>
              <a:br>
                <a:rPr lang="pt-BR" sz="2000" dirty="0" smtClean="0">
                  <a:latin typeface="Montserrat ExtraBold" panose="020B0604020202020204" charset="0"/>
                </a:rPr>
              </a:br>
              <a:r>
                <a:rPr lang="pt-BR" sz="2000" dirty="0" smtClean="0">
                  <a:latin typeface="Montserrat ExtraBold" panose="020B0604020202020204" charset="0"/>
                </a:rPr>
                <a:t>E</a:t>
              </a:r>
              <a:br>
                <a:rPr lang="pt-BR" sz="2000" dirty="0" smtClean="0">
                  <a:latin typeface="Montserrat ExtraBold" panose="020B0604020202020204" charset="0"/>
                </a:rPr>
              </a:br>
              <a:r>
                <a:rPr lang="pt-BR" sz="2000" dirty="0" smtClean="0">
                  <a:latin typeface="Montserrat ExtraBold" panose="020B0604020202020204" charset="0"/>
                </a:rPr>
                <a:t>CURSOS</a:t>
              </a:r>
              <a:endParaRPr lang="pt-BR" sz="2000" dirty="0">
                <a:latin typeface="Montserrat ExtraBold" panose="020B0604020202020204" charset="0"/>
              </a:endParaRPr>
            </a:p>
          </p:txBody>
        </p:sp>
      </p:grpSp>
      <p:sp>
        <p:nvSpPr>
          <p:cNvPr id="42" name="CaixaDeTexto 41"/>
          <p:cNvSpPr txBox="1"/>
          <p:nvPr/>
        </p:nvSpPr>
        <p:spPr>
          <a:xfrm>
            <a:off x="6466777" y="3598799"/>
            <a:ext cx="10553084" cy="6852287"/>
          </a:xfrm>
          <a:prstGeom prst="rect">
            <a:avLst/>
          </a:prstGeom>
          <a:solidFill>
            <a:srgbClr val="FFE9C9"/>
          </a:solidFill>
          <a:ln>
            <a:solidFill>
              <a:schemeClr val="tx1"/>
            </a:solidFill>
          </a:ln>
        </p:spPr>
        <p:txBody>
          <a:bodyPr wrap="square" rtlCol="0">
            <a:spAutoFit/>
          </a:bodyPr>
          <a:lstStyle/>
          <a:p>
            <a:pPr>
              <a:lnSpc>
                <a:spcPct val="150000"/>
              </a:lnSpc>
            </a:pPr>
            <a:r>
              <a:rPr lang="pt-BR" sz="3600" b="1" dirty="0">
                <a:latin typeface="Consolas" panose="020B0609020204030204" pitchFamily="49" charset="0"/>
              </a:rPr>
              <a:t>SELECT</a:t>
            </a:r>
          </a:p>
          <a:p>
            <a:pPr>
              <a:lnSpc>
                <a:spcPct val="150000"/>
              </a:lnSpc>
            </a:pPr>
            <a:r>
              <a:rPr lang="pt-BR" sz="3600" dirty="0" smtClean="0">
                <a:latin typeface="Consolas" panose="020B0609020204030204" pitchFamily="49" charset="0"/>
              </a:rPr>
              <a:t>	ALUNO.ID </a:t>
            </a:r>
            <a:r>
              <a:rPr lang="pt-BR" sz="3600" dirty="0">
                <a:latin typeface="Consolas" panose="020B0609020204030204" pitchFamily="49" charset="0"/>
              </a:rPr>
              <a:t>AS ALUNO_ID,</a:t>
            </a:r>
          </a:p>
          <a:p>
            <a:pPr>
              <a:lnSpc>
                <a:spcPct val="150000"/>
              </a:lnSpc>
            </a:pPr>
            <a:r>
              <a:rPr lang="pt-BR" sz="3600" dirty="0" smtClean="0">
                <a:latin typeface="Consolas" panose="020B0609020204030204" pitchFamily="49" charset="0"/>
              </a:rPr>
              <a:t>	ALUNO.NOME </a:t>
            </a:r>
            <a:r>
              <a:rPr lang="pt-BR" sz="3600" dirty="0">
                <a:latin typeface="Consolas" panose="020B0609020204030204" pitchFamily="49" charset="0"/>
              </a:rPr>
              <a:t>AS ALUNO_NOME,</a:t>
            </a:r>
          </a:p>
          <a:p>
            <a:pPr>
              <a:lnSpc>
                <a:spcPct val="150000"/>
              </a:lnSpc>
            </a:pPr>
            <a:r>
              <a:rPr lang="pt-BR" sz="3600" dirty="0" smtClean="0">
                <a:latin typeface="Consolas" panose="020B0609020204030204" pitchFamily="49" charset="0"/>
              </a:rPr>
              <a:t>	CURSO.ID </a:t>
            </a:r>
            <a:r>
              <a:rPr lang="pt-BR" sz="3600" dirty="0">
                <a:latin typeface="Consolas" panose="020B0609020204030204" pitchFamily="49" charset="0"/>
              </a:rPr>
              <a:t>AS CURSO_ID,</a:t>
            </a:r>
          </a:p>
          <a:p>
            <a:pPr>
              <a:lnSpc>
                <a:spcPct val="150000"/>
              </a:lnSpc>
            </a:pPr>
            <a:r>
              <a:rPr lang="pt-BR" sz="3600" dirty="0" smtClean="0">
                <a:latin typeface="Consolas" panose="020B0609020204030204" pitchFamily="49" charset="0"/>
              </a:rPr>
              <a:t>	CURSO.NOME </a:t>
            </a:r>
            <a:r>
              <a:rPr lang="pt-BR" sz="3600" dirty="0">
                <a:latin typeface="Consolas" panose="020B0609020204030204" pitchFamily="49" charset="0"/>
              </a:rPr>
              <a:t>AS CURSO_NOME</a:t>
            </a:r>
          </a:p>
          <a:p>
            <a:pPr>
              <a:lnSpc>
                <a:spcPct val="150000"/>
              </a:lnSpc>
            </a:pPr>
            <a:r>
              <a:rPr lang="pt-BR" sz="3600" b="1" dirty="0" smtClean="0">
                <a:latin typeface="Consolas" panose="020B0609020204030204" pitchFamily="49" charset="0"/>
              </a:rPr>
              <a:t>FROM</a:t>
            </a:r>
          </a:p>
          <a:p>
            <a:pPr>
              <a:lnSpc>
                <a:spcPct val="150000"/>
              </a:lnSpc>
            </a:pPr>
            <a:r>
              <a:rPr lang="pt-BR" sz="3600" b="1" dirty="0">
                <a:solidFill>
                  <a:srgbClr val="FF0000"/>
                </a:solidFill>
                <a:latin typeface="Consolas" panose="020B0609020204030204" pitchFamily="49" charset="0"/>
              </a:rPr>
              <a:t>	</a:t>
            </a:r>
            <a:r>
              <a:rPr lang="pt-BR" sz="3600" b="1" dirty="0" smtClean="0">
                <a:solidFill>
                  <a:srgbClr val="0070C0"/>
                </a:solidFill>
                <a:latin typeface="Consolas" panose="020B0609020204030204" pitchFamily="49" charset="0"/>
              </a:rPr>
              <a:t>ALUNO</a:t>
            </a:r>
            <a:r>
              <a:rPr lang="pt-BR" sz="3600" dirty="0" smtClean="0">
                <a:latin typeface="Consolas" panose="020B0609020204030204" pitchFamily="49" charset="0"/>
              </a:rPr>
              <a:t> </a:t>
            </a:r>
            <a:r>
              <a:rPr lang="pt-BR" sz="3600" b="1" dirty="0" smtClean="0">
                <a:solidFill>
                  <a:srgbClr val="FF0000"/>
                </a:solidFill>
                <a:latin typeface="Consolas" panose="020B0609020204030204" pitchFamily="49" charset="0"/>
              </a:rPr>
              <a:t>LEFT</a:t>
            </a:r>
            <a:r>
              <a:rPr lang="pt-BR" sz="3600" dirty="0" smtClean="0">
                <a:latin typeface="Consolas" panose="020B0609020204030204" pitchFamily="49" charset="0"/>
              </a:rPr>
              <a:t> </a:t>
            </a:r>
            <a:r>
              <a:rPr lang="pt-BR" sz="3600" dirty="0">
                <a:latin typeface="Consolas" panose="020B0609020204030204" pitchFamily="49" charset="0"/>
              </a:rPr>
              <a:t>JOIN </a:t>
            </a:r>
            <a:r>
              <a:rPr lang="pt-BR" sz="3600" b="1" dirty="0">
                <a:solidFill>
                  <a:srgbClr val="00B050"/>
                </a:solidFill>
                <a:latin typeface="Consolas" panose="020B0609020204030204" pitchFamily="49" charset="0"/>
              </a:rPr>
              <a:t>CURSO</a:t>
            </a:r>
            <a:r>
              <a:rPr lang="pt-BR" sz="3600" dirty="0">
                <a:latin typeface="Consolas" panose="020B0609020204030204" pitchFamily="49" charset="0"/>
              </a:rPr>
              <a:t> </a:t>
            </a:r>
            <a:endParaRPr lang="pt-BR" sz="3600" dirty="0" smtClean="0">
              <a:latin typeface="Consolas" panose="020B0609020204030204" pitchFamily="49" charset="0"/>
            </a:endParaRPr>
          </a:p>
          <a:p>
            <a:pPr>
              <a:lnSpc>
                <a:spcPct val="150000"/>
              </a:lnSpc>
            </a:pPr>
            <a:r>
              <a:rPr lang="pt-BR" sz="3600" dirty="0" smtClean="0">
                <a:latin typeface="Consolas" panose="020B0609020204030204" pitchFamily="49" charset="0"/>
              </a:rPr>
              <a:t>	ON </a:t>
            </a:r>
            <a:r>
              <a:rPr lang="pt-BR" sz="3600" dirty="0">
                <a:latin typeface="Consolas" panose="020B0609020204030204" pitchFamily="49" charset="0"/>
              </a:rPr>
              <a:t>ALUNO.CURSO_ID = </a:t>
            </a:r>
            <a:r>
              <a:rPr lang="pt-BR" sz="3600" dirty="0" smtClean="0">
                <a:latin typeface="Consolas" panose="020B0609020204030204" pitchFamily="49" charset="0"/>
              </a:rPr>
              <a:t>CURSO.ID</a:t>
            </a:r>
            <a:endParaRPr lang="pt-BR" sz="3600" dirty="0">
              <a:latin typeface="Consolas" panose="020B0609020204030204" pitchFamily="49" charset="0"/>
            </a:endParaRPr>
          </a:p>
        </p:txBody>
      </p:sp>
    </p:spTree>
    <p:extLst>
      <p:ext uri="{BB962C8B-B14F-4D97-AF65-F5344CB8AC3E}">
        <p14:creationId xmlns:p14="http://schemas.microsoft.com/office/powerpoint/2010/main" val="206971924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20104100" cy="11151870"/>
          </a:xfrm>
          <a:custGeom>
            <a:avLst/>
            <a:gdLst/>
            <a:ahLst/>
            <a:cxnLst/>
            <a:rect l="l" t="t" r="r" b="b"/>
            <a:pathLst>
              <a:path w="20104100" h="11151870">
                <a:moveTo>
                  <a:pt x="0" y="11151492"/>
                </a:moveTo>
                <a:lnTo>
                  <a:pt x="20104099" y="11151492"/>
                </a:lnTo>
                <a:lnTo>
                  <a:pt x="20104099" y="0"/>
                </a:lnTo>
                <a:lnTo>
                  <a:pt x="0" y="0"/>
                </a:lnTo>
                <a:lnTo>
                  <a:pt x="0" y="11151492"/>
                </a:lnTo>
                <a:close/>
              </a:path>
            </a:pathLst>
          </a:custGeom>
          <a:solidFill>
            <a:schemeClr val="bg1"/>
          </a:solidFill>
        </p:spPr>
        <p:txBody>
          <a:bodyPr wrap="square" lIns="0" tIns="0" rIns="0" bIns="0" rtlCol="0"/>
          <a:lstStyle/>
          <a:p>
            <a:endParaRPr dirty="0"/>
          </a:p>
        </p:txBody>
      </p:sp>
      <p:grpSp>
        <p:nvGrpSpPr>
          <p:cNvPr id="3" name="object 3"/>
          <p:cNvGrpSpPr/>
          <p:nvPr/>
        </p:nvGrpSpPr>
        <p:grpSpPr>
          <a:xfrm>
            <a:off x="15364003" y="1047088"/>
            <a:ext cx="3693160" cy="942975"/>
            <a:chOff x="15364003" y="1047088"/>
            <a:chExt cx="3693160" cy="942975"/>
          </a:xfrm>
        </p:grpSpPr>
        <p:sp>
          <p:nvSpPr>
            <p:cNvPr id="4" name="object 4"/>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5" name="object 5"/>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6" name="object 6"/>
          <p:cNvSpPr/>
          <p:nvPr/>
        </p:nvSpPr>
        <p:spPr>
          <a:xfrm flipH="1">
            <a:off x="908050" y="1047088"/>
            <a:ext cx="139038" cy="2092987"/>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7" name="object 7"/>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8" name="object 8"/>
          <p:cNvSpPr/>
          <p:nvPr/>
        </p:nvSpPr>
        <p:spPr>
          <a:xfrm>
            <a:off x="17957569"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9" name="object 9"/>
          <p:cNvSpPr/>
          <p:nvPr/>
        </p:nvSpPr>
        <p:spPr>
          <a:xfrm>
            <a:off x="17957569"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0" name="object 10"/>
          <p:cNvSpPr/>
          <p:nvPr/>
        </p:nvSpPr>
        <p:spPr>
          <a:xfrm>
            <a:off x="17957569"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1" name="object 11"/>
          <p:cNvSpPr/>
          <p:nvPr/>
        </p:nvSpPr>
        <p:spPr>
          <a:xfrm>
            <a:off x="18219340"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2" name="object 12"/>
          <p:cNvSpPr/>
          <p:nvPr/>
        </p:nvSpPr>
        <p:spPr>
          <a:xfrm>
            <a:off x="18219340"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3" name="object 13"/>
          <p:cNvSpPr/>
          <p:nvPr/>
        </p:nvSpPr>
        <p:spPr>
          <a:xfrm>
            <a:off x="18219340"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4" name="object 14"/>
          <p:cNvSpPr/>
          <p:nvPr/>
        </p:nvSpPr>
        <p:spPr>
          <a:xfrm>
            <a:off x="18481112"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5" name="object 15"/>
          <p:cNvSpPr/>
          <p:nvPr/>
        </p:nvSpPr>
        <p:spPr>
          <a:xfrm>
            <a:off x="18481112"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6" name="object 16"/>
          <p:cNvSpPr/>
          <p:nvPr/>
        </p:nvSpPr>
        <p:spPr>
          <a:xfrm>
            <a:off x="18481112"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7" name="object 17"/>
          <p:cNvSpPr/>
          <p:nvPr/>
        </p:nvSpPr>
        <p:spPr>
          <a:xfrm>
            <a:off x="18742885"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8" name="object 18"/>
          <p:cNvSpPr/>
          <p:nvPr/>
        </p:nvSpPr>
        <p:spPr>
          <a:xfrm>
            <a:off x="18742885"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9" name="object 19"/>
          <p:cNvSpPr/>
          <p:nvPr/>
        </p:nvSpPr>
        <p:spPr>
          <a:xfrm>
            <a:off x="18742885"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0" name="object 20"/>
          <p:cNvSpPr/>
          <p:nvPr/>
        </p:nvSpPr>
        <p:spPr>
          <a:xfrm>
            <a:off x="19004657"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1" name="object 21"/>
          <p:cNvSpPr/>
          <p:nvPr/>
        </p:nvSpPr>
        <p:spPr>
          <a:xfrm>
            <a:off x="19004657"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2" name="object 22"/>
          <p:cNvSpPr/>
          <p:nvPr/>
        </p:nvSpPr>
        <p:spPr>
          <a:xfrm>
            <a:off x="19004657"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3" name="object 23"/>
          <p:cNvSpPr/>
          <p:nvPr/>
        </p:nvSpPr>
        <p:spPr>
          <a:xfrm>
            <a:off x="19266428"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4" name="object 24"/>
          <p:cNvSpPr/>
          <p:nvPr/>
        </p:nvSpPr>
        <p:spPr>
          <a:xfrm>
            <a:off x="19266428"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5" name="object 25"/>
          <p:cNvSpPr/>
          <p:nvPr/>
        </p:nvSpPr>
        <p:spPr>
          <a:xfrm>
            <a:off x="19266428"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6" name="object 26"/>
          <p:cNvSpPr/>
          <p:nvPr/>
        </p:nvSpPr>
        <p:spPr>
          <a:xfrm>
            <a:off x="19528201"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7" name="object 27"/>
          <p:cNvSpPr/>
          <p:nvPr/>
        </p:nvSpPr>
        <p:spPr>
          <a:xfrm>
            <a:off x="19528201"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8" name="object 28"/>
          <p:cNvSpPr/>
          <p:nvPr/>
        </p:nvSpPr>
        <p:spPr>
          <a:xfrm>
            <a:off x="19528201"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9" name="object 29"/>
          <p:cNvSpPr/>
          <p:nvPr/>
        </p:nvSpPr>
        <p:spPr>
          <a:xfrm>
            <a:off x="19789973"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0" name="object 30"/>
          <p:cNvSpPr/>
          <p:nvPr/>
        </p:nvSpPr>
        <p:spPr>
          <a:xfrm>
            <a:off x="19789973"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1" name="object 31"/>
          <p:cNvSpPr/>
          <p:nvPr/>
        </p:nvSpPr>
        <p:spPr>
          <a:xfrm>
            <a:off x="19789973"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4" name="object 34"/>
          <p:cNvSpPr/>
          <p:nvPr/>
        </p:nvSpPr>
        <p:spPr>
          <a:xfrm>
            <a:off x="1570632" y="9057315"/>
            <a:ext cx="0" cy="1570990"/>
          </a:xfrm>
          <a:custGeom>
            <a:avLst/>
            <a:gdLst/>
            <a:ahLst/>
            <a:cxnLst/>
            <a:rect l="l" t="t" r="r" b="b"/>
            <a:pathLst>
              <a:path h="1570990">
                <a:moveTo>
                  <a:pt x="0" y="0"/>
                </a:moveTo>
                <a:lnTo>
                  <a:pt x="0" y="1570632"/>
                </a:lnTo>
              </a:path>
            </a:pathLst>
          </a:custGeom>
          <a:ln w="31412">
            <a:solidFill>
              <a:srgbClr val="C1272C"/>
            </a:solidFill>
          </a:ln>
        </p:spPr>
        <p:txBody>
          <a:bodyPr wrap="square" lIns="0" tIns="0" rIns="0" bIns="0" rtlCol="0"/>
          <a:lstStyle/>
          <a:p>
            <a:endParaRPr/>
          </a:p>
        </p:txBody>
      </p:sp>
      <p:sp>
        <p:nvSpPr>
          <p:cNvPr id="35" name="object 35"/>
          <p:cNvSpPr txBox="1"/>
          <p:nvPr/>
        </p:nvSpPr>
        <p:spPr>
          <a:xfrm>
            <a:off x="1779699" y="9322297"/>
            <a:ext cx="6263640" cy="1040670"/>
          </a:xfrm>
          <a:prstGeom prst="rect">
            <a:avLst/>
          </a:prstGeom>
        </p:spPr>
        <p:txBody>
          <a:bodyPr vert="horz" wrap="square" lIns="0" tIns="12065" rIns="0" bIns="0" rtlCol="0">
            <a:spAutoFit/>
          </a:bodyPr>
          <a:lstStyle/>
          <a:p>
            <a:pPr marL="12700">
              <a:lnSpc>
                <a:spcPct val="100000"/>
              </a:lnSpc>
              <a:spcBef>
                <a:spcPts val="95"/>
              </a:spcBef>
            </a:pPr>
            <a:r>
              <a:rPr lang="pt-BR" sz="3300" b="1" spc="-5" dirty="0" smtClean="0">
                <a:solidFill>
                  <a:srgbClr val="0070C0"/>
                </a:solidFill>
                <a:latin typeface="Montserrat ExtraBold"/>
                <a:cs typeface="Montserrat ExtraBold"/>
              </a:rPr>
              <a:t>TABELA ALUNO</a:t>
            </a:r>
          </a:p>
          <a:p>
            <a:pPr marL="12700">
              <a:lnSpc>
                <a:spcPct val="100000"/>
              </a:lnSpc>
              <a:spcBef>
                <a:spcPts val="95"/>
              </a:spcBef>
            </a:pPr>
            <a:r>
              <a:rPr lang="pt-BR" sz="3300" b="1" spc="-5" dirty="0" smtClean="0">
                <a:solidFill>
                  <a:srgbClr val="00B050"/>
                </a:solidFill>
                <a:latin typeface="Montserrat ExtraBold"/>
                <a:cs typeface="Montserrat ExtraBold"/>
              </a:rPr>
              <a:t>TABELA CURSO</a:t>
            </a:r>
            <a:endParaRPr sz="3300" dirty="0">
              <a:solidFill>
                <a:srgbClr val="00B050"/>
              </a:solidFill>
              <a:latin typeface="Montserrat ExtraBold"/>
              <a:cs typeface="Montserrat ExtraBold"/>
            </a:endParaRPr>
          </a:p>
        </p:txBody>
      </p:sp>
      <p:sp>
        <p:nvSpPr>
          <p:cNvPr id="36" name="object 36"/>
          <p:cNvSpPr txBox="1">
            <a:spLocks noGrp="1"/>
          </p:cNvSpPr>
          <p:nvPr>
            <p:ph type="title"/>
          </p:nvPr>
        </p:nvSpPr>
        <p:spPr>
          <a:xfrm>
            <a:off x="1509065" y="984549"/>
            <a:ext cx="14181785" cy="1525418"/>
          </a:xfrm>
          <a:prstGeom prst="rect">
            <a:avLst/>
          </a:prstGeom>
        </p:spPr>
        <p:txBody>
          <a:bodyPr vert="horz" wrap="square" lIns="0" tIns="12065" rIns="0" bIns="0" rtlCol="0">
            <a:spAutoFit/>
          </a:bodyPr>
          <a:lstStyle/>
          <a:p>
            <a:pPr marL="12700">
              <a:lnSpc>
                <a:spcPts val="5940"/>
              </a:lnSpc>
              <a:spcBef>
                <a:spcPts val="95"/>
              </a:spcBef>
            </a:pPr>
            <a:r>
              <a:rPr lang="pt-BR" sz="4950" b="1" spc="-15" dirty="0" smtClean="0">
                <a:solidFill>
                  <a:schemeClr val="tx1"/>
                </a:solidFill>
                <a:latin typeface="Montserrat ExtraBold"/>
                <a:cs typeface="Montserrat ExtraBold"/>
              </a:rPr>
              <a:t>EXEMPLOS</a:t>
            </a:r>
            <a:endParaRPr sz="4950" dirty="0">
              <a:solidFill>
                <a:schemeClr val="tx1"/>
              </a:solidFill>
              <a:latin typeface="Montserrat ExtraBold"/>
              <a:cs typeface="Montserrat ExtraBold"/>
            </a:endParaRPr>
          </a:p>
          <a:p>
            <a:pPr marL="12700">
              <a:lnSpc>
                <a:spcPts val="5940"/>
              </a:lnSpc>
            </a:pPr>
            <a:r>
              <a:rPr lang="pt-BR" sz="4950" spc="-25" dirty="0">
                <a:solidFill>
                  <a:schemeClr val="tx1"/>
                </a:solidFill>
                <a:latin typeface="Montserrat"/>
                <a:cs typeface="Montserrat"/>
              </a:rPr>
              <a:t>JUNÇÃO ENTRE ALUNOS E CURSOS</a:t>
            </a:r>
            <a:endParaRPr sz="4950" dirty="0">
              <a:solidFill>
                <a:schemeClr val="tx1"/>
              </a:solidFill>
              <a:latin typeface="Montserrat"/>
              <a:cs typeface="Montserrat"/>
            </a:endParaRPr>
          </a:p>
        </p:txBody>
      </p:sp>
      <p:sp>
        <p:nvSpPr>
          <p:cNvPr id="39" name="CaixaDeTexto 38"/>
          <p:cNvSpPr txBox="1"/>
          <p:nvPr/>
        </p:nvSpPr>
        <p:spPr>
          <a:xfrm>
            <a:off x="1898650" y="6539144"/>
            <a:ext cx="2938351" cy="646331"/>
          </a:xfrm>
          <a:prstGeom prst="rect">
            <a:avLst/>
          </a:prstGeom>
          <a:noFill/>
        </p:spPr>
        <p:txBody>
          <a:bodyPr wrap="square" rtlCol="0">
            <a:spAutoFit/>
          </a:bodyPr>
          <a:lstStyle/>
          <a:p>
            <a:pPr algn="ctr"/>
            <a:r>
              <a:rPr lang="pt-BR" sz="3600" b="1" spc="15" dirty="0" smtClean="0">
                <a:solidFill>
                  <a:srgbClr val="333333"/>
                </a:solidFill>
                <a:latin typeface="Montserrat ExtraBold" panose="020B0604020202020204" charset="0"/>
                <a:cs typeface="Montserrat ExtraBold"/>
              </a:rPr>
              <a:t>RIGHT</a:t>
            </a:r>
            <a:r>
              <a:rPr lang="pt-BR" sz="3600" spc="15" dirty="0" smtClean="0">
                <a:solidFill>
                  <a:srgbClr val="333333"/>
                </a:solidFill>
                <a:latin typeface="Montserrat Light"/>
                <a:cs typeface="Montserrat ExtraBold"/>
              </a:rPr>
              <a:t> JOIN</a:t>
            </a:r>
            <a:endParaRPr lang="pt-BR" sz="3600" dirty="0">
              <a:latin typeface="Montserrat ExtraBold"/>
              <a:cs typeface="Montserrat ExtraBold"/>
            </a:endParaRPr>
          </a:p>
        </p:txBody>
      </p:sp>
      <p:grpSp>
        <p:nvGrpSpPr>
          <p:cNvPr id="43" name="Agrupar 42"/>
          <p:cNvGrpSpPr/>
          <p:nvPr/>
        </p:nvGrpSpPr>
        <p:grpSpPr>
          <a:xfrm>
            <a:off x="910741" y="3481668"/>
            <a:ext cx="4656470" cy="3139878"/>
            <a:chOff x="13835785" y="3533805"/>
            <a:chExt cx="4656470" cy="3139878"/>
          </a:xfrm>
        </p:grpSpPr>
        <p:pic>
          <p:nvPicPr>
            <p:cNvPr id="44" name="Imagem 43"/>
            <p:cNvPicPr>
              <a:picLocks noChangeAspect="1"/>
            </p:cNvPicPr>
            <p:nvPr/>
          </p:nvPicPr>
          <p:blipFill>
            <a:blip r:embed="rId2"/>
            <a:stretch>
              <a:fillRect/>
            </a:stretch>
          </p:blipFill>
          <p:spPr>
            <a:xfrm>
              <a:off x="13835785" y="3533805"/>
              <a:ext cx="4656470" cy="3139878"/>
            </a:xfrm>
            <a:prstGeom prst="rect">
              <a:avLst/>
            </a:prstGeom>
          </p:spPr>
        </p:pic>
        <p:sp>
          <p:nvSpPr>
            <p:cNvPr id="45" name="CaixaDeTexto 44"/>
            <p:cNvSpPr txBox="1"/>
            <p:nvPr/>
          </p:nvSpPr>
          <p:spPr>
            <a:xfrm>
              <a:off x="14182571" y="4968333"/>
              <a:ext cx="1371600" cy="400110"/>
            </a:xfrm>
            <a:prstGeom prst="rect">
              <a:avLst/>
            </a:prstGeom>
            <a:noFill/>
          </p:spPr>
          <p:txBody>
            <a:bodyPr wrap="square" rtlCol="0">
              <a:spAutoFit/>
            </a:bodyPr>
            <a:lstStyle/>
            <a:p>
              <a:r>
                <a:rPr lang="pt-BR" sz="2000" dirty="0" smtClean="0">
                  <a:latin typeface="Montserrat ExtraBold" panose="020B0604020202020204" charset="0"/>
                </a:rPr>
                <a:t>ALUNOS</a:t>
              </a:r>
              <a:endParaRPr lang="pt-BR" sz="2000" dirty="0">
                <a:latin typeface="Montserrat ExtraBold" panose="020B0604020202020204" charset="0"/>
              </a:endParaRPr>
            </a:p>
          </p:txBody>
        </p:sp>
        <p:sp>
          <p:nvSpPr>
            <p:cNvPr id="51" name="CaixaDeTexto 50"/>
            <p:cNvSpPr txBox="1"/>
            <p:nvPr/>
          </p:nvSpPr>
          <p:spPr>
            <a:xfrm>
              <a:off x="16889022" y="4968333"/>
              <a:ext cx="1371600" cy="400110"/>
            </a:xfrm>
            <a:prstGeom prst="rect">
              <a:avLst/>
            </a:prstGeom>
            <a:noFill/>
          </p:spPr>
          <p:txBody>
            <a:bodyPr wrap="square" rtlCol="0">
              <a:spAutoFit/>
            </a:bodyPr>
            <a:lstStyle/>
            <a:p>
              <a:r>
                <a:rPr lang="pt-BR" sz="2000" dirty="0" smtClean="0">
                  <a:latin typeface="Montserrat ExtraBold" panose="020B0604020202020204" charset="0"/>
                </a:rPr>
                <a:t>CURSOS</a:t>
              </a:r>
              <a:endParaRPr lang="pt-BR" sz="2000" dirty="0">
                <a:latin typeface="Montserrat ExtraBold" panose="020B0604020202020204" charset="0"/>
              </a:endParaRPr>
            </a:p>
          </p:txBody>
        </p:sp>
        <p:sp>
          <p:nvSpPr>
            <p:cNvPr id="52" name="CaixaDeTexto 51"/>
            <p:cNvSpPr txBox="1"/>
            <p:nvPr/>
          </p:nvSpPr>
          <p:spPr>
            <a:xfrm>
              <a:off x="15516722" y="4634277"/>
              <a:ext cx="1371600" cy="1015663"/>
            </a:xfrm>
            <a:prstGeom prst="rect">
              <a:avLst/>
            </a:prstGeom>
            <a:noFill/>
          </p:spPr>
          <p:txBody>
            <a:bodyPr wrap="square" rtlCol="0">
              <a:spAutoFit/>
            </a:bodyPr>
            <a:lstStyle/>
            <a:p>
              <a:pPr algn="ctr"/>
              <a:r>
                <a:rPr lang="pt-BR" sz="2000" dirty="0" smtClean="0">
                  <a:latin typeface="Montserrat ExtraBold" panose="020B0604020202020204" charset="0"/>
                </a:rPr>
                <a:t>ALUNOS </a:t>
              </a:r>
              <a:br>
                <a:rPr lang="pt-BR" sz="2000" dirty="0" smtClean="0">
                  <a:latin typeface="Montserrat ExtraBold" panose="020B0604020202020204" charset="0"/>
                </a:rPr>
              </a:br>
              <a:r>
                <a:rPr lang="pt-BR" sz="2000" dirty="0" smtClean="0">
                  <a:latin typeface="Montserrat ExtraBold" panose="020B0604020202020204" charset="0"/>
                </a:rPr>
                <a:t>E</a:t>
              </a:r>
              <a:br>
                <a:rPr lang="pt-BR" sz="2000" dirty="0" smtClean="0">
                  <a:latin typeface="Montserrat ExtraBold" panose="020B0604020202020204" charset="0"/>
                </a:rPr>
              </a:br>
              <a:r>
                <a:rPr lang="pt-BR" sz="2000" dirty="0" smtClean="0">
                  <a:latin typeface="Montserrat ExtraBold" panose="020B0604020202020204" charset="0"/>
                </a:rPr>
                <a:t>CURSOS</a:t>
              </a:r>
              <a:endParaRPr lang="pt-BR" sz="2000" dirty="0">
                <a:latin typeface="Montserrat ExtraBold" panose="020B0604020202020204" charset="0"/>
              </a:endParaRPr>
            </a:p>
          </p:txBody>
        </p:sp>
      </p:grpSp>
      <p:pic>
        <p:nvPicPr>
          <p:cNvPr id="38" name="Imagem 37"/>
          <p:cNvPicPr>
            <a:picLocks noChangeAspect="1"/>
          </p:cNvPicPr>
          <p:nvPr/>
        </p:nvPicPr>
        <p:blipFill>
          <a:blip r:embed="rId3"/>
          <a:stretch>
            <a:fillRect/>
          </a:stretch>
        </p:blipFill>
        <p:spPr>
          <a:xfrm>
            <a:off x="5553812" y="3480381"/>
            <a:ext cx="14545822" cy="5896955"/>
          </a:xfrm>
          <a:prstGeom prst="rect">
            <a:avLst/>
          </a:prstGeom>
        </p:spPr>
      </p:pic>
    </p:spTree>
    <p:extLst>
      <p:ext uri="{BB962C8B-B14F-4D97-AF65-F5344CB8AC3E}">
        <p14:creationId xmlns:p14="http://schemas.microsoft.com/office/powerpoint/2010/main" val="2610484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20104100" cy="11151870"/>
          </a:xfrm>
          <a:custGeom>
            <a:avLst/>
            <a:gdLst/>
            <a:ahLst/>
            <a:cxnLst/>
            <a:rect l="l" t="t" r="r" b="b"/>
            <a:pathLst>
              <a:path w="20104100" h="11151870">
                <a:moveTo>
                  <a:pt x="0" y="11151492"/>
                </a:moveTo>
                <a:lnTo>
                  <a:pt x="20104099" y="11151492"/>
                </a:lnTo>
                <a:lnTo>
                  <a:pt x="20104099" y="0"/>
                </a:lnTo>
                <a:lnTo>
                  <a:pt x="0" y="0"/>
                </a:lnTo>
                <a:lnTo>
                  <a:pt x="0" y="11151492"/>
                </a:lnTo>
                <a:close/>
              </a:path>
            </a:pathLst>
          </a:custGeom>
          <a:solidFill>
            <a:schemeClr val="bg1"/>
          </a:solidFill>
        </p:spPr>
        <p:txBody>
          <a:bodyPr wrap="square" lIns="0" tIns="0" rIns="0" bIns="0" rtlCol="0"/>
          <a:lstStyle/>
          <a:p>
            <a:endParaRPr dirty="0"/>
          </a:p>
        </p:txBody>
      </p:sp>
      <p:grpSp>
        <p:nvGrpSpPr>
          <p:cNvPr id="3" name="object 3"/>
          <p:cNvGrpSpPr/>
          <p:nvPr/>
        </p:nvGrpSpPr>
        <p:grpSpPr>
          <a:xfrm>
            <a:off x="15364003" y="1047088"/>
            <a:ext cx="3693160" cy="942975"/>
            <a:chOff x="15364003" y="1047088"/>
            <a:chExt cx="3693160" cy="942975"/>
          </a:xfrm>
        </p:grpSpPr>
        <p:sp>
          <p:nvSpPr>
            <p:cNvPr id="4" name="object 4"/>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5" name="object 5"/>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6" name="object 6"/>
          <p:cNvSpPr/>
          <p:nvPr/>
        </p:nvSpPr>
        <p:spPr>
          <a:xfrm flipH="1">
            <a:off x="908050" y="1047088"/>
            <a:ext cx="139038" cy="2092987"/>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7" name="object 7"/>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8" name="object 8"/>
          <p:cNvSpPr/>
          <p:nvPr/>
        </p:nvSpPr>
        <p:spPr>
          <a:xfrm>
            <a:off x="17957569"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9" name="object 9"/>
          <p:cNvSpPr/>
          <p:nvPr/>
        </p:nvSpPr>
        <p:spPr>
          <a:xfrm>
            <a:off x="17957569"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0" name="object 10"/>
          <p:cNvSpPr/>
          <p:nvPr/>
        </p:nvSpPr>
        <p:spPr>
          <a:xfrm>
            <a:off x="17957569"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1" name="object 11"/>
          <p:cNvSpPr/>
          <p:nvPr/>
        </p:nvSpPr>
        <p:spPr>
          <a:xfrm>
            <a:off x="18219340"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2" name="object 12"/>
          <p:cNvSpPr/>
          <p:nvPr/>
        </p:nvSpPr>
        <p:spPr>
          <a:xfrm>
            <a:off x="18219340"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3" name="object 13"/>
          <p:cNvSpPr/>
          <p:nvPr/>
        </p:nvSpPr>
        <p:spPr>
          <a:xfrm>
            <a:off x="18219340"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4" name="object 14"/>
          <p:cNvSpPr/>
          <p:nvPr/>
        </p:nvSpPr>
        <p:spPr>
          <a:xfrm>
            <a:off x="18481112"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5" name="object 15"/>
          <p:cNvSpPr/>
          <p:nvPr/>
        </p:nvSpPr>
        <p:spPr>
          <a:xfrm>
            <a:off x="18481112"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6" name="object 16"/>
          <p:cNvSpPr/>
          <p:nvPr/>
        </p:nvSpPr>
        <p:spPr>
          <a:xfrm>
            <a:off x="18481112"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7" name="object 17"/>
          <p:cNvSpPr/>
          <p:nvPr/>
        </p:nvSpPr>
        <p:spPr>
          <a:xfrm>
            <a:off x="18742885"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8" name="object 18"/>
          <p:cNvSpPr/>
          <p:nvPr/>
        </p:nvSpPr>
        <p:spPr>
          <a:xfrm>
            <a:off x="18742885"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9" name="object 19"/>
          <p:cNvSpPr/>
          <p:nvPr/>
        </p:nvSpPr>
        <p:spPr>
          <a:xfrm>
            <a:off x="18742885"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0" name="object 20"/>
          <p:cNvSpPr/>
          <p:nvPr/>
        </p:nvSpPr>
        <p:spPr>
          <a:xfrm>
            <a:off x="19004657"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1" name="object 21"/>
          <p:cNvSpPr/>
          <p:nvPr/>
        </p:nvSpPr>
        <p:spPr>
          <a:xfrm>
            <a:off x="19004657"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2" name="object 22"/>
          <p:cNvSpPr/>
          <p:nvPr/>
        </p:nvSpPr>
        <p:spPr>
          <a:xfrm>
            <a:off x="19004657"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3" name="object 23"/>
          <p:cNvSpPr/>
          <p:nvPr/>
        </p:nvSpPr>
        <p:spPr>
          <a:xfrm>
            <a:off x="19266428"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4" name="object 24"/>
          <p:cNvSpPr/>
          <p:nvPr/>
        </p:nvSpPr>
        <p:spPr>
          <a:xfrm>
            <a:off x="19266428"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5" name="object 25"/>
          <p:cNvSpPr/>
          <p:nvPr/>
        </p:nvSpPr>
        <p:spPr>
          <a:xfrm>
            <a:off x="19266428"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6" name="object 26"/>
          <p:cNvSpPr/>
          <p:nvPr/>
        </p:nvSpPr>
        <p:spPr>
          <a:xfrm>
            <a:off x="19528201"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7" name="object 27"/>
          <p:cNvSpPr/>
          <p:nvPr/>
        </p:nvSpPr>
        <p:spPr>
          <a:xfrm>
            <a:off x="19528201"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8" name="object 28"/>
          <p:cNvSpPr/>
          <p:nvPr/>
        </p:nvSpPr>
        <p:spPr>
          <a:xfrm>
            <a:off x="19528201"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9" name="object 29"/>
          <p:cNvSpPr/>
          <p:nvPr/>
        </p:nvSpPr>
        <p:spPr>
          <a:xfrm>
            <a:off x="19789973"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0" name="object 30"/>
          <p:cNvSpPr/>
          <p:nvPr/>
        </p:nvSpPr>
        <p:spPr>
          <a:xfrm>
            <a:off x="19789973"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1" name="object 31"/>
          <p:cNvSpPr/>
          <p:nvPr/>
        </p:nvSpPr>
        <p:spPr>
          <a:xfrm>
            <a:off x="19789973"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4" name="object 34"/>
          <p:cNvSpPr/>
          <p:nvPr/>
        </p:nvSpPr>
        <p:spPr>
          <a:xfrm>
            <a:off x="1570632" y="9057315"/>
            <a:ext cx="0" cy="1570990"/>
          </a:xfrm>
          <a:custGeom>
            <a:avLst/>
            <a:gdLst/>
            <a:ahLst/>
            <a:cxnLst/>
            <a:rect l="l" t="t" r="r" b="b"/>
            <a:pathLst>
              <a:path h="1570990">
                <a:moveTo>
                  <a:pt x="0" y="0"/>
                </a:moveTo>
                <a:lnTo>
                  <a:pt x="0" y="1570632"/>
                </a:lnTo>
              </a:path>
            </a:pathLst>
          </a:custGeom>
          <a:ln w="31412">
            <a:solidFill>
              <a:srgbClr val="C1272C"/>
            </a:solidFill>
          </a:ln>
        </p:spPr>
        <p:txBody>
          <a:bodyPr wrap="square" lIns="0" tIns="0" rIns="0" bIns="0" rtlCol="0"/>
          <a:lstStyle/>
          <a:p>
            <a:endParaRPr/>
          </a:p>
        </p:txBody>
      </p:sp>
      <p:sp>
        <p:nvSpPr>
          <p:cNvPr id="35" name="object 35"/>
          <p:cNvSpPr txBox="1"/>
          <p:nvPr/>
        </p:nvSpPr>
        <p:spPr>
          <a:xfrm>
            <a:off x="1779699" y="9322297"/>
            <a:ext cx="6263640" cy="1040670"/>
          </a:xfrm>
          <a:prstGeom prst="rect">
            <a:avLst/>
          </a:prstGeom>
        </p:spPr>
        <p:txBody>
          <a:bodyPr vert="horz" wrap="square" lIns="0" tIns="12065" rIns="0" bIns="0" rtlCol="0">
            <a:spAutoFit/>
          </a:bodyPr>
          <a:lstStyle/>
          <a:p>
            <a:pPr marL="12700">
              <a:lnSpc>
                <a:spcPct val="100000"/>
              </a:lnSpc>
              <a:spcBef>
                <a:spcPts val="95"/>
              </a:spcBef>
            </a:pPr>
            <a:r>
              <a:rPr lang="pt-BR" sz="3300" b="1" spc="-5" dirty="0" smtClean="0">
                <a:solidFill>
                  <a:srgbClr val="0070C0"/>
                </a:solidFill>
                <a:latin typeface="Montserrat ExtraBold"/>
                <a:cs typeface="Montserrat ExtraBold"/>
              </a:rPr>
              <a:t>TABELA ALUNO</a:t>
            </a:r>
          </a:p>
          <a:p>
            <a:pPr marL="12700">
              <a:lnSpc>
                <a:spcPct val="100000"/>
              </a:lnSpc>
              <a:spcBef>
                <a:spcPts val="95"/>
              </a:spcBef>
            </a:pPr>
            <a:r>
              <a:rPr lang="pt-BR" sz="3300" b="1" spc="-5" dirty="0" smtClean="0">
                <a:solidFill>
                  <a:srgbClr val="00B050"/>
                </a:solidFill>
                <a:latin typeface="Montserrat ExtraBold"/>
                <a:cs typeface="Montserrat ExtraBold"/>
              </a:rPr>
              <a:t>TABELA CURSO</a:t>
            </a:r>
            <a:endParaRPr sz="3300" dirty="0">
              <a:solidFill>
                <a:srgbClr val="00B050"/>
              </a:solidFill>
              <a:latin typeface="Montserrat ExtraBold"/>
              <a:cs typeface="Montserrat ExtraBold"/>
            </a:endParaRPr>
          </a:p>
        </p:txBody>
      </p:sp>
      <p:sp>
        <p:nvSpPr>
          <p:cNvPr id="36" name="object 36"/>
          <p:cNvSpPr txBox="1">
            <a:spLocks noGrp="1"/>
          </p:cNvSpPr>
          <p:nvPr>
            <p:ph type="title"/>
          </p:nvPr>
        </p:nvSpPr>
        <p:spPr>
          <a:xfrm>
            <a:off x="1509065" y="984549"/>
            <a:ext cx="14181785" cy="1525418"/>
          </a:xfrm>
          <a:prstGeom prst="rect">
            <a:avLst/>
          </a:prstGeom>
        </p:spPr>
        <p:txBody>
          <a:bodyPr vert="horz" wrap="square" lIns="0" tIns="12065" rIns="0" bIns="0" rtlCol="0">
            <a:spAutoFit/>
          </a:bodyPr>
          <a:lstStyle/>
          <a:p>
            <a:pPr marL="12700">
              <a:lnSpc>
                <a:spcPts val="5940"/>
              </a:lnSpc>
              <a:spcBef>
                <a:spcPts val="95"/>
              </a:spcBef>
            </a:pPr>
            <a:r>
              <a:rPr lang="pt-BR" sz="4950" b="1" spc="-15" dirty="0" smtClean="0">
                <a:solidFill>
                  <a:schemeClr val="tx1"/>
                </a:solidFill>
                <a:latin typeface="Montserrat ExtraBold"/>
                <a:cs typeface="Montserrat ExtraBold"/>
              </a:rPr>
              <a:t>EXEMPLOS</a:t>
            </a:r>
            <a:endParaRPr sz="4950" dirty="0">
              <a:solidFill>
                <a:schemeClr val="tx1"/>
              </a:solidFill>
              <a:latin typeface="Montserrat ExtraBold"/>
              <a:cs typeface="Montserrat ExtraBold"/>
            </a:endParaRPr>
          </a:p>
          <a:p>
            <a:pPr marL="12700">
              <a:lnSpc>
                <a:spcPts val="5940"/>
              </a:lnSpc>
            </a:pPr>
            <a:r>
              <a:rPr lang="pt-BR" sz="4950" spc="-25" dirty="0">
                <a:solidFill>
                  <a:schemeClr val="tx1"/>
                </a:solidFill>
                <a:latin typeface="Montserrat"/>
                <a:cs typeface="Montserrat"/>
              </a:rPr>
              <a:t>JUNÇÃO ENTRE ALUNOS E CURSOS</a:t>
            </a:r>
            <a:endParaRPr sz="4950" dirty="0">
              <a:solidFill>
                <a:schemeClr val="tx1"/>
              </a:solidFill>
              <a:latin typeface="Montserrat"/>
              <a:cs typeface="Montserrat"/>
            </a:endParaRPr>
          </a:p>
        </p:txBody>
      </p:sp>
      <p:sp>
        <p:nvSpPr>
          <p:cNvPr id="39" name="CaixaDeTexto 38"/>
          <p:cNvSpPr txBox="1"/>
          <p:nvPr/>
        </p:nvSpPr>
        <p:spPr>
          <a:xfrm>
            <a:off x="1898650" y="6539144"/>
            <a:ext cx="2938351" cy="646331"/>
          </a:xfrm>
          <a:prstGeom prst="rect">
            <a:avLst/>
          </a:prstGeom>
          <a:noFill/>
        </p:spPr>
        <p:txBody>
          <a:bodyPr wrap="square" rtlCol="0">
            <a:spAutoFit/>
          </a:bodyPr>
          <a:lstStyle/>
          <a:p>
            <a:pPr algn="ctr"/>
            <a:r>
              <a:rPr lang="pt-BR" sz="3600" b="1" spc="15" dirty="0" smtClean="0">
                <a:solidFill>
                  <a:srgbClr val="333333"/>
                </a:solidFill>
                <a:latin typeface="Montserrat ExtraBold" panose="020B0604020202020204" charset="0"/>
                <a:cs typeface="Montserrat ExtraBold"/>
              </a:rPr>
              <a:t>RIGHT</a:t>
            </a:r>
            <a:r>
              <a:rPr lang="pt-BR" sz="3600" spc="15" dirty="0" smtClean="0">
                <a:solidFill>
                  <a:srgbClr val="333333"/>
                </a:solidFill>
                <a:latin typeface="Montserrat Light"/>
                <a:cs typeface="Montserrat ExtraBold"/>
              </a:rPr>
              <a:t> JOIN</a:t>
            </a:r>
            <a:endParaRPr lang="pt-BR" sz="3600" dirty="0">
              <a:latin typeface="Montserrat ExtraBold"/>
              <a:cs typeface="Montserrat ExtraBold"/>
            </a:endParaRPr>
          </a:p>
        </p:txBody>
      </p:sp>
      <p:grpSp>
        <p:nvGrpSpPr>
          <p:cNvPr id="43" name="Agrupar 42"/>
          <p:cNvGrpSpPr/>
          <p:nvPr/>
        </p:nvGrpSpPr>
        <p:grpSpPr>
          <a:xfrm>
            <a:off x="910741" y="3481668"/>
            <a:ext cx="4656470" cy="3139878"/>
            <a:chOff x="13835785" y="3533805"/>
            <a:chExt cx="4656470" cy="3139878"/>
          </a:xfrm>
        </p:grpSpPr>
        <p:pic>
          <p:nvPicPr>
            <p:cNvPr id="44" name="Imagem 43"/>
            <p:cNvPicPr>
              <a:picLocks noChangeAspect="1"/>
            </p:cNvPicPr>
            <p:nvPr/>
          </p:nvPicPr>
          <p:blipFill>
            <a:blip r:embed="rId2"/>
            <a:stretch>
              <a:fillRect/>
            </a:stretch>
          </p:blipFill>
          <p:spPr>
            <a:xfrm>
              <a:off x="13835785" y="3533805"/>
              <a:ext cx="4656470" cy="3139878"/>
            </a:xfrm>
            <a:prstGeom prst="rect">
              <a:avLst/>
            </a:prstGeom>
          </p:spPr>
        </p:pic>
        <p:sp>
          <p:nvSpPr>
            <p:cNvPr id="45" name="CaixaDeTexto 44"/>
            <p:cNvSpPr txBox="1"/>
            <p:nvPr/>
          </p:nvSpPr>
          <p:spPr>
            <a:xfrm>
              <a:off x="14182571" y="4968333"/>
              <a:ext cx="1371600" cy="400110"/>
            </a:xfrm>
            <a:prstGeom prst="rect">
              <a:avLst/>
            </a:prstGeom>
            <a:noFill/>
          </p:spPr>
          <p:txBody>
            <a:bodyPr wrap="square" rtlCol="0">
              <a:spAutoFit/>
            </a:bodyPr>
            <a:lstStyle/>
            <a:p>
              <a:r>
                <a:rPr lang="pt-BR" sz="2000" dirty="0" smtClean="0">
                  <a:latin typeface="Montserrat ExtraBold" panose="020B0604020202020204" charset="0"/>
                </a:rPr>
                <a:t>ALUNOS</a:t>
              </a:r>
              <a:endParaRPr lang="pt-BR" sz="2000" dirty="0">
                <a:latin typeface="Montserrat ExtraBold" panose="020B0604020202020204" charset="0"/>
              </a:endParaRPr>
            </a:p>
          </p:txBody>
        </p:sp>
        <p:sp>
          <p:nvSpPr>
            <p:cNvPr id="51" name="CaixaDeTexto 50"/>
            <p:cNvSpPr txBox="1"/>
            <p:nvPr/>
          </p:nvSpPr>
          <p:spPr>
            <a:xfrm>
              <a:off x="16889022" y="4968333"/>
              <a:ext cx="1371600" cy="400110"/>
            </a:xfrm>
            <a:prstGeom prst="rect">
              <a:avLst/>
            </a:prstGeom>
            <a:noFill/>
          </p:spPr>
          <p:txBody>
            <a:bodyPr wrap="square" rtlCol="0">
              <a:spAutoFit/>
            </a:bodyPr>
            <a:lstStyle/>
            <a:p>
              <a:r>
                <a:rPr lang="pt-BR" sz="2000" dirty="0" smtClean="0">
                  <a:latin typeface="Montserrat ExtraBold" panose="020B0604020202020204" charset="0"/>
                </a:rPr>
                <a:t>CURSOS</a:t>
              </a:r>
              <a:endParaRPr lang="pt-BR" sz="2000" dirty="0">
                <a:latin typeface="Montserrat ExtraBold" panose="020B0604020202020204" charset="0"/>
              </a:endParaRPr>
            </a:p>
          </p:txBody>
        </p:sp>
        <p:sp>
          <p:nvSpPr>
            <p:cNvPr id="52" name="CaixaDeTexto 51"/>
            <p:cNvSpPr txBox="1"/>
            <p:nvPr/>
          </p:nvSpPr>
          <p:spPr>
            <a:xfrm>
              <a:off x="15516722" y="4634277"/>
              <a:ext cx="1371600" cy="1015663"/>
            </a:xfrm>
            <a:prstGeom prst="rect">
              <a:avLst/>
            </a:prstGeom>
            <a:noFill/>
          </p:spPr>
          <p:txBody>
            <a:bodyPr wrap="square" rtlCol="0">
              <a:spAutoFit/>
            </a:bodyPr>
            <a:lstStyle/>
            <a:p>
              <a:pPr algn="ctr"/>
              <a:r>
                <a:rPr lang="pt-BR" sz="2000" dirty="0" smtClean="0">
                  <a:latin typeface="Montserrat ExtraBold" panose="020B0604020202020204" charset="0"/>
                </a:rPr>
                <a:t>ALUNOS </a:t>
              </a:r>
              <a:br>
                <a:rPr lang="pt-BR" sz="2000" dirty="0" smtClean="0">
                  <a:latin typeface="Montserrat ExtraBold" panose="020B0604020202020204" charset="0"/>
                </a:rPr>
              </a:br>
              <a:r>
                <a:rPr lang="pt-BR" sz="2000" dirty="0" smtClean="0">
                  <a:latin typeface="Montserrat ExtraBold" panose="020B0604020202020204" charset="0"/>
                </a:rPr>
                <a:t>E</a:t>
              </a:r>
              <a:br>
                <a:rPr lang="pt-BR" sz="2000" dirty="0" smtClean="0">
                  <a:latin typeface="Montserrat ExtraBold" panose="020B0604020202020204" charset="0"/>
                </a:rPr>
              </a:br>
              <a:r>
                <a:rPr lang="pt-BR" sz="2000" dirty="0" smtClean="0">
                  <a:latin typeface="Montserrat ExtraBold" panose="020B0604020202020204" charset="0"/>
                </a:rPr>
                <a:t>CURSOS</a:t>
              </a:r>
              <a:endParaRPr lang="pt-BR" sz="2000" dirty="0">
                <a:latin typeface="Montserrat ExtraBold" panose="020B0604020202020204" charset="0"/>
              </a:endParaRPr>
            </a:p>
          </p:txBody>
        </p:sp>
      </p:grpSp>
      <p:sp>
        <p:nvSpPr>
          <p:cNvPr id="42" name="CaixaDeTexto 41"/>
          <p:cNvSpPr txBox="1"/>
          <p:nvPr/>
        </p:nvSpPr>
        <p:spPr>
          <a:xfrm>
            <a:off x="6466777" y="3598799"/>
            <a:ext cx="10553084" cy="6852287"/>
          </a:xfrm>
          <a:prstGeom prst="rect">
            <a:avLst/>
          </a:prstGeom>
          <a:solidFill>
            <a:srgbClr val="FFE9C9"/>
          </a:solidFill>
          <a:ln>
            <a:solidFill>
              <a:schemeClr val="tx1"/>
            </a:solidFill>
          </a:ln>
        </p:spPr>
        <p:txBody>
          <a:bodyPr wrap="square" rtlCol="0">
            <a:spAutoFit/>
          </a:bodyPr>
          <a:lstStyle/>
          <a:p>
            <a:pPr>
              <a:lnSpc>
                <a:spcPct val="150000"/>
              </a:lnSpc>
            </a:pPr>
            <a:r>
              <a:rPr lang="pt-BR" sz="3600" b="1" dirty="0">
                <a:latin typeface="Consolas" panose="020B0609020204030204" pitchFamily="49" charset="0"/>
              </a:rPr>
              <a:t>SELECT</a:t>
            </a:r>
          </a:p>
          <a:p>
            <a:pPr>
              <a:lnSpc>
                <a:spcPct val="150000"/>
              </a:lnSpc>
            </a:pPr>
            <a:r>
              <a:rPr lang="pt-BR" sz="3600" dirty="0" smtClean="0">
                <a:latin typeface="Consolas" panose="020B0609020204030204" pitchFamily="49" charset="0"/>
              </a:rPr>
              <a:t>	ALUNO.ID </a:t>
            </a:r>
            <a:r>
              <a:rPr lang="pt-BR" sz="3600" dirty="0">
                <a:latin typeface="Consolas" panose="020B0609020204030204" pitchFamily="49" charset="0"/>
              </a:rPr>
              <a:t>AS ALUNO_ID,</a:t>
            </a:r>
          </a:p>
          <a:p>
            <a:pPr>
              <a:lnSpc>
                <a:spcPct val="150000"/>
              </a:lnSpc>
            </a:pPr>
            <a:r>
              <a:rPr lang="pt-BR" sz="3600" dirty="0" smtClean="0">
                <a:latin typeface="Consolas" panose="020B0609020204030204" pitchFamily="49" charset="0"/>
              </a:rPr>
              <a:t>	ALUNO.NOME </a:t>
            </a:r>
            <a:r>
              <a:rPr lang="pt-BR" sz="3600" dirty="0">
                <a:latin typeface="Consolas" panose="020B0609020204030204" pitchFamily="49" charset="0"/>
              </a:rPr>
              <a:t>AS ALUNO_NOME,</a:t>
            </a:r>
          </a:p>
          <a:p>
            <a:pPr>
              <a:lnSpc>
                <a:spcPct val="150000"/>
              </a:lnSpc>
            </a:pPr>
            <a:r>
              <a:rPr lang="pt-BR" sz="3600" dirty="0" smtClean="0">
                <a:latin typeface="Consolas" panose="020B0609020204030204" pitchFamily="49" charset="0"/>
              </a:rPr>
              <a:t>	CURSO.ID </a:t>
            </a:r>
            <a:r>
              <a:rPr lang="pt-BR" sz="3600" dirty="0">
                <a:latin typeface="Consolas" panose="020B0609020204030204" pitchFamily="49" charset="0"/>
              </a:rPr>
              <a:t>AS CURSO_ID,</a:t>
            </a:r>
          </a:p>
          <a:p>
            <a:pPr>
              <a:lnSpc>
                <a:spcPct val="150000"/>
              </a:lnSpc>
            </a:pPr>
            <a:r>
              <a:rPr lang="pt-BR" sz="3600" dirty="0" smtClean="0">
                <a:latin typeface="Consolas" panose="020B0609020204030204" pitchFamily="49" charset="0"/>
              </a:rPr>
              <a:t>	CURSO.NOME </a:t>
            </a:r>
            <a:r>
              <a:rPr lang="pt-BR" sz="3600" dirty="0">
                <a:latin typeface="Consolas" panose="020B0609020204030204" pitchFamily="49" charset="0"/>
              </a:rPr>
              <a:t>AS CURSO_NOME</a:t>
            </a:r>
          </a:p>
          <a:p>
            <a:pPr>
              <a:lnSpc>
                <a:spcPct val="150000"/>
              </a:lnSpc>
            </a:pPr>
            <a:r>
              <a:rPr lang="pt-BR" sz="3600" b="1" dirty="0" smtClean="0">
                <a:latin typeface="Consolas" panose="020B0609020204030204" pitchFamily="49" charset="0"/>
              </a:rPr>
              <a:t>FROM</a:t>
            </a:r>
          </a:p>
          <a:p>
            <a:pPr>
              <a:lnSpc>
                <a:spcPct val="150000"/>
              </a:lnSpc>
            </a:pPr>
            <a:r>
              <a:rPr lang="pt-BR" sz="3600" b="1" dirty="0">
                <a:solidFill>
                  <a:srgbClr val="FF0000"/>
                </a:solidFill>
                <a:latin typeface="Consolas" panose="020B0609020204030204" pitchFamily="49" charset="0"/>
              </a:rPr>
              <a:t>	</a:t>
            </a:r>
            <a:r>
              <a:rPr lang="pt-BR" sz="3600" b="1" dirty="0" smtClean="0">
                <a:solidFill>
                  <a:srgbClr val="0070C0"/>
                </a:solidFill>
                <a:latin typeface="Consolas" panose="020B0609020204030204" pitchFamily="49" charset="0"/>
              </a:rPr>
              <a:t>ALUNO</a:t>
            </a:r>
            <a:r>
              <a:rPr lang="pt-BR" sz="3600" dirty="0" smtClean="0">
                <a:latin typeface="Consolas" panose="020B0609020204030204" pitchFamily="49" charset="0"/>
              </a:rPr>
              <a:t> </a:t>
            </a:r>
            <a:r>
              <a:rPr lang="pt-BR" sz="3600" b="1" dirty="0" smtClean="0">
                <a:solidFill>
                  <a:srgbClr val="FF0000"/>
                </a:solidFill>
                <a:latin typeface="Consolas" panose="020B0609020204030204" pitchFamily="49" charset="0"/>
              </a:rPr>
              <a:t>RIGHT</a:t>
            </a:r>
            <a:r>
              <a:rPr lang="pt-BR" sz="3600" dirty="0" smtClean="0">
                <a:latin typeface="Consolas" panose="020B0609020204030204" pitchFamily="49" charset="0"/>
              </a:rPr>
              <a:t> </a:t>
            </a:r>
            <a:r>
              <a:rPr lang="pt-BR" sz="3600" dirty="0">
                <a:latin typeface="Consolas" panose="020B0609020204030204" pitchFamily="49" charset="0"/>
              </a:rPr>
              <a:t>JOIN </a:t>
            </a:r>
            <a:r>
              <a:rPr lang="pt-BR" sz="3600" b="1" dirty="0">
                <a:solidFill>
                  <a:srgbClr val="00B050"/>
                </a:solidFill>
                <a:latin typeface="Consolas" panose="020B0609020204030204" pitchFamily="49" charset="0"/>
              </a:rPr>
              <a:t>CURSO</a:t>
            </a:r>
            <a:r>
              <a:rPr lang="pt-BR" sz="3600" dirty="0">
                <a:latin typeface="Consolas" panose="020B0609020204030204" pitchFamily="49" charset="0"/>
              </a:rPr>
              <a:t> </a:t>
            </a:r>
            <a:endParaRPr lang="pt-BR" sz="3600" dirty="0" smtClean="0">
              <a:latin typeface="Consolas" panose="020B0609020204030204" pitchFamily="49" charset="0"/>
            </a:endParaRPr>
          </a:p>
          <a:p>
            <a:pPr>
              <a:lnSpc>
                <a:spcPct val="150000"/>
              </a:lnSpc>
            </a:pPr>
            <a:r>
              <a:rPr lang="pt-BR" sz="3600" dirty="0" smtClean="0">
                <a:latin typeface="Consolas" panose="020B0609020204030204" pitchFamily="49" charset="0"/>
              </a:rPr>
              <a:t>	ON </a:t>
            </a:r>
            <a:r>
              <a:rPr lang="pt-BR" sz="3600" dirty="0">
                <a:latin typeface="Consolas" panose="020B0609020204030204" pitchFamily="49" charset="0"/>
              </a:rPr>
              <a:t>ALUNO.CURSO_ID = </a:t>
            </a:r>
            <a:r>
              <a:rPr lang="pt-BR" sz="3600" dirty="0" smtClean="0">
                <a:latin typeface="Consolas" panose="020B0609020204030204" pitchFamily="49" charset="0"/>
              </a:rPr>
              <a:t>CURSO.ID</a:t>
            </a:r>
            <a:endParaRPr lang="pt-BR" sz="3600" dirty="0">
              <a:latin typeface="Consolas" panose="020B0609020204030204" pitchFamily="49" charset="0"/>
            </a:endParaRPr>
          </a:p>
        </p:txBody>
      </p:sp>
    </p:spTree>
    <p:extLst>
      <p:ext uri="{BB962C8B-B14F-4D97-AF65-F5344CB8AC3E}">
        <p14:creationId xmlns:p14="http://schemas.microsoft.com/office/powerpoint/2010/main" val="10602571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flipH="1">
            <a:off x="-692150" y="440798"/>
            <a:ext cx="818490" cy="4528078"/>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grpSp>
        <p:nvGrpSpPr>
          <p:cNvPr id="4" name="object 4"/>
          <p:cNvGrpSpPr/>
          <p:nvPr/>
        </p:nvGrpSpPr>
        <p:grpSpPr>
          <a:xfrm>
            <a:off x="16163694" y="228654"/>
            <a:ext cx="3693160" cy="942975"/>
            <a:chOff x="15363992" y="1047088"/>
            <a:chExt cx="3693160" cy="942975"/>
          </a:xfrm>
        </p:grpSpPr>
        <p:sp>
          <p:nvSpPr>
            <p:cNvPr id="5" name="object 5"/>
            <p:cNvSpPr/>
            <p:nvPr/>
          </p:nvSpPr>
          <p:spPr>
            <a:xfrm>
              <a:off x="15364065"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6" name="object 6"/>
            <p:cNvSpPr/>
            <p:nvPr/>
          </p:nvSpPr>
          <p:spPr>
            <a:xfrm>
              <a:off x="15363990" y="1167618"/>
              <a:ext cx="3693160" cy="700405"/>
            </a:xfrm>
            <a:custGeom>
              <a:avLst/>
              <a:gdLst/>
              <a:ahLst/>
              <a:cxnLst/>
              <a:rect l="l" t="t" r="r" b="b"/>
              <a:pathLst>
                <a:path w="3693159" h="700405">
                  <a:moveTo>
                    <a:pt x="198361" y="660984"/>
                  </a:moveTo>
                  <a:lnTo>
                    <a:pt x="0" y="660984"/>
                  </a:lnTo>
                  <a:lnTo>
                    <a:pt x="0" y="685812"/>
                  </a:lnTo>
                  <a:lnTo>
                    <a:pt x="198361" y="685812"/>
                  </a:lnTo>
                  <a:lnTo>
                    <a:pt x="198361" y="660984"/>
                  </a:lnTo>
                  <a:close/>
                </a:path>
                <a:path w="3693159" h="700405">
                  <a:moveTo>
                    <a:pt x="198361" y="502246"/>
                  </a:moveTo>
                  <a:lnTo>
                    <a:pt x="0" y="502246"/>
                  </a:lnTo>
                  <a:lnTo>
                    <a:pt x="0" y="527050"/>
                  </a:lnTo>
                  <a:lnTo>
                    <a:pt x="198361" y="527050"/>
                  </a:lnTo>
                  <a:lnTo>
                    <a:pt x="198361" y="502246"/>
                  </a:lnTo>
                  <a:close/>
                </a:path>
                <a:path w="3693159" h="700405">
                  <a:moveTo>
                    <a:pt x="198361" y="337540"/>
                  </a:moveTo>
                  <a:lnTo>
                    <a:pt x="0" y="337540"/>
                  </a:lnTo>
                  <a:lnTo>
                    <a:pt x="0" y="362356"/>
                  </a:lnTo>
                  <a:lnTo>
                    <a:pt x="198361" y="362356"/>
                  </a:lnTo>
                  <a:lnTo>
                    <a:pt x="198361" y="337540"/>
                  </a:lnTo>
                  <a:close/>
                </a:path>
                <a:path w="3693159" h="700405">
                  <a:moveTo>
                    <a:pt x="198361" y="175044"/>
                  </a:moveTo>
                  <a:lnTo>
                    <a:pt x="0" y="175044"/>
                  </a:lnTo>
                  <a:lnTo>
                    <a:pt x="0" y="199898"/>
                  </a:lnTo>
                  <a:lnTo>
                    <a:pt x="198361" y="199898"/>
                  </a:lnTo>
                  <a:lnTo>
                    <a:pt x="198361" y="175044"/>
                  </a:lnTo>
                  <a:close/>
                </a:path>
                <a:path w="3693159" h="700405">
                  <a:moveTo>
                    <a:pt x="198361" y="16789"/>
                  </a:moveTo>
                  <a:lnTo>
                    <a:pt x="0" y="16789"/>
                  </a:lnTo>
                  <a:lnTo>
                    <a:pt x="0" y="41592"/>
                  </a:lnTo>
                  <a:lnTo>
                    <a:pt x="198361" y="41592"/>
                  </a:lnTo>
                  <a:lnTo>
                    <a:pt x="198361" y="16789"/>
                  </a:lnTo>
                  <a:close/>
                </a:path>
                <a:path w="3693159" h="700405">
                  <a:moveTo>
                    <a:pt x="908519" y="161366"/>
                  </a:moveTo>
                  <a:lnTo>
                    <a:pt x="905611" y="119291"/>
                  </a:lnTo>
                  <a:lnTo>
                    <a:pt x="870216" y="56515"/>
                  </a:lnTo>
                  <a:lnTo>
                    <a:pt x="804722" y="18783"/>
                  </a:lnTo>
                  <a:lnTo>
                    <a:pt x="764209" y="8001"/>
                  </a:lnTo>
                  <a:lnTo>
                    <a:pt x="720382" y="1905"/>
                  </a:lnTo>
                  <a:lnTo>
                    <a:pt x="674649" y="0"/>
                  </a:lnTo>
                  <a:lnTo>
                    <a:pt x="627646" y="1714"/>
                  </a:lnTo>
                  <a:lnTo>
                    <a:pt x="580986" y="7264"/>
                  </a:lnTo>
                  <a:lnTo>
                    <a:pt x="535609" y="17233"/>
                  </a:lnTo>
                  <a:lnTo>
                    <a:pt x="492480" y="32207"/>
                  </a:lnTo>
                  <a:lnTo>
                    <a:pt x="452551" y="52793"/>
                  </a:lnTo>
                  <a:lnTo>
                    <a:pt x="416788" y="79552"/>
                  </a:lnTo>
                  <a:lnTo>
                    <a:pt x="386118" y="113106"/>
                  </a:lnTo>
                  <a:lnTo>
                    <a:pt x="361518" y="154012"/>
                  </a:lnTo>
                  <a:lnTo>
                    <a:pt x="343928" y="202895"/>
                  </a:lnTo>
                  <a:lnTo>
                    <a:pt x="339191" y="254914"/>
                  </a:lnTo>
                  <a:lnTo>
                    <a:pt x="348361" y="300837"/>
                  </a:lnTo>
                  <a:lnTo>
                    <a:pt x="371944" y="338734"/>
                  </a:lnTo>
                  <a:lnTo>
                    <a:pt x="410489" y="366699"/>
                  </a:lnTo>
                  <a:lnTo>
                    <a:pt x="460273" y="387223"/>
                  </a:lnTo>
                  <a:lnTo>
                    <a:pt x="508939" y="402183"/>
                  </a:lnTo>
                  <a:lnTo>
                    <a:pt x="594931" y="424510"/>
                  </a:lnTo>
                  <a:lnTo>
                    <a:pt x="628256" y="436435"/>
                  </a:lnTo>
                  <a:lnTo>
                    <a:pt x="652449" y="451891"/>
                  </a:lnTo>
                  <a:lnTo>
                    <a:pt x="665530" y="473189"/>
                  </a:lnTo>
                  <a:lnTo>
                    <a:pt x="665492" y="502577"/>
                  </a:lnTo>
                  <a:lnTo>
                    <a:pt x="650049" y="531888"/>
                  </a:lnTo>
                  <a:lnTo>
                    <a:pt x="622071" y="552818"/>
                  </a:lnTo>
                  <a:lnTo>
                    <a:pt x="587794" y="565378"/>
                  </a:lnTo>
                  <a:lnTo>
                    <a:pt x="553504" y="569556"/>
                  </a:lnTo>
                  <a:lnTo>
                    <a:pt x="508876" y="563194"/>
                  </a:lnTo>
                  <a:lnTo>
                    <a:pt x="477100" y="544436"/>
                  </a:lnTo>
                  <a:lnTo>
                    <a:pt x="460578" y="513829"/>
                  </a:lnTo>
                  <a:lnTo>
                    <a:pt x="461683" y="471868"/>
                  </a:lnTo>
                  <a:lnTo>
                    <a:pt x="275539" y="471868"/>
                  </a:lnTo>
                  <a:lnTo>
                    <a:pt x="269430" y="527735"/>
                  </a:lnTo>
                  <a:lnTo>
                    <a:pt x="274370" y="574230"/>
                  </a:lnTo>
                  <a:lnTo>
                    <a:pt x="289217" y="612089"/>
                  </a:lnTo>
                  <a:lnTo>
                    <a:pt x="312877" y="642086"/>
                  </a:lnTo>
                  <a:lnTo>
                    <a:pt x="344208" y="664946"/>
                  </a:lnTo>
                  <a:lnTo>
                    <a:pt x="382117" y="681418"/>
                  </a:lnTo>
                  <a:lnTo>
                    <a:pt x="425475" y="692264"/>
                  </a:lnTo>
                  <a:lnTo>
                    <a:pt x="473151" y="698233"/>
                  </a:lnTo>
                  <a:lnTo>
                    <a:pt x="524052" y="700049"/>
                  </a:lnTo>
                  <a:lnTo>
                    <a:pt x="575627" y="697547"/>
                  </a:lnTo>
                  <a:lnTo>
                    <a:pt x="626084" y="690016"/>
                  </a:lnTo>
                  <a:lnTo>
                    <a:pt x="674420" y="677392"/>
                  </a:lnTo>
                  <a:lnTo>
                    <a:pt x="719607" y="659612"/>
                  </a:lnTo>
                  <a:lnTo>
                    <a:pt x="760666" y="636625"/>
                  </a:lnTo>
                  <a:lnTo>
                    <a:pt x="796582" y="608368"/>
                  </a:lnTo>
                  <a:lnTo>
                    <a:pt x="826350" y="574776"/>
                  </a:lnTo>
                  <a:lnTo>
                    <a:pt x="829373" y="569556"/>
                  </a:lnTo>
                  <a:lnTo>
                    <a:pt x="848956" y="535813"/>
                  </a:lnTo>
                  <a:lnTo>
                    <a:pt x="863409" y="491388"/>
                  </a:lnTo>
                  <a:lnTo>
                    <a:pt x="869175" y="436956"/>
                  </a:lnTo>
                  <a:lnTo>
                    <a:pt x="862253" y="393573"/>
                  </a:lnTo>
                  <a:lnTo>
                    <a:pt x="844715" y="359727"/>
                  </a:lnTo>
                  <a:lnTo>
                    <a:pt x="786180" y="314388"/>
                  </a:lnTo>
                  <a:lnTo>
                    <a:pt x="749388" y="299808"/>
                  </a:lnTo>
                  <a:lnTo>
                    <a:pt x="710361" y="288569"/>
                  </a:lnTo>
                  <a:lnTo>
                    <a:pt x="634009" y="269887"/>
                  </a:lnTo>
                  <a:lnTo>
                    <a:pt x="598487" y="259105"/>
                  </a:lnTo>
                  <a:lnTo>
                    <a:pt x="566508" y="244411"/>
                  </a:lnTo>
                  <a:lnTo>
                    <a:pt x="545198" y="222910"/>
                  </a:lnTo>
                  <a:lnTo>
                    <a:pt x="541705" y="191706"/>
                  </a:lnTo>
                  <a:lnTo>
                    <a:pt x="553237" y="167970"/>
                  </a:lnTo>
                  <a:lnTo>
                    <a:pt x="574865" y="148424"/>
                  </a:lnTo>
                  <a:lnTo>
                    <a:pt x="603186" y="135166"/>
                  </a:lnTo>
                  <a:lnTo>
                    <a:pt x="634784" y="130289"/>
                  </a:lnTo>
                  <a:lnTo>
                    <a:pt x="656831" y="131673"/>
                  </a:lnTo>
                  <a:lnTo>
                    <a:pt x="701929" y="151714"/>
                  </a:lnTo>
                  <a:lnTo>
                    <a:pt x="716394" y="192925"/>
                  </a:lnTo>
                  <a:lnTo>
                    <a:pt x="713587" y="211251"/>
                  </a:lnTo>
                  <a:lnTo>
                    <a:pt x="899706" y="211251"/>
                  </a:lnTo>
                  <a:lnTo>
                    <a:pt x="908519" y="161366"/>
                  </a:lnTo>
                  <a:close/>
                </a:path>
                <a:path w="3693159" h="700405">
                  <a:moveTo>
                    <a:pt x="1580972" y="13944"/>
                  </a:moveTo>
                  <a:lnTo>
                    <a:pt x="1069111" y="13944"/>
                  </a:lnTo>
                  <a:lnTo>
                    <a:pt x="926261" y="685927"/>
                  </a:lnTo>
                  <a:lnTo>
                    <a:pt x="1438135" y="685927"/>
                  </a:lnTo>
                  <a:lnTo>
                    <a:pt x="1465897" y="555599"/>
                  </a:lnTo>
                  <a:lnTo>
                    <a:pt x="1140142" y="555599"/>
                  </a:lnTo>
                  <a:lnTo>
                    <a:pt x="1170393" y="413207"/>
                  </a:lnTo>
                  <a:lnTo>
                    <a:pt x="1470075" y="413207"/>
                  </a:lnTo>
                  <a:lnTo>
                    <a:pt x="1497685" y="282956"/>
                  </a:lnTo>
                  <a:lnTo>
                    <a:pt x="1198003" y="282956"/>
                  </a:lnTo>
                  <a:lnTo>
                    <a:pt x="1227467" y="144233"/>
                  </a:lnTo>
                  <a:lnTo>
                    <a:pt x="1553222" y="144233"/>
                  </a:lnTo>
                  <a:lnTo>
                    <a:pt x="1580972" y="13944"/>
                  </a:lnTo>
                  <a:close/>
                </a:path>
                <a:path w="3693159" h="700405">
                  <a:moveTo>
                    <a:pt x="2341346" y="13944"/>
                  </a:moveTo>
                  <a:lnTo>
                    <a:pt x="2173833" y="13944"/>
                  </a:lnTo>
                  <a:lnTo>
                    <a:pt x="2067737" y="512775"/>
                  </a:lnTo>
                  <a:lnTo>
                    <a:pt x="2065566" y="514680"/>
                  </a:lnTo>
                  <a:lnTo>
                    <a:pt x="1984082" y="171272"/>
                  </a:lnTo>
                  <a:lnTo>
                    <a:pt x="1946757" y="13944"/>
                  </a:lnTo>
                  <a:lnTo>
                    <a:pt x="1686140" y="13944"/>
                  </a:lnTo>
                  <a:lnTo>
                    <a:pt x="1543291" y="685927"/>
                  </a:lnTo>
                  <a:lnTo>
                    <a:pt x="1710829" y="685927"/>
                  </a:lnTo>
                  <a:lnTo>
                    <a:pt x="1820189" y="171272"/>
                  </a:lnTo>
                  <a:lnTo>
                    <a:pt x="1822043" y="171272"/>
                  </a:lnTo>
                  <a:lnTo>
                    <a:pt x="1940687" y="685927"/>
                  </a:lnTo>
                  <a:lnTo>
                    <a:pt x="2198509" y="685927"/>
                  </a:lnTo>
                  <a:lnTo>
                    <a:pt x="2234920" y="514680"/>
                  </a:lnTo>
                  <a:lnTo>
                    <a:pt x="2341346" y="13944"/>
                  </a:lnTo>
                  <a:close/>
                </a:path>
                <a:path w="3693159" h="700405">
                  <a:moveTo>
                    <a:pt x="3024962" y="685927"/>
                  </a:moveTo>
                  <a:lnTo>
                    <a:pt x="3001060" y="554685"/>
                  </a:lnTo>
                  <a:lnTo>
                    <a:pt x="2977337" y="424395"/>
                  </a:lnTo>
                  <a:lnTo>
                    <a:pt x="2926486" y="145148"/>
                  </a:lnTo>
                  <a:lnTo>
                    <a:pt x="2902585" y="13944"/>
                  </a:lnTo>
                  <a:lnTo>
                    <a:pt x="2779890" y="13944"/>
                  </a:lnTo>
                  <a:lnTo>
                    <a:pt x="2779890" y="424395"/>
                  </a:lnTo>
                  <a:lnTo>
                    <a:pt x="2600261" y="424395"/>
                  </a:lnTo>
                  <a:lnTo>
                    <a:pt x="2750870" y="145148"/>
                  </a:lnTo>
                  <a:lnTo>
                    <a:pt x="2753652" y="145148"/>
                  </a:lnTo>
                  <a:lnTo>
                    <a:pt x="2779890" y="424395"/>
                  </a:lnTo>
                  <a:lnTo>
                    <a:pt x="2779890" y="13944"/>
                  </a:lnTo>
                  <a:lnTo>
                    <a:pt x="2675483" y="13944"/>
                  </a:lnTo>
                  <a:lnTo>
                    <a:pt x="2267356" y="685927"/>
                  </a:lnTo>
                  <a:lnTo>
                    <a:pt x="2453525" y="685927"/>
                  </a:lnTo>
                  <a:lnTo>
                    <a:pt x="2525179" y="554685"/>
                  </a:lnTo>
                  <a:lnTo>
                    <a:pt x="2797886" y="554685"/>
                  </a:lnTo>
                  <a:lnTo>
                    <a:pt x="2814637" y="685927"/>
                  </a:lnTo>
                  <a:lnTo>
                    <a:pt x="3024962" y="685927"/>
                  </a:lnTo>
                  <a:close/>
                </a:path>
                <a:path w="3693159" h="700405">
                  <a:moveTo>
                    <a:pt x="3424682" y="13944"/>
                  </a:moveTo>
                  <a:lnTo>
                    <a:pt x="3238563" y="13944"/>
                  </a:lnTo>
                  <a:lnTo>
                    <a:pt x="3095675" y="685927"/>
                  </a:lnTo>
                  <a:lnTo>
                    <a:pt x="3281832" y="685927"/>
                  </a:lnTo>
                  <a:lnTo>
                    <a:pt x="3424682" y="13944"/>
                  </a:lnTo>
                  <a:close/>
                </a:path>
                <a:path w="3693159" h="700405">
                  <a:moveTo>
                    <a:pt x="3692931" y="660984"/>
                  </a:moveTo>
                  <a:lnTo>
                    <a:pt x="3494570" y="660984"/>
                  </a:lnTo>
                  <a:lnTo>
                    <a:pt x="3494570" y="685812"/>
                  </a:lnTo>
                  <a:lnTo>
                    <a:pt x="3692931" y="685812"/>
                  </a:lnTo>
                  <a:lnTo>
                    <a:pt x="3692931" y="660984"/>
                  </a:lnTo>
                  <a:close/>
                </a:path>
                <a:path w="3693159" h="700405">
                  <a:moveTo>
                    <a:pt x="3692931" y="502246"/>
                  </a:moveTo>
                  <a:lnTo>
                    <a:pt x="3494570" y="502246"/>
                  </a:lnTo>
                  <a:lnTo>
                    <a:pt x="3494570" y="527050"/>
                  </a:lnTo>
                  <a:lnTo>
                    <a:pt x="3692931" y="527050"/>
                  </a:lnTo>
                  <a:lnTo>
                    <a:pt x="3692931" y="502246"/>
                  </a:lnTo>
                  <a:close/>
                </a:path>
                <a:path w="3693159" h="700405">
                  <a:moveTo>
                    <a:pt x="3692931" y="337540"/>
                  </a:moveTo>
                  <a:lnTo>
                    <a:pt x="3494570" y="337540"/>
                  </a:lnTo>
                  <a:lnTo>
                    <a:pt x="3494570" y="362356"/>
                  </a:lnTo>
                  <a:lnTo>
                    <a:pt x="3692931" y="362356"/>
                  </a:lnTo>
                  <a:lnTo>
                    <a:pt x="3692931" y="337540"/>
                  </a:lnTo>
                  <a:close/>
                </a:path>
                <a:path w="3693159" h="700405">
                  <a:moveTo>
                    <a:pt x="3692931" y="175044"/>
                  </a:moveTo>
                  <a:lnTo>
                    <a:pt x="3494570" y="175044"/>
                  </a:lnTo>
                  <a:lnTo>
                    <a:pt x="3494570" y="199898"/>
                  </a:lnTo>
                  <a:lnTo>
                    <a:pt x="3692931" y="199898"/>
                  </a:lnTo>
                  <a:lnTo>
                    <a:pt x="3692931" y="175044"/>
                  </a:lnTo>
                  <a:close/>
                </a:path>
                <a:path w="3693159" h="700405">
                  <a:moveTo>
                    <a:pt x="3692931" y="16789"/>
                  </a:moveTo>
                  <a:lnTo>
                    <a:pt x="3494570" y="16789"/>
                  </a:lnTo>
                  <a:lnTo>
                    <a:pt x="3494570" y="41592"/>
                  </a:lnTo>
                  <a:lnTo>
                    <a:pt x="3692931" y="41592"/>
                  </a:lnTo>
                  <a:lnTo>
                    <a:pt x="3692931" y="16789"/>
                  </a:lnTo>
                  <a:close/>
                </a:path>
              </a:pathLst>
            </a:custGeom>
            <a:solidFill>
              <a:srgbClr val="FFFFFF"/>
            </a:solidFill>
          </p:spPr>
          <p:txBody>
            <a:bodyPr wrap="square" lIns="0" tIns="0" rIns="0" bIns="0" rtlCol="0"/>
            <a:lstStyle/>
            <a:p>
              <a:endParaRPr/>
            </a:p>
          </p:txBody>
        </p:sp>
      </p:grpSp>
      <p:sp>
        <p:nvSpPr>
          <p:cNvPr id="71" name="object 71"/>
          <p:cNvSpPr txBox="1">
            <a:spLocks noGrp="1"/>
          </p:cNvSpPr>
          <p:nvPr>
            <p:ph type="title"/>
          </p:nvPr>
        </p:nvSpPr>
        <p:spPr>
          <a:xfrm>
            <a:off x="349677" y="82345"/>
            <a:ext cx="8635574" cy="1235595"/>
          </a:xfrm>
          <a:prstGeom prst="rect">
            <a:avLst/>
          </a:prstGeom>
        </p:spPr>
        <p:txBody>
          <a:bodyPr vert="horz" wrap="square" lIns="0" tIns="12065" rIns="0" bIns="0" rtlCol="0">
            <a:spAutoFit/>
          </a:bodyPr>
          <a:lstStyle/>
          <a:p>
            <a:pPr marL="12700">
              <a:lnSpc>
                <a:spcPct val="150000"/>
              </a:lnSpc>
              <a:spcBef>
                <a:spcPts val="95"/>
              </a:spcBef>
            </a:pPr>
            <a:r>
              <a:rPr lang="pt-BR" sz="4400" b="1" spc="-15" dirty="0" smtClean="0">
                <a:solidFill>
                  <a:schemeClr val="bg1"/>
                </a:solidFill>
                <a:latin typeface="Montserrat ExtraBold"/>
                <a:cs typeface="Montserrat ExtraBold"/>
              </a:rPr>
              <a:t>VAMOS RESOLVER JUNTOS</a:t>
            </a:r>
            <a:endParaRPr sz="4400" dirty="0">
              <a:solidFill>
                <a:schemeClr val="bg1"/>
              </a:solidFill>
              <a:latin typeface="Montserrat ExtraBold"/>
              <a:cs typeface="Montserrat ExtraBold"/>
            </a:endParaRPr>
          </a:p>
          <a:p>
            <a:pPr marL="12700">
              <a:lnSpc>
                <a:spcPct val="150000"/>
              </a:lnSpc>
            </a:pPr>
            <a:endParaRPr sz="900" dirty="0">
              <a:solidFill>
                <a:schemeClr val="bg1"/>
              </a:solidFill>
              <a:latin typeface="Montserrat"/>
              <a:cs typeface="Montserrat"/>
            </a:endParaRPr>
          </a:p>
        </p:txBody>
      </p:sp>
      <p:sp>
        <p:nvSpPr>
          <p:cNvPr id="72" name="CaixaDeTexto 71"/>
          <p:cNvSpPr txBox="1"/>
          <p:nvPr/>
        </p:nvSpPr>
        <p:spPr>
          <a:xfrm>
            <a:off x="6612917" y="1235075"/>
            <a:ext cx="4658333" cy="8894743"/>
          </a:xfrm>
          <a:prstGeom prst="rect">
            <a:avLst/>
          </a:prstGeom>
          <a:solidFill>
            <a:schemeClr val="tx1">
              <a:lumMod val="65000"/>
              <a:lumOff val="35000"/>
            </a:schemeClr>
          </a:solidFill>
          <a:ln>
            <a:solidFill>
              <a:schemeClr val="bg1"/>
            </a:solidFill>
          </a:ln>
        </p:spPr>
        <p:txBody>
          <a:bodyPr wrap="square" rtlCol="0">
            <a:spAutoFit/>
          </a:bodyPr>
          <a:lstStyle/>
          <a:p>
            <a:r>
              <a:rPr lang="pt-BR" sz="2200" spc="-25" dirty="0">
                <a:solidFill>
                  <a:schemeClr val="bg1"/>
                </a:solidFill>
                <a:latin typeface="Consolas" panose="020B0609020204030204" pitchFamily="49" charset="0"/>
                <a:cs typeface="Montserrat"/>
              </a:rPr>
              <a:t>CREATE TABLE LEITO (</a:t>
            </a:r>
          </a:p>
          <a:p>
            <a:r>
              <a:rPr lang="pt-BR" sz="2200" spc="-25" dirty="0">
                <a:solidFill>
                  <a:schemeClr val="bg1"/>
                </a:solidFill>
                <a:latin typeface="Consolas" panose="020B0609020204030204" pitchFamily="49" charset="0"/>
                <a:cs typeface="Montserrat"/>
              </a:rPr>
              <a:t>    ID INT PRIMARY KEY,</a:t>
            </a:r>
          </a:p>
          <a:p>
            <a:r>
              <a:rPr lang="pt-BR" sz="2200" spc="-25" dirty="0">
                <a:solidFill>
                  <a:schemeClr val="bg1"/>
                </a:solidFill>
                <a:latin typeface="Consolas" panose="020B0609020204030204" pitchFamily="49" charset="0"/>
                <a:cs typeface="Montserrat"/>
              </a:rPr>
              <a:t>    NUMERO VARCHAR(10),</a:t>
            </a:r>
          </a:p>
          <a:p>
            <a:r>
              <a:rPr lang="pt-BR" sz="2200" spc="-25" dirty="0">
                <a:solidFill>
                  <a:schemeClr val="bg1"/>
                </a:solidFill>
                <a:latin typeface="Consolas" panose="020B0609020204030204" pitchFamily="49" charset="0"/>
                <a:cs typeface="Montserrat"/>
              </a:rPr>
              <a:t>    TIPO VARCHAR(50)</a:t>
            </a:r>
          </a:p>
          <a:p>
            <a:r>
              <a:rPr lang="pt-BR" sz="2200" spc="-25" dirty="0">
                <a:solidFill>
                  <a:schemeClr val="bg1"/>
                </a:solidFill>
                <a:latin typeface="Consolas" panose="020B0609020204030204" pitchFamily="49" charset="0"/>
                <a:cs typeface="Montserrat"/>
              </a:rPr>
              <a:t>);</a:t>
            </a:r>
          </a:p>
          <a:p>
            <a:endParaRPr lang="pt-BR" sz="2200" spc="-25" dirty="0">
              <a:solidFill>
                <a:schemeClr val="bg1"/>
              </a:solidFill>
              <a:latin typeface="Consolas" panose="020B0609020204030204" pitchFamily="49" charset="0"/>
              <a:cs typeface="Montserrat"/>
            </a:endParaRPr>
          </a:p>
          <a:p>
            <a:r>
              <a:rPr lang="pt-BR" sz="2200" spc="-25" dirty="0">
                <a:solidFill>
                  <a:schemeClr val="bg1"/>
                </a:solidFill>
                <a:latin typeface="Consolas" panose="020B0609020204030204" pitchFamily="49" charset="0"/>
                <a:cs typeface="Montserrat"/>
              </a:rPr>
              <a:t>CREATE TABLE PACIENTE (</a:t>
            </a:r>
          </a:p>
          <a:p>
            <a:r>
              <a:rPr lang="pt-BR" sz="2200" spc="-25" dirty="0">
                <a:solidFill>
                  <a:schemeClr val="bg1"/>
                </a:solidFill>
                <a:latin typeface="Consolas" panose="020B0609020204030204" pitchFamily="49" charset="0"/>
                <a:cs typeface="Montserrat"/>
              </a:rPr>
              <a:t>    ID INT PRIMARY KEY,</a:t>
            </a:r>
          </a:p>
          <a:p>
            <a:r>
              <a:rPr lang="pt-BR" sz="2200" spc="-25" dirty="0">
                <a:solidFill>
                  <a:schemeClr val="bg1"/>
                </a:solidFill>
                <a:latin typeface="Consolas" panose="020B0609020204030204" pitchFamily="49" charset="0"/>
                <a:cs typeface="Montserrat"/>
              </a:rPr>
              <a:t>    NOME VARCHAR(100),</a:t>
            </a:r>
          </a:p>
          <a:p>
            <a:r>
              <a:rPr lang="pt-BR" sz="2200" spc="-25" dirty="0">
                <a:solidFill>
                  <a:schemeClr val="bg1"/>
                </a:solidFill>
                <a:latin typeface="Consolas" panose="020B0609020204030204" pitchFamily="49" charset="0"/>
                <a:cs typeface="Montserrat"/>
              </a:rPr>
              <a:t>    LEITO_ID INT NULL,</a:t>
            </a:r>
          </a:p>
          <a:p>
            <a:r>
              <a:rPr lang="pt-BR" sz="2200" spc="-25" dirty="0">
                <a:solidFill>
                  <a:schemeClr val="bg1"/>
                </a:solidFill>
                <a:latin typeface="Consolas" panose="020B0609020204030204" pitchFamily="49" charset="0"/>
                <a:cs typeface="Montserrat"/>
              </a:rPr>
              <a:t>    FOREIGN KEY (LEITO_ID)</a:t>
            </a:r>
          </a:p>
          <a:p>
            <a:r>
              <a:rPr lang="pt-BR" sz="2200" spc="-25" dirty="0">
                <a:solidFill>
                  <a:schemeClr val="bg1"/>
                </a:solidFill>
                <a:latin typeface="Consolas" panose="020B0609020204030204" pitchFamily="49" charset="0"/>
                <a:cs typeface="Montserrat"/>
              </a:rPr>
              <a:t>    REFERENCES LEITO(ID)  </a:t>
            </a:r>
          </a:p>
          <a:p>
            <a:r>
              <a:rPr lang="pt-BR" sz="2200" spc="-25" dirty="0">
                <a:solidFill>
                  <a:schemeClr val="bg1"/>
                </a:solidFill>
                <a:latin typeface="Consolas" panose="020B0609020204030204" pitchFamily="49" charset="0"/>
                <a:cs typeface="Montserrat"/>
              </a:rPr>
              <a:t>);</a:t>
            </a:r>
          </a:p>
          <a:p>
            <a:endParaRPr lang="pt-BR" sz="2200" spc="-25" dirty="0">
              <a:solidFill>
                <a:schemeClr val="bg1"/>
              </a:solidFill>
              <a:latin typeface="Consolas" panose="020B0609020204030204" pitchFamily="49" charset="0"/>
              <a:cs typeface="Montserrat"/>
            </a:endParaRPr>
          </a:p>
          <a:p>
            <a:r>
              <a:rPr lang="pt-BR" sz="2200" spc="-25" dirty="0">
                <a:solidFill>
                  <a:schemeClr val="bg1"/>
                </a:solidFill>
                <a:latin typeface="Consolas" panose="020B0609020204030204" pitchFamily="49" charset="0"/>
                <a:cs typeface="Montserrat"/>
              </a:rPr>
              <a:t>INSERT INTO LEITO VALUES</a:t>
            </a:r>
          </a:p>
          <a:p>
            <a:r>
              <a:rPr lang="pt-BR" sz="2200" spc="-25" dirty="0">
                <a:solidFill>
                  <a:schemeClr val="bg1"/>
                </a:solidFill>
                <a:latin typeface="Consolas" panose="020B0609020204030204" pitchFamily="49" charset="0"/>
                <a:cs typeface="Montserrat"/>
              </a:rPr>
              <a:t>(1, 'A101', 'Enfermaria'),</a:t>
            </a:r>
          </a:p>
          <a:p>
            <a:r>
              <a:rPr lang="pt-BR" sz="2200" spc="-25" dirty="0">
                <a:solidFill>
                  <a:schemeClr val="bg1"/>
                </a:solidFill>
                <a:latin typeface="Consolas" panose="020B0609020204030204" pitchFamily="49" charset="0"/>
                <a:cs typeface="Montserrat"/>
              </a:rPr>
              <a:t>(2, 'A102', 'Enfermaria'), </a:t>
            </a:r>
          </a:p>
          <a:p>
            <a:r>
              <a:rPr lang="pt-BR" sz="2200" spc="-25" dirty="0">
                <a:solidFill>
                  <a:schemeClr val="bg1"/>
                </a:solidFill>
                <a:latin typeface="Consolas" panose="020B0609020204030204" pitchFamily="49" charset="0"/>
                <a:cs typeface="Montserrat"/>
              </a:rPr>
              <a:t>(3, 'B201', 'UTI'), </a:t>
            </a:r>
          </a:p>
          <a:p>
            <a:r>
              <a:rPr lang="pt-BR" sz="2200" spc="-25" dirty="0">
                <a:solidFill>
                  <a:schemeClr val="bg1"/>
                </a:solidFill>
                <a:latin typeface="Consolas" panose="020B0609020204030204" pitchFamily="49" charset="0"/>
                <a:cs typeface="Montserrat"/>
              </a:rPr>
              <a:t>(4, 'B202', 'UTI'), </a:t>
            </a:r>
          </a:p>
          <a:p>
            <a:r>
              <a:rPr lang="pt-BR" sz="2200" spc="-25" dirty="0">
                <a:solidFill>
                  <a:schemeClr val="bg1"/>
                </a:solidFill>
                <a:latin typeface="Consolas" panose="020B0609020204030204" pitchFamily="49" charset="0"/>
                <a:cs typeface="Montserrat"/>
              </a:rPr>
              <a:t>(5, 'C301', 'Isolamento'); </a:t>
            </a:r>
          </a:p>
          <a:p>
            <a:endParaRPr lang="pt-BR" sz="2200" spc="-25" dirty="0">
              <a:solidFill>
                <a:schemeClr val="bg1"/>
              </a:solidFill>
              <a:latin typeface="Consolas" panose="020B0609020204030204" pitchFamily="49" charset="0"/>
              <a:cs typeface="Montserrat"/>
            </a:endParaRPr>
          </a:p>
          <a:p>
            <a:r>
              <a:rPr lang="pt-BR" sz="2200" spc="-25" dirty="0">
                <a:solidFill>
                  <a:schemeClr val="bg1"/>
                </a:solidFill>
                <a:latin typeface="Consolas" panose="020B0609020204030204" pitchFamily="49" charset="0"/>
                <a:cs typeface="Montserrat"/>
              </a:rPr>
              <a:t>INSERT INTO PACIENTE VALUES</a:t>
            </a:r>
          </a:p>
          <a:p>
            <a:r>
              <a:rPr lang="pt-BR" sz="2200" spc="-25" dirty="0">
                <a:solidFill>
                  <a:schemeClr val="bg1"/>
                </a:solidFill>
                <a:latin typeface="Consolas" panose="020B0609020204030204" pitchFamily="49" charset="0"/>
                <a:cs typeface="Montserrat"/>
              </a:rPr>
              <a:t>(101, 'Ana Silva', 1),   </a:t>
            </a:r>
          </a:p>
          <a:p>
            <a:r>
              <a:rPr lang="pt-BR" sz="2200" spc="-25" dirty="0">
                <a:solidFill>
                  <a:schemeClr val="bg1"/>
                </a:solidFill>
                <a:latin typeface="Consolas" panose="020B0609020204030204" pitchFamily="49" charset="0"/>
                <a:cs typeface="Montserrat"/>
              </a:rPr>
              <a:t>(102, 'Bruno Costa', 3), </a:t>
            </a:r>
          </a:p>
          <a:p>
            <a:r>
              <a:rPr lang="pt-BR" sz="2200" spc="-25" dirty="0">
                <a:solidFill>
                  <a:schemeClr val="bg1"/>
                </a:solidFill>
                <a:latin typeface="Consolas" panose="020B0609020204030204" pitchFamily="49" charset="0"/>
                <a:cs typeface="Montserrat"/>
              </a:rPr>
              <a:t>(103, 'Carla Mendes', NULL), </a:t>
            </a:r>
          </a:p>
          <a:p>
            <a:r>
              <a:rPr lang="pt-BR" sz="2200" spc="-25" dirty="0">
                <a:solidFill>
                  <a:schemeClr val="bg1"/>
                </a:solidFill>
                <a:latin typeface="Consolas" panose="020B0609020204030204" pitchFamily="49" charset="0"/>
                <a:cs typeface="Montserrat"/>
              </a:rPr>
              <a:t>(104, 'Diego Ramos', NULL);  </a:t>
            </a:r>
            <a:endParaRPr lang="pt-BR" sz="2200" dirty="0">
              <a:latin typeface="Consolas" panose="020B0609020204030204" pitchFamily="49" charset="0"/>
            </a:endParaRPr>
          </a:p>
        </p:txBody>
      </p:sp>
      <p:sp>
        <p:nvSpPr>
          <p:cNvPr id="74" name="CaixaDeTexto 73"/>
          <p:cNvSpPr txBox="1"/>
          <p:nvPr/>
        </p:nvSpPr>
        <p:spPr>
          <a:xfrm>
            <a:off x="318352" y="1009312"/>
            <a:ext cx="5923697" cy="9688678"/>
          </a:xfrm>
          <a:prstGeom prst="rect">
            <a:avLst/>
          </a:prstGeom>
          <a:noFill/>
        </p:spPr>
        <p:txBody>
          <a:bodyPr wrap="square" rtlCol="0">
            <a:spAutoFit/>
          </a:bodyPr>
          <a:lstStyle/>
          <a:p>
            <a:pPr algn="just">
              <a:lnSpc>
                <a:spcPct val="150000"/>
              </a:lnSpc>
            </a:pPr>
            <a:r>
              <a:rPr lang="pt-BR" sz="2200" dirty="0">
                <a:solidFill>
                  <a:schemeClr val="bg1"/>
                </a:solidFill>
              </a:rPr>
              <a:t>A gerência de um hospital tem um conjunto de dados em um banco de dados MySQL e precisa levantar algumas informações que serão incluídas em um relatório. Para isso, será necessário criar consultas SQL que apresentem as seguintes relações</a:t>
            </a:r>
            <a:r>
              <a:rPr lang="pt-BR" sz="2200" dirty="0" smtClean="0">
                <a:solidFill>
                  <a:schemeClr val="bg1"/>
                </a:solidFill>
              </a:rPr>
              <a:t>:</a:t>
            </a:r>
          </a:p>
          <a:p>
            <a:pPr algn="just">
              <a:lnSpc>
                <a:spcPct val="150000"/>
              </a:lnSpc>
            </a:pPr>
            <a:endParaRPr lang="pt-BR" sz="2200" dirty="0">
              <a:solidFill>
                <a:schemeClr val="bg1"/>
              </a:solidFill>
            </a:endParaRPr>
          </a:p>
          <a:p>
            <a:pPr marL="457200" indent="-457200" algn="just">
              <a:lnSpc>
                <a:spcPct val="150000"/>
              </a:lnSpc>
              <a:buFont typeface="+mj-lt"/>
              <a:buAutoNum type="alphaUcPeriod"/>
            </a:pPr>
            <a:r>
              <a:rPr lang="pt-BR" sz="2200" dirty="0" smtClean="0">
                <a:solidFill>
                  <a:schemeClr val="bg1"/>
                </a:solidFill>
              </a:rPr>
              <a:t>Uma </a:t>
            </a:r>
            <a:r>
              <a:rPr lang="pt-BR" sz="2200" dirty="0">
                <a:solidFill>
                  <a:schemeClr val="bg1"/>
                </a:solidFill>
              </a:rPr>
              <a:t>relação com a numeração e o tipo de </a:t>
            </a:r>
            <a:r>
              <a:rPr lang="pt-BR" sz="2200" b="1" dirty="0">
                <a:solidFill>
                  <a:srgbClr val="FF0000"/>
                </a:solidFill>
              </a:rPr>
              <a:t>TODOS OS LEITOS </a:t>
            </a:r>
            <a:r>
              <a:rPr lang="pt-BR" sz="2200" dirty="0">
                <a:solidFill>
                  <a:schemeClr val="bg1"/>
                </a:solidFill>
              </a:rPr>
              <a:t>e, se houver algum paciente internado no leito, exibir o nome do </a:t>
            </a:r>
            <a:r>
              <a:rPr lang="pt-BR" sz="2200" dirty="0" smtClean="0">
                <a:solidFill>
                  <a:schemeClr val="bg1"/>
                </a:solidFill>
              </a:rPr>
              <a:t>paciente;</a:t>
            </a:r>
          </a:p>
          <a:p>
            <a:pPr marL="457200" indent="-457200" algn="just">
              <a:lnSpc>
                <a:spcPct val="150000"/>
              </a:lnSpc>
              <a:buFont typeface="+mj-lt"/>
              <a:buAutoNum type="alphaUcPeriod"/>
            </a:pPr>
            <a:endParaRPr lang="pt-BR" sz="2200" dirty="0">
              <a:solidFill>
                <a:schemeClr val="bg1"/>
              </a:solidFill>
            </a:endParaRPr>
          </a:p>
          <a:p>
            <a:pPr marL="457200" indent="-457200" algn="just">
              <a:lnSpc>
                <a:spcPct val="150000"/>
              </a:lnSpc>
              <a:buFont typeface="+mj-lt"/>
              <a:buAutoNum type="alphaUcPeriod"/>
            </a:pPr>
            <a:r>
              <a:rPr lang="pt-BR" sz="2200" dirty="0" smtClean="0">
                <a:solidFill>
                  <a:schemeClr val="bg1"/>
                </a:solidFill>
              </a:rPr>
              <a:t>Uma </a:t>
            </a:r>
            <a:r>
              <a:rPr lang="pt-BR" sz="2200" dirty="0">
                <a:solidFill>
                  <a:schemeClr val="bg1"/>
                </a:solidFill>
              </a:rPr>
              <a:t>relação com </a:t>
            </a:r>
            <a:r>
              <a:rPr lang="pt-BR" sz="2200" b="1" dirty="0">
                <a:solidFill>
                  <a:srgbClr val="FF0000"/>
                </a:solidFill>
              </a:rPr>
              <a:t>TODOS OS LEITOS OCUPADOS</a:t>
            </a:r>
            <a:r>
              <a:rPr lang="pt-BR" sz="2200" dirty="0">
                <a:solidFill>
                  <a:schemeClr val="bg1"/>
                </a:solidFill>
              </a:rPr>
              <a:t>, exibindo o número do leito e o nome do paciente</a:t>
            </a:r>
            <a:r>
              <a:rPr lang="pt-BR" sz="2200" dirty="0" smtClean="0">
                <a:solidFill>
                  <a:schemeClr val="bg1"/>
                </a:solidFill>
              </a:rPr>
              <a:t>;</a:t>
            </a:r>
          </a:p>
          <a:p>
            <a:pPr marL="457200" indent="-457200" algn="just">
              <a:lnSpc>
                <a:spcPct val="150000"/>
              </a:lnSpc>
              <a:buFont typeface="+mj-lt"/>
              <a:buAutoNum type="alphaUcPeriod"/>
            </a:pPr>
            <a:endParaRPr lang="pt-BR" sz="2200" dirty="0">
              <a:solidFill>
                <a:schemeClr val="bg1"/>
              </a:solidFill>
            </a:endParaRPr>
          </a:p>
          <a:p>
            <a:pPr marL="457200" indent="-457200" algn="just">
              <a:lnSpc>
                <a:spcPct val="150000"/>
              </a:lnSpc>
              <a:buFont typeface="+mj-lt"/>
              <a:buAutoNum type="alphaUcPeriod"/>
            </a:pPr>
            <a:r>
              <a:rPr lang="pt-BR" sz="2200" dirty="0" smtClean="0">
                <a:solidFill>
                  <a:schemeClr val="bg1"/>
                </a:solidFill>
              </a:rPr>
              <a:t>Uma </a:t>
            </a:r>
            <a:r>
              <a:rPr lang="pt-BR" sz="2200" dirty="0">
                <a:solidFill>
                  <a:schemeClr val="bg1"/>
                </a:solidFill>
              </a:rPr>
              <a:t>relação com os </a:t>
            </a:r>
            <a:r>
              <a:rPr lang="pt-BR" sz="2200" dirty="0" err="1">
                <a:solidFill>
                  <a:schemeClr val="bg1"/>
                </a:solidFill>
              </a:rPr>
              <a:t>IDs</a:t>
            </a:r>
            <a:r>
              <a:rPr lang="pt-BR" sz="2200" dirty="0">
                <a:solidFill>
                  <a:schemeClr val="bg1"/>
                </a:solidFill>
              </a:rPr>
              <a:t> e </a:t>
            </a:r>
            <a:r>
              <a:rPr lang="pt-BR" sz="2200" b="1" dirty="0">
                <a:solidFill>
                  <a:srgbClr val="FF0000"/>
                </a:solidFill>
              </a:rPr>
              <a:t>nomes </a:t>
            </a:r>
            <a:r>
              <a:rPr lang="pt-BR" sz="2200" b="1" dirty="0" smtClean="0">
                <a:solidFill>
                  <a:srgbClr val="FF0000"/>
                </a:solidFill>
              </a:rPr>
              <a:t>TODOS OS PACIENTES</a:t>
            </a:r>
            <a:r>
              <a:rPr lang="pt-BR" sz="2200" dirty="0" smtClean="0">
                <a:solidFill>
                  <a:schemeClr val="bg1"/>
                </a:solidFill>
              </a:rPr>
              <a:t> e</a:t>
            </a:r>
            <a:r>
              <a:rPr lang="pt-BR" sz="2200" dirty="0">
                <a:solidFill>
                  <a:schemeClr val="bg1"/>
                </a:solidFill>
              </a:rPr>
              <a:t>, </a:t>
            </a:r>
            <a:r>
              <a:rPr lang="pt-BR" sz="2200" dirty="0" smtClean="0">
                <a:solidFill>
                  <a:schemeClr val="bg1"/>
                </a:solidFill>
              </a:rPr>
              <a:t>se </a:t>
            </a:r>
            <a:r>
              <a:rPr lang="pt-BR" sz="2200" dirty="0">
                <a:solidFill>
                  <a:schemeClr val="bg1"/>
                </a:solidFill>
              </a:rPr>
              <a:t>algum deles ocupar um leito, exibir o tipo do leito.</a:t>
            </a:r>
          </a:p>
        </p:txBody>
      </p:sp>
      <p:pic>
        <p:nvPicPr>
          <p:cNvPr id="75" name="Imagem 7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99850" y="1235075"/>
            <a:ext cx="8557716" cy="8557716"/>
          </a:xfrm>
          <a:prstGeom prst="rect">
            <a:avLst/>
          </a:prstGeom>
        </p:spPr>
      </p:pic>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Tree>
    <p:extLst>
      <p:ext uri="{BB962C8B-B14F-4D97-AF65-F5344CB8AC3E}">
        <p14:creationId xmlns:p14="http://schemas.microsoft.com/office/powerpoint/2010/main" val="311811534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flipH="1">
            <a:off x="-692150" y="440798"/>
            <a:ext cx="818490" cy="4528078"/>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grpSp>
        <p:nvGrpSpPr>
          <p:cNvPr id="4" name="object 4"/>
          <p:cNvGrpSpPr/>
          <p:nvPr/>
        </p:nvGrpSpPr>
        <p:grpSpPr>
          <a:xfrm>
            <a:off x="16163694" y="228654"/>
            <a:ext cx="3693160" cy="942975"/>
            <a:chOff x="15363992" y="1047088"/>
            <a:chExt cx="3693160" cy="942975"/>
          </a:xfrm>
        </p:grpSpPr>
        <p:sp>
          <p:nvSpPr>
            <p:cNvPr id="5" name="object 5"/>
            <p:cNvSpPr/>
            <p:nvPr/>
          </p:nvSpPr>
          <p:spPr>
            <a:xfrm>
              <a:off x="15364065"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6" name="object 6"/>
            <p:cNvSpPr/>
            <p:nvPr/>
          </p:nvSpPr>
          <p:spPr>
            <a:xfrm>
              <a:off x="15363990" y="1167618"/>
              <a:ext cx="3693160" cy="700405"/>
            </a:xfrm>
            <a:custGeom>
              <a:avLst/>
              <a:gdLst/>
              <a:ahLst/>
              <a:cxnLst/>
              <a:rect l="l" t="t" r="r" b="b"/>
              <a:pathLst>
                <a:path w="3693159" h="700405">
                  <a:moveTo>
                    <a:pt x="198361" y="660984"/>
                  </a:moveTo>
                  <a:lnTo>
                    <a:pt x="0" y="660984"/>
                  </a:lnTo>
                  <a:lnTo>
                    <a:pt x="0" y="685812"/>
                  </a:lnTo>
                  <a:lnTo>
                    <a:pt x="198361" y="685812"/>
                  </a:lnTo>
                  <a:lnTo>
                    <a:pt x="198361" y="660984"/>
                  </a:lnTo>
                  <a:close/>
                </a:path>
                <a:path w="3693159" h="700405">
                  <a:moveTo>
                    <a:pt x="198361" y="502246"/>
                  </a:moveTo>
                  <a:lnTo>
                    <a:pt x="0" y="502246"/>
                  </a:lnTo>
                  <a:lnTo>
                    <a:pt x="0" y="527050"/>
                  </a:lnTo>
                  <a:lnTo>
                    <a:pt x="198361" y="527050"/>
                  </a:lnTo>
                  <a:lnTo>
                    <a:pt x="198361" y="502246"/>
                  </a:lnTo>
                  <a:close/>
                </a:path>
                <a:path w="3693159" h="700405">
                  <a:moveTo>
                    <a:pt x="198361" y="337540"/>
                  </a:moveTo>
                  <a:lnTo>
                    <a:pt x="0" y="337540"/>
                  </a:lnTo>
                  <a:lnTo>
                    <a:pt x="0" y="362356"/>
                  </a:lnTo>
                  <a:lnTo>
                    <a:pt x="198361" y="362356"/>
                  </a:lnTo>
                  <a:lnTo>
                    <a:pt x="198361" y="337540"/>
                  </a:lnTo>
                  <a:close/>
                </a:path>
                <a:path w="3693159" h="700405">
                  <a:moveTo>
                    <a:pt x="198361" y="175044"/>
                  </a:moveTo>
                  <a:lnTo>
                    <a:pt x="0" y="175044"/>
                  </a:lnTo>
                  <a:lnTo>
                    <a:pt x="0" y="199898"/>
                  </a:lnTo>
                  <a:lnTo>
                    <a:pt x="198361" y="199898"/>
                  </a:lnTo>
                  <a:lnTo>
                    <a:pt x="198361" y="175044"/>
                  </a:lnTo>
                  <a:close/>
                </a:path>
                <a:path w="3693159" h="700405">
                  <a:moveTo>
                    <a:pt x="198361" y="16789"/>
                  </a:moveTo>
                  <a:lnTo>
                    <a:pt x="0" y="16789"/>
                  </a:lnTo>
                  <a:lnTo>
                    <a:pt x="0" y="41592"/>
                  </a:lnTo>
                  <a:lnTo>
                    <a:pt x="198361" y="41592"/>
                  </a:lnTo>
                  <a:lnTo>
                    <a:pt x="198361" y="16789"/>
                  </a:lnTo>
                  <a:close/>
                </a:path>
                <a:path w="3693159" h="700405">
                  <a:moveTo>
                    <a:pt x="908519" y="161366"/>
                  </a:moveTo>
                  <a:lnTo>
                    <a:pt x="905611" y="119291"/>
                  </a:lnTo>
                  <a:lnTo>
                    <a:pt x="870216" y="56515"/>
                  </a:lnTo>
                  <a:lnTo>
                    <a:pt x="804722" y="18783"/>
                  </a:lnTo>
                  <a:lnTo>
                    <a:pt x="764209" y="8001"/>
                  </a:lnTo>
                  <a:lnTo>
                    <a:pt x="720382" y="1905"/>
                  </a:lnTo>
                  <a:lnTo>
                    <a:pt x="674649" y="0"/>
                  </a:lnTo>
                  <a:lnTo>
                    <a:pt x="627646" y="1714"/>
                  </a:lnTo>
                  <a:lnTo>
                    <a:pt x="580986" y="7264"/>
                  </a:lnTo>
                  <a:lnTo>
                    <a:pt x="535609" y="17233"/>
                  </a:lnTo>
                  <a:lnTo>
                    <a:pt x="492480" y="32207"/>
                  </a:lnTo>
                  <a:lnTo>
                    <a:pt x="452551" y="52793"/>
                  </a:lnTo>
                  <a:lnTo>
                    <a:pt x="416788" y="79552"/>
                  </a:lnTo>
                  <a:lnTo>
                    <a:pt x="386118" y="113106"/>
                  </a:lnTo>
                  <a:lnTo>
                    <a:pt x="361518" y="154012"/>
                  </a:lnTo>
                  <a:lnTo>
                    <a:pt x="343928" y="202895"/>
                  </a:lnTo>
                  <a:lnTo>
                    <a:pt x="339191" y="254914"/>
                  </a:lnTo>
                  <a:lnTo>
                    <a:pt x="348361" y="300837"/>
                  </a:lnTo>
                  <a:lnTo>
                    <a:pt x="371944" y="338734"/>
                  </a:lnTo>
                  <a:lnTo>
                    <a:pt x="410489" y="366699"/>
                  </a:lnTo>
                  <a:lnTo>
                    <a:pt x="460273" y="387223"/>
                  </a:lnTo>
                  <a:lnTo>
                    <a:pt x="508939" y="402183"/>
                  </a:lnTo>
                  <a:lnTo>
                    <a:pt x="594931" y="424510"/>
                  </a:lnTo>
                  <a:lnTo>
                    <a:pt x="628256" y="436435"/>
                  </a:lnTo>
                  <a:lnTo>
                    <a:pt x="652449" y="451891"/>
                  </a:lnTo>
                  <a:lnTo>
                    <a:pt x="665530" y="473189"/>
                  </a:lnTo>
                  <a:lnTo>
                    <a:pt x="665492" y="502577"/>
                  </a:lnTo>
                  <a:lnTo>
                    <a:pt x="650049" y="531888"/>
                  </a:lnTo>
                  <a:lnTo>
                    <a:pt x="622071" y="552818"/>
                  </a:lnTo>
                  <a:lnTo>
                    <a:pt x="587794" y="565378"/>
                  </a:lnTo>
                  <a:lnTo>
                    <a:pt x="553504" y="569556"/>
                  </a:lnTo>
                  <a:lnTo>
                    <a:pt x="508876" y="563194"/>
                  </a:lnTo>
                  <a:lnTo>
                    <a:pt x="477100" y="544436"/>
                  </a:lnTo>
                  <a:lnTo>
                    <a:pt x="460578" y="513829"/>
                  </a:lnTo>
                  <a:lnTo>
                    <a:pt x="461683" y="471868"/>
                  </a:lnTo>
                  <a:lnTo>
                    <a:pt x="275539" y="471868"/>
                  </a:lnTo>
                  <a:lnTo>
                    <a:pt x="269430" y="527735"/>
                  </a:lnTo>
                  <a:lnTo>
                    <a:pt x="274370" y="574230"/>
                  </a:lnTo>
                  <a:lnTo>
                    <a:pt x="289217" y="612089"/>
                  </a:lnTo>
                  <a:lnTo>
                    <a:pt x="312877" y="642086"/>
                  </a:lnTo>
                  <a:lnTo>
                    <a:pt x="344208" y="664946"/>
                  </a:lnTo>
                  <a:lnTo>
                    <a:pt x="382117" y="681418"/>
                  </a:lnTo>
                  <a:lnTo>
                    <a:pt x="425475" y="692264"/>
                  </a:lnTo>
                  <a:lnTo>
                    <a:pt x="473151" y="698233"/>
                  </a:lnTo>
                  <a:lnTo>
                    <a:pt x="524052" y="700049"/>
                  </a:lnTo>
                  <a:lnTo>
                    <a:pt x="575627" y="697547"/>
                  </a:lnTo>
                  <a:lnTo>
                    <a:pt x="626084" y="690016"/>
                  </a:lnTo>
                  <a:lnTo>
                    <a:pt x="674420" y="677392"/>
                  </a:lnTo>
                  <a:lnTo>
                    <a:pt x="719607" y="659612"/>
                  </a:lnTo>
                  <a:lnTo>
                    <a:pt x="760666" y="636625"/>
                  </a:lnTo>
                  <a:lnTo>
                    <a:pt x="796582" y="608368"/>
                  </a:lnTo>
                  <a:lnTo>
                    <a:pt x="826350" y="574776"/>
                  </a:lnTo>
                  <a:lnTo>
                    <a:pt x="829373" y="569556"/>
                  </a:lnTo>
                  <a:lnTo>
                    <a:pt x="848956" y="535813"/>
                  </a:lnTo>
                  <a:lnTo>
                    <a:pt x="863409" y="491388"/>
                  </a:lnTo>
                  <a:lnTo>
                    <a:pt x="869175" y="436956"/>
                  </a:lnTo>
                  <a:lnTo>
                    <a:pt x="862253" y="393573"/>
                  </a:lnTo>
                  <a:lnTo>
                    <a:pt x="844715" y="359727"/>
                  </a:lnTo>
                  <a:lnTo>
                    <a:pt x="786180" y="314388"/>
                  </a:lnTo>
                  <a:lnTo>
                    <a:pt x="749388" y="299808"/>
                  </a:lnTo>
                  <a:lnTo>
                    <a:pt x="710361" y="288569"/>
                  </a:lnTo>
                  <a:lnTo>
                    <a:pt x="634009" y="269887"/>
                  </a:lnTo>
                  <a:lnTo>
                    <a:pt x="598487" y="259105"/>
                  </a:lnTo>
                  <a:lnTo>
                    <a:pt x="566508" y="244411"/>
                  </a:lnTo>
                  <a:lnTo>
                    <a:pt x="545198" y="222910"/>
                  </a:lnTo>
                  <a:lnTo>
                    <a:pt x="541705" y="191706"/>
                  </a:lnTo>
                  <a:lnTo>
                    <a:pt x="553237" y="167970"/>
                  </a:lnTo>
                  <a:lnTo>
                    <a:pt x="574865" y="148424"/>
                  </a:lnTo>
                  <a:lnTo>
                    <a:pt x="603186" y="135166"/>
                  </a:lnTo>
                  <a:lnTo>
                    <a:pt x="634784" y="130289"/>
                  </a:lnTo>
                  <a:lnTo>
                    <a:pt x="656831" y="131673"/>
                  </a:lnTo>
                  <a:lnTo>
                    <a:pt x="701929" y="151714"/>
                  </a:lnTo>
                  <a:lnTo>
                    <a:pt x="716394" y="192925"/>
                  </a:lnTo>
                  <a:lnTo>
                    <a:pt x="713587" y="211251"/>
                  </a:lnTo>
                  <a:lnTo>
                    <a:pt x="899706" y="211251"/>
                  </a:lnTo>
                  <a:lnTo>
                    <a:pt x="908519" y="161366"/>
                  </a:lnTo>
                  <a:close/>
                </a:path>
                <a:path w="3693159" h="700405">
                  <a:moveTo>
                    <a:pt x="1580972" y="13944"/>
                  </a:moveTo>
                  <a:lnTo>
                    <a:pt x="1069111" y="13944"/>
                  </a:lnTo>
                  <a:lnTo>
                    <a:pt x="926261" y="685927"/>
                  </a:lnTo>
                  <a:lnTo>
                    <a:pt x="1438135" y="685927"/>
                  </a:lnTo>
                  <a:lnTo>
                    <a:pt x="1465897" y="555599"/>
                  </a:lnTo>
                  <a:lnTo>
                    <a:pt x="1140142" y="555599"/>
                  </a:lnTo>
                  <a:lnTo>
                    <a:pt x="1170393" y="413207"/>
                  </a:lnTo>
                  <a:lnTo>
                    <a:pt x="1470075" y="413207"/>
                  </a:lnTo>
                  <a:lnTo>
                    <a:pt x="1497685" y="282956"/>
                  </a:lnTo>
                  <a:lnTo>
                    <a:pt x="1198003" y="282956"/>
                  </a:lnTo>
                  <a:lnTo>
                    <a:pt x="1227467" y="144233"/>
                  </a:lnTo>
                  <a:lnTo>
                    <a:pt x="1553222" y="144233"/>
                  </a:lnTo>
                  <a:lnTo>
                    <a:pt x="1580972" y="13944"/>
                  </a:lnTo>
                  <a:close/>
                </a:path>
                <a:path w="3693159" h="700405">
                  <a:moveTo>
                    <a:pt x="2341346" y="13944"/>
                  </a:moveTo>
                  <a:lnTo>
                    <a:pt x="2173833" y="13944"/>
                  </a:lnTo>
                  <a:lnTo>
                    <a:pt x="2067737" y="512775"/>
                  </a:lnTo>
                  <a:lnTo>
                    <a:pt x="2065566" y="514680"/>
                  </a:lnTo>
                  <a:lnTo>
                    <a:pt x="1984082" y="171272"/>
                  </a:lnTo>
                  <a:lnTo>
                    <a:pt x="1946757" y="13944"/>
                  </a:lnTo>
                  <a:lnTo>
                    <a:pt x="1686140" y="13944"/>
                  </a:lnTo>
                  <a:lnTo>
                    <a:pt x="1543291" y="685927"/>
                  </a:lnTo>
                  <a:lnTo>
                    <a:pt x="1710829" y="685927"/>
                  </a:lnTo>
                  <a:lnTo>
                    <a:pt x="1820189" y="171272"/>
                  </a:lnTo>
                  <a:lnTo>
                    <a:pt x="1822043" y="171272"/>
                  </a:lnTo>
                  <a:lnTo>
                    <a:pt x="1940687" y="685927"/>
                  </a:lnTo>
                  <a:lnTo>
                    <a:pt x="2198509" y="685927"/>
                  </a:lnTo>
                  <a:lnTo>
                    <a:pt x="2234920" y="514680"/>
                  </a:lnTo>
                  <a:lnTo>
                    <a:pt x="2341346" y="13944"/>
                  </a:lnTo>
                  <a:close/>
                </a:path>
                <a:path w="3693159" h="700405">
                  <a:moveTo>
                    <a:pt x="3024962" y="685927"/>
                  </a:moveTo>
                  <a:lnTo>
                    <a:pt x="3001060" y="554685"/>
                  </a:lnTo>
                  <a:lnTo>
                    <a:pt x="2977337" y="424395"/>
                  </a:lnTo>
                  <a:lnTo>
                    <a:pt x="2926486" y="145148"/>
                  </a:lnTo>
                  <a:lnTo>
                    <a:pt x="2902585" y="13944"/>
                  </a:lnTo>
                  <a:lnTo>
                    <a:pt x="2779890" y="13944"/>
                  </a:lnTo>
                  <a:lnTo>
                    <a:pt x="2779890" y="424395"/>
                  </a:lnTo>
                  <a:lnTo>
                    <a:pt x="2600261" y="424395"/>
                  </a:lnTo>
                  <a:lnTo>
                    <a:pt x="2750870" y="145148"/>
                  </a:lnTo>
                  <a:lnTo>
                    <a:pt x="2753652" y="145148"/>
                  </a:lnTo>
                  <a:lnTo>
                    <a:pt x="2779890" y="424395"/>
                  </a:lnTo>
                  <a:lnTo>
                    <a:pt x="2779890" y="13944"/>
                  </a:lnTo>
                  <a:lnTo>
                    <a:pt x="2675483" y="13944"/>
                  </a:lnTo>
                  <a:lnTo>
                    <a:pt x="2267356" y="685927"/>
                  </a:lnTo>
                  <a:lnTo>
                    <a:pt x="2453525" y="685927"/>
                  </a:lnTo>
                  <a:lnTo>
                    <a:pt x="2525179" y="554685"/>
                  </a:lnTo>
                  <a:lnTo>
                    <a:pt x="2797886" y="554685"/>
                  </a:lnTo>
                  <a:lnTo>
                    <a:pt x="2814637" y="685927"/>
                  </a:lnTo>
                  <a:lnTo>
                    <a:pt x="3024962" y="685927"/>
                  </a:lnTo>
                  <a:close/>
                </a:path>
                <a:path w="3693159" h="700405">
                  <a:moveTo>
                    <a:pt x="3424682" y="13944"/>
                  </a:moveTo>
                  <a:lnTo>
                    <a:pt x="3238563" y="13944"/>
                  </a:lnTo>
                  <a:lnTo>
                    <a:pt x="3095675" y="685927"/>
                  </a:lnTo>
                  <a:lnTo>
                    <a:pt x="3281832" y="685927"/>
                  </a:lnTo>
                  <a:lnTo>
                    <a:pt x="3424682" y="13944"/>
                  </a:lnTo>
                  <a:close/>
                </a:path>
                <a:path w="3693159" h="700405">
                  <a:moveTo>
                    <a:pt x="3692931" y="660984"/>
                  </a:moveTo>
                  <a:lnTo>
                    <a:pt x="3494570" y="660984"/>
                  </a:lnTo>
                  <a:lnTo>
                    <a:pt x="3494570" y="685812"/>
                  </a:lnTo>
                  <a:lnTo>
                    <a:pt x="3692931" y="685812"/>
                  </a:lnTo>
                  <a:lnTo>
                    <a:pt x="3692931" y="660984"/>
                  </a:lnTo>
                  <a:close/>
                </a:path>
                <a:path w="3693159" h="700405">
                  <a:moveTo>
                    <a:pt x="3692931" y="502246"/>
                  </a:moveTo>
                  <a:lnTo>
                    <a:pt x="3494570" y="502246"/>
                  </a:lnTo>
                  <a:lnTo>
                    <a:pt x="3494570" y="527050"/>
                  </a:lnTo>
                  <a:lnTo>
                    <a:pt x="3692931" y="527050"/>
                  </a:lnTo>
                  <a:lnTo>
                    <a:pt x="3692931" y="502246"/>
                  </a:lnTo>
                  <a:close/>
                </a:path>
                <a:path w="3693159" h="700405">
                  <a:moveTo>
                    <a:pt x="3692931" y="337540"/>
                  </a:moveTo>
                  <a:lnTo>
                    <a:pt x="3494570" y="337540"/>
                  </a:lnTo>
                  <a:lnTo>
                    <a:pt x="3494570" y="362356"/>
                  </a:lnTo>
                  <a:lnTo>
                    <a:pt x="3692931" y="362356"/>
                  </a:lnTo>
                  <a:lnTo>
                    <a:pt x="3692931" y="337540"/>
                  </a:lnTo>
                  <a:close/>
                </a:path>
                <a:path w="3693159" h="700405">
                  <a:moveTo>
                    <a:pt x="3692931" y="175044"/>
                  </a:moveTo>
                  <a:lnTo>
                    <a:pt x="3494570" y="175044"/>
                  </a:lnTo>
                  <a:lnTo>
                    <a:pt x="3494570" y="199898"/>
                  </a:lnTo>
                  <a:lnTo>
                    <a:pt x="3692931" y="199898"/>
                  </a:lnTo>
                  <a:lnTo>
                    <a:pt x="3692931" y="175044"/>
                  </a:lnTo>
                  <a:close/>
                </a:path>
                <a:path w="3693159" h="700405">
                  <a:moveTo>
                    <a:pt x="3692931" y="16789"/>
                  </a:moveTo>
                  <a:lnTo>
                    <a:pt x="3494570" y="16789"/>
                  </a:lnTo>
                  <a:lnTo>
                    <a:pt x="3494570" y="41592"/>
                  </a:lnTo>
                  <a:lnTo>
                    <a:pt x="3692931" y="41592"/>
                  </a:lnTo>
                  <a:lnTo>
                    <a:pt x="3692931" y="16789"/>
                  </a:lnTo>
                  <a:close/>
                </a:path>
              </a:pathLst>
            </a:custGeom>
            <a:solidFill>
              <a:srgbClr val="FFFFFF"/>
            </a:solidFill>
          </p:spPr>
          <p:txBody>
            <a:bodyPr wrap="square" lIns="0" tIns="0" rIns="0" bIns="0" rtlCol="0"/>
            <a:lstStyle/>
            <a:p>
              <a:endParaRPr/>
            </a:p>
          </p:txBody>
        </p:sp>
      </p:grpSp>
      <p:sp>
        <p:nvSpPr>
          <p:cNvPr id="71" name="object 71"/>
          <p:cNvSpPr txBox="1">
            <a:spLocks noGrp="1"/>
          </p:cNvSpPr>
          <p:nvPr>
            <p:ph type="title"/>
          </p:nvPr>
        </p:nvSpPr>
        <p:spPr>
          <a:xfrm>
            <a:off x="349676" y="82345"/>
            <a:ext cx="11531173" cy="1235595"/>
          </a:xfrm>
          <a:prstGeom prst="rect">
            <a:avLst/>
          </a:prstGeom>
        </p:spPr>
        <p:txBody>
          <a:bodyPr vert="horz" wrap="square" lIns="0" tIns="12065" rIns="0" bIns="0" rtlCol="0">
            <a:spAutoFit/>
          </a:bodyPr>
          <a:lstStyle/>
          <a:p>
            <a:pPr marL="12700">
              <a:lnSpc>
                <a:spcPct val="150000"/>
              </a:lnSpc>
              <a:spcBef>
                <a:spcPts val="95"/>
              </a:spcBef>
            </a:pPr>
            <a:r>
              <a:rPr lang="pt-BR" sz="4400" b="1" spc="-15" dirty="0" smtClean="0">
                <a:solidFill>
                  <a:schemeClr val="bg1"/>
                </a:solidFill>
                <a:latin typeface="Montserrat ExtraBold"/>
                <a:cs typeface="Montserrat ExtraBold"/>
              </a:rPr>
              <a:t>ATIVIDADE:SUA VEZ DE RESOLVER</a:t>
            </a:r>
            <a:endParaRPr sz="4400" dirty="0">
              <a:solidFill>
                <a:schemeClr val="bg1"/>
              </a:solidFill>
              <a:latin typeface="Montserrat ExtraBold"/>
              <a:cs typeface="Montserrat ExtraBold"/>
            </a:endParaRPr>
          </a:p>
          <a:p>
            <a:pPr marL="12700">
              <a:lnSpc>
                <a:spcPct val="150000"/>
              </a:lnSpc>
            </a:pPr>
            <a:endParaRPr sz="900" dirty="0">
              <a:solidFill>
                <a:schemeClr val="bg1"/>
              </a:solidFill>
              <a:latin typeface="Montserrat"/>
              <a:cs typeface="Montserrat"/>
            </a:endParaRPr>
          </a:p>
        </p:txBody>
      </p:sp>
      <p:sp>
        <p:nvSpPr>
          <p:cNvPr id="74" name="CaixaDeTexto 73"/>
          <p:cNvSpPr txBox="1"/>
          <p:nvPr/>
        </p:nvSpPr>
        <p:spPr>
          <a:xfrm>
            <a:off x="318352" y="1009312"/>
            <a:ext cx="9657498" cy="8956298"/>
          </a:xfrm>
          <a:prstGeom prst="rect">
            <a:avLst/>
          </a:prstGeom>
          <a:noFill/>
        </p:spPr>
        <p:txBody>
          <a:bodyPr wrap="square" rtlCol="0">
            <a:spAutoFit/>
          </a:bodyPr>
          <a:lstStyle/>
          <a:p>
            <a:pPr algn="just">
              <a:lnSpc>
                <a:spcPct val="150000"/>
              </a:lnSpc>
            </a:pPr>
            <a:r>
              <a:rPr lang="pt-BR" sz="2400" dirty="0" smtClean="0">
                <a:solidFill>
                  <a:schemeClr val="bg1"/>
                </a:solidFill>
              </a:rPr>
              <a:t>Uma oficina mecânica precisa saber em quais veículos cada mecânico está trabalhando, pode haver mecânicos que não estejam trabalhando em nenhum veículo, bem como veículos que ainda não estão sendo atendidos por nenhum mecânico. Um mecânico pode estar trabalhando com mais de um veículo:</a:t>
            </a:r>
          </a:p>
          <a:p>
            <a:pPr algn="just">
              <a:lnSpc>
                <a:spcPct val="150000"/>
              </a:lnSpc>
            </a:pPr>
            <a:endParaRPr lang="pt-BR" sz="2400" dirty="0">
              <a:solidFill>
                <a:schemeClr val="bg1"/>
              </a:solidFill>
            </a:endParaRPr>
          </a:p>
          <a:p>
            <a:pPr marL="457200" indent="-457200" algn="just">
              <a:lnSpc>
                <a:spcPct val="150000"/>
              </a:lnSpc>
              <a:buFont typeface="+mj-lt"/>
              <a:buAutoNum type="alphaUcPeriod"/>
            </a:pPr>
            <a:r>
              <a:rPr lang="pt-BR" sz="2400" dirty="0" smtClean="0">
                <a:solidFill>
                  <a:schemeClr val="bg1"/>
                </a:solidFill>
              </a:rPr>
              <a:t>Uma relação com </a:t>
            </a:r>
            <a:r>
              <a:rPr lang="pt-BR" sz="2400" b="1" dirty="0" smtClean="0">
                <a:solidFill>
                  <a:srgbClr val="FF0000"/>
                </a:solidFill>
              </a:rPr>
              <a:t>TODOS OS TRABALHOS QUE ESTEJAM SENDO EXECUTADOS ATUALMENTE</a:t>
            </a:r>
            <a:r>
              <a:rPr lang="pt-BR" sz="2400" dirty="0" smtClean="0">
                <a:solidFill>
                  <a:schemeClr val="bg1"/>
                </a:solidFill>
              </a:rPr>
              <a:t>, que exiba o nome do mecânico, a placa do veículo e o modelo do veículo;</a:t>
            </a:r>
          </a:p>
          <a:p>
            <a:pPr marL="457200" indent="-457200" algn="just">
              <a:lnSpc>
                <a:spcPct val="150000"/>
              </a:lnSpc>
              <a:buFont typeface="+mj-lt"/>
              <a:buAutoNum type="alphaUcPeriod"/>
            </a:pPr>
            <a:endParaRPr lang="pt-BR" sz="2400" dirty="0">
              <a:solidFill>
                <a:schemeClr val="bg1"/>
              </a:solidFill>
            </a:endParaRPr>
          </a:p>
          <a:p>
            <a:pPr marL="457200" indent="-457200" algn="just">
              <a:lnSpc>
                <a:spcPct val="150000"/>
              </a:lnSpc>
              <a:buFont typeface="+mj-lt"/>
              <a:buAutoNum type="alphaUcPeriod"/>
            </a:pPr>
            <a:r>
              <a:rPr lang="pt-BR" sz="2400" dirty="0" smtClean="0">
                <a:solidFill>
                  <a:schemeClr val="bg1"/>
                </a:solidFill>
              </a:rPr>
              <a:t>Uma relação com o modelo e a marca de </a:t>
            </a:r>
            <a:r>
              <a:rPr lang="pt-BR" sz="2400" b="1" dirty="0" smtClean="0">
                <a:solidFill>
                  <a:srgbClr val="FF0000"/>
                </a:solidFill>
              </a:rPr>
              <a:t>TODOS OS VEÍCULOS </a:t>
            </a:r>
            <a:r>
              <a:rPr lang="pt-BR" sz="2400" dirty="0" smtClean="0">
                <a:solidFill>
                  <a:schemeClr val="bg1"/>
                </a:solidFill>
              </a:rPr>
              <a:t>que estão na oficina, e se houver algum mecânico trabalhando no veículo, exibir o nome do mecânico;</a:t>
            </a:r>
          </a:p>
          <a:p>
            <a:pPr marL="457200" indent="-457200" algn="just">
              <a:lnSpc>
                <a:spcPct val="150000"/>
              </a:lnSpc>
              <a:buFont typeface="+mj-lt"/>
              <a:buAutoNum type="alphaUcPeriod"/>
            </a:pPr>
            <a:endParaRPr lang="pt-BR" sz="2400" dirty="0">
              <a:solidFill>
                <a:schemeClr val="bg1"/>
              </a:solidFill>
            </a:endParaRPr>
          </a:p>
          <a:p>
            <a:pPr marL="457200" indent="-457200" algn="just">
              <a:lnSpc>
                <a:spcPct val="150000"/>
              </a:lnSpc>
              <a:buFont typeface="+mj-lt"/>
              <a:buAutoNum type="alphaUcPeriod"/>
            </a:pPr>
            <a:r>
              <a:rPr lang="pt-BR" sz="2400" dirty="0" smtClean="0">
                <a:solidFill>
                  <a:schemeClr val="bg1"/>
                </a:solidFill>
              </a:rPr>
              <a:t>Uma lista com o ID e o nome de </a:t>
            </a:r>
            <a:r>
              <a:rPr lang="pt-BR" sz="2400" b="1" dirty="0" smtClean="0">
                <a:solidFill>
                  <a:srgbClr val="FF0000"/>
                </a:solidFill>
              </a:rPr>
              <a:t>TODOS OS MECÂNICOS</a:t>
            </a:r>
            <a:r>
              <a:rPr lang="pt-BR" sz="2400" dirty="0">
                <a:solidFill>
                  <a:schemeClr val="bg1"/>
                </a:solidFill>
              </a:rPr>
              <a:t>,</a:t>
            </a:r>
            <a:r>
              <a:rPr lang="pt-BR" sz="2400" dirty="0" smtClean="0">
                <a:solidFill>
                  <a:schemeClr val="bg1"/>
                </a:solidFill>
              </a:rPr>
              <a:t> e se o mecânico estiver trabalhando em algum veículo, exibir o ID do veículo</a:t>
            </a:r>
            <a:endParaRPr lang="pt-BR" sz="2400" b="1" dirty="0">
              <a:solidFill>
                <a:srgbClr val="FF0000"/>
              </a:solidFill>
            </a:endParaRPr>
          </a:p>
        </p:txBody>
      </p:sp>
      <p:pic>
        <p:nvPicPr>
          <p:cNvPr id="76" name="Imagem 7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32316" y="1227935"/>
            <a:ext cx="9024988" cy="9024988"/>
          </a:xfrm>
          <a:prstGeom prst="rect">
            <a:avLst/>
          </a:prstGeom>
        </p:spPr>
      </p:pic>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Tree>
    <p:extLst>
      <p:ext uri="{BB962C8B-B14F-4D97-AF65-F5344CB8AC3E}">
        <p14:creationId xmlns:p14="http://schemas.microsoft.com/office/powerpoint/2010/main" val="97543566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flipH="1">
            <a:off x="-692150" y="440798"/>
            <a:ext cx="818490" cy="4528078"/>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grpSp>
        <p:nvGrpSpPr>
          <p:cNvPr id="4" name="object 4"/>
          <p:cNvGrpSpPr/>
          <p:nvPr/>
        </p:nvGrpSpPr>
        <p:grpSpPr>
          <a:xfrm>
            <a:off x="16163694" y="228654"/>
            <a:ext cx="3693160" cy="942975"/>
            <a:chOff x="15363992" y="1047088"/>
            <a:chExt cx="3693160" cy="942975"/>
          </a:xfrm>
        </p:grpSpPr>
        <p:sp>
          <p:nvSpPr>
            <p:cNvPr id="5" name="object 5"/>
            <p:cNvSpPr/>
            <p:nvPr/>
          </p:nvSpPr>
          <p:spPr>
            <a:xfrm>
              <a:off x="15364065"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6" name="object 6"/>
            <p:cNvSpPr/>
            <p:nvPr/>
          </p:nvSpPr>
          <p:spPr>
            <a:xfrm>
              <a:off x="15363990" y="1167618"/>
              <a:ext cx="3693160" cy="700405"/>
            </a:xfrm>
            <a:custGeom>
              <a:avLst/>
              <a:gdLst/>
              <a:ahLst/>
              <a:cxnLst/>
              <a:rect l="l" t="t" r="r" b="b"/>
              <a:pathLst>
                <a:path w="3693159" h="700405">
                  <a:moveTo>
                    <a:pt x="198361" y="660984"/>
                  </a:moveTo>
                  <a:lnTo>
                    <a:pt x="0" y="660984"/>
                  </a:lnTo>
                  <a:lnTo>
                    <a:pt x="0" y="685812"/>
                  </a:lnTo>
                  <a:lnTo>
                    <a:pt x="198361" y="685812"/>
                  </a:lnTo>
                  <a:lnTo>
                    <a:pt x="198361" y="660984"/>
                  </a:lnTo>
                  <a:close/>
                </a:path>
                <a:path w="3693159" h="700405">
                  <a:moveTo>
                    <a:pt x="198361" y="502246"/>
                  </a:moveTo>
                  <a:lnTo>
                    <a:pt x="0" y="502246"/>
                  </a:lnTo>
                  <a:lnTo>
                    <a:pt x="0" y="527050"/>
                  </a:lnTo>
                  <a:lnTo>
                    <a:pt x="198361" y="527050"/>
                  </a:lnTo>
                  <a:lnTo>
                    <a:pt x="198361" y="502246"/>
                  </a:lnTo>
                  <a:close/>
                </a:path>
                <a:path w="3693159" h="700405">
                  <a:moveTo>
                    <a:pt x="198361" y="337540"/>
                  </a:moveTo>
                  <a:lnTo>
                    <a:pt x="0" y="337540"/>
                  </a:lnTo>
                  <a:lnTo>
                    <a:pt x="0" y="362356"/>
                  </a:lnTo>
                  <a:lnTo>
                    <a:pt x="198361" y="362356"/>
                  </a:lnTo>
                  <a:lnTo>
                    <a:pt x="198361" y="337540"/>
                  </a:lnTo>
                  <a:close/>
                </a:path>
                <a:path w="3693159" h="700405">
                  <a:moveTo>
                    <a:pt x="198361" y="175044"/>
                  </a:moveTo>
                  <a:lnTo>
                    <a:pt x="0" y="175044"/>
                  </a:lnTo>
                  <a:lnTo>
                    <a:pt x="0" y="199898"/>
                  </a:lnTo>
                  <a:lnTo>
                    <a:pt x="198361" y="199898"/>
                  </a:lnTo>
                  <a:lnTo>
                    <a:pt x="198361" y="175044"/>
                  </a:lnTo>
                  <a:close/>
                </a:path>
                <a:path w="3693159" h="700405">
                  <a:moveTo>
                    <a:pt x="198361" y="16789"/>
                  </a:moveTo>
                  <a:lnTo>
                    <a:pt x="0" y="16789"/>
                  </a:lnTo>
                  <a:lnTo>
                    <a:pt x="0" y="41592"/>
                  </a:lnTo>
                  <a:lnTo>
                    <a:pt x="198361" y="41592"/>
                  </a:lnTo>
                  <a:lnTo>
                    <a:pt x="198361" y="16789"/>
                  </a:lnTo>
                  <a:close/>
                </a:path>
                <a:path w="3693159" h="700405">
                  <a:moveTo>
                    <a:pt x="908519" y="161366"/>
                  </a:moveTo>
                  <a:lnTo>
                    <a:pt x="905611" y="119291"/>
                  </a:lnTo>
                  <a:lnTo>
                    <a:pt x="870216" y="56515"/>
                  </a:lnTo>
                  <a:lnTo>
                    <a:pt x="804722" y="18783"/>
                  </a:lnTo>
                  <a:lnTo>
                    <a:pt x="764209" y="8001"/>
                  </a:lnTo>
                  <a:lnTo>
                    <a:pt x="720382" y="1905"/>
                  </a:lnTo>
                  <a:lnTo>
                    <a:pt x="674649" y="0"/>
                  </a:lnTo>
                  <a:lnTo>
                    <a:pt x="627646" y="1714"/>
                  </a:lnTo>
                  <a:lnTo>
                    <a:pt x="580986" y="7264"/>
                  </a:lnTo>
                  <a:lnTo>
                    <a:pt x="535609" y="17233"/>
                  </a:lnTo>
                  <a:lnTo>
                    <a:pt x="492480" y="32207"/>
                  </a:lnTo>
                  <a:lnTo>
                    <a:pt x="452551" y="52793"/>
                  </a:lnTo>
                  <a:lnTo>
                    <a:pt x="416788" y="79552"/>
                  </a:lnTo>
                  <a:lnTo>
                    <a:pt x="386118" y="113106"/>
                  </a:lnTo>
                  <a:lnTo>
                    <a:pt x="361518" y="154012"/>
                  </a:lnTo>
                  <a:lnTo>
                    <a:pt x="343928" y="202895"/>
                  </a:lnTo>
                  <a:lnTo>
                    <a:pt x="339191" y="254914"/>
                  </a:lnTo>
                  <a:lnTo>
                    <a:pt x="348361" y="300837"/>
                  </a:lnTo>
                  <a:lnTo>
                    <a:pt x="371944" y="338734"/>
                  </a:lnTo>
                  <a:lnTo>
                    <a:pt x="410489" y="366699"/>
                  </a:lnTo>
                  <a:lnTo>
                    <a:pt x="460273" y="387223"/>
                  </a:lnTo>
                  <a:lnTo>
                    <a:pt x="508939" y="402183"/>
                  </a:lnTo>
                  <a:lnTo>
                    <a:pt x="594931" y="424510"/>
                  </a:lnTo>
                  <a:lnTo>
                    <a:pt x="628256" y="436435"/>
                  </a:lnTo>
                  <a:lnTo>
                    <a:pt x="652449" y="451891"/>
                  </a:lnTo>
                  <a:lnTo>
                    <a:pt x="665530" y="473189"/>
                  </a:lnTo>
                  <a:lnTo>
                    <a:pt x="665492" y="502577"/>
                  </a:lnTo>
                  <a:lnTo>
                    <a:pt x="650049" y="531888"/>
                  </a:lnTo>
                  <a:lnTo>
                    <a:pt x="622071" y="552818"/>
                  </a:lnTo>
                  <a:lnTo>
                    <a:pt x="587794" y="565378"/>
                  </a:lnTo>
                  <a:lnTo>
                    <a:pt x="553504" y="569556"/>
                  </a:lnTo>
                  <a:lnTo>
                    <a:pt x="508876" y="563194"/>
                  </a:lnTo>
                  <a:lnTo>
                    <a:pt x="477100" y="544436"/>
                  </a:lnTo>
                  <a:lnTo>
                    <a:pt x="460578" y="513829"/>
                  </a:lnTo>
                  <a:lnTo>
                    <a:pt x="461683" y="471868"/>
                  </a:lnTo>
                  <a:lnTo>
                    <a:pt x="275539" y="471868"/>
                  </a:lnTo>
                  <a:lnTo>
                    <a:pt x="269430" y="527735"/>
                  </a:lnTo>
                  <a:lnTo>
                    <a:pt x="274370" y="574230"/>
                  </a:lnTo>
                  <a:lnTo>
                    <a:pt x="289217" y="612089"/>
                  </a:lnTo>
                  <a:lnTo>
                    <a:pt x="312877" y="642086"/>
                  </a:lnTo>
                  <a:lnTo>
                    <a:pt x="344208" y="664946"/>
                  </a:lnTo>
                  <a:lnTo>
                    <a:pt x="382117" y="681418"/>
                  </a:lnTo>
                  <a:lnTo>
                    <a:pt x="425475" y="692264"/>
                  </a:lnTo>
                  <a:lnTo>
                    <a:pt x="473151" y="698233"/>
                  </a:lnTo>
                  <a:lnTo>
                    <a:pt x="524052" y="700049"/>
                  </a:lnTo>
                  <a:lnTo>
                    <a:pt x="575627" y="697547"/>
                  </a:lnTo>
                  <a:lnTo>
                    <a:pt x="626084" y="690016"/>
                  </a:lnTo>
                  <a:lnTo>
                    <a:pt x="674420" y="677392"/>
                  </a:lnTo>
                  <a:lnTo>
                    <a:pt x="719607" y="659612"/>
                  </a:lnTo>
                  <a:lnTo>
                    <a:pt x="760666" y="636625"/>
                  </a:lnTo>
                  <a:lnTo>
                    <a:pt x="796582" y="608368"/>
                  </a:lnTo>
                  <a:lnTo>
                    <a:pt x="826350" y="574776"/>
                  </a:lnTo>
                  <a:lnTo>
                    <a:pt x="829373" y="569556"/>
                  </a:lnTo>
                  <a:lnTo>
                    <a:pt x="848956" y="535813"/>
                  </a:lnTo>
                  <a:lnTo>
                    <a:pt x="863409" y="491388"/>
                  </a:lnTo>
                  <a:lnTo>
                    <a:pt x="869175" y="436956"/>
                  </a:lnTo>
                  <a:lnTo>
                    <a:pt x="862253" y="393573"/>
                  </a:lnTo>
                  <a:lnTo>
                    <a:pt x="844715" y="359727"/>
                  </a:lnTo>
                  <a:lnTo>
                    <a:pt x="786180" y="314388"/>
                  </a:lnTo>
                  <a:lnTo>
                    <a:pt x="749388" y="299808"/>
                  </a:lnTo>
                  <a:lnTo>
                    <a:pt x="710361" y="288569"/>
                  </a:lnTo>
                  <a:lnTo>
                    <a:pt x="634009" y="269887"/>
                  </a:lnTo>
                  <a:lnTo>
                    <a:pt x="598487" y="259105"/>
                  </a:lnTo>
                  <a:lnTo>
                    <a:pt x="566508" y="244411"/>
                  </a:lnTo>
                  <a:lnTo>
                    <a:pt x="545198" y="222910"/>
                  </a:lnTo>
                  <a:lnTo>
                    <a:pt x="541705" y="191706"/>
                  </a:lnTo>
                  <a:lnTo>
                    <a:pt x="553237" y="167970"/>
                  </a:lnTo>
                  <a:lnTo>
                    <a:pt x="574865" y="148424"/>
                  </a:lnTo>
                  <a:lnTo>
                    <a:pt x="603186" y="135166"/>
                  </a:lnTo>
                  <a:lnTo>
                    <a:pt x="634784" y="130289"/>
                  </a:lnTo>
                  <a:lnTo>
                    <a:pt x="656831" y="131673"/>
                  </a:lnTo>
                  <a:lnTo>
                    <a:pt x="701929" y="151714"/>
                  </a:lnTo>
                  <a:lnTo>
                    <a:pt x="716394" y="192925"/>
                  </a:lnTo>
                  <a:lnTo>
                    <a:pt x="713587" y="211251"/>
                  </a:lnTo>
                  <a:lnTo>
                    <a:pt x="899706" y="211251"/>
                  </a:lnTo>
                  <a:lnTo>
                    <a:pt x="908519" y="161366"/>
                  </a:lnTo>
                  <a:close/>
                </a:path>
                <a:path w="3693159" h="700405">
                  <a:moveTo>
                    <a:pt x="1580972" y="13944"/>
                  </a:moveTo>
                  <a:lnTo>
                    <a:pt x="1069111" y="13944"/>
                  </a:lnTo>
                  <a:lnTo>
                    <a:pt x="926261" y="685927"/>
                  </a:lnTo>
                  <a:lnTo>
                    <a:pt x="1438135" y="685927"/>
                  </a:lnTo>
                  <a:lnTo>
                    <a:pt x="1465897" y="555599"/>
                  </a:lnTo>
                  <a:lnTo>
                    <a:pt x="1140142" y="555599"/>
                  </a:lnTo>
                  <a:lnTo>
                    <a:pt x="1170393" y="413207"/>
                  </a:lnTo>
                  <a:lnTo>
                    <a:pt x="1470075" y="413207"/>
                  </a:lnTo>
                  <a:lnTo>
                    <a:pt x="1497685" y="282956"/>
                  </a:lnTo>
                  <a:lnTo>
                    <a:pt x="1198003" y="282956"/>
                  </a:lnTo>
                  <a:lnTo>
                    <a:pt x="1227467" y="144233"/>
                  </a:lnTo>
                  <a:lnTo>
                    <a:pt x="1553222" y="144233"/>
                  </a:lnTo>
                  <a:lnTo>
                    <a:pt x="1580972" y="13944"/>
                  </a:lnTo>
                  <a:close/>
                </a:path>
                <a:path w="3693159" h="700405">
                  <a:moveTo>
                    <a:pt x="2341346" y="13944"/>
                  </a:moveTo>
                  <a:lnTo>
                    <a:pt x="2173833" y="13944"/>
                  </a:lnTo>
                  <a:lnTo>
                    <a:pt x="2067737" y="512775"/>
                  </a:lnTo>
                  <a:lnTo>
                    <a:pt x="2065566" y="514680"/>
                  </a:lnTo>
                  <a:lnTo>
                    <a:pt x="1984082" y="171272"/>
                  </a:lnTo>
                  <a:lnTo>
                    <a:pt x="1946757" y="13944"/>
                  </a:lnTo>
                  <a:lnTo>
                    <a:pt x="1686140" y="13944"/>
                  </a:lnTo>
                  <a:lnTo>
                    <a:pt x="1543291" y="685927"/>
                  </a:lnTo>
                  <a:lnTo>
                    <a:pt x="1710829" y="685927"/>
                  </a:lnTo>
                  <a:lnTo>
                    <a:pt x="1820189" y="171272"/>
                  </a:lnTo>
                  <a:lnTo>
                    <a:pt x="1822043" y="171272"/>
                  </a:lnTo>
                  <a:lnTo>
                    <a:pt x="1940687" y="685927"/>
                  </a:lnTo>
                  <a:lnTo>
                    <a:pt x="2198509" y="685927"/>
                  </a:lnTo>
                  <a:lnTo>
                    <a:pt x="2234920" y="514680"/>
                  </a:lnTo>
                  <a:lnTo>
                    <a:pt x="2341346" y="13944"/>
                  </a:lnTo>
                  <a:close/>
                </a:path>
                <a:path w="3693159" h="700405">
                  <a:moveTo>
                    <a:pt x="3024962" y="685927"/>
                  </a:moveTo>
                  <a:lnTo>
                    <a:pt x="3001060" y="554685"/>
                  </a:lnTo>
                  <a:lnTo>
                    <a:pt x="2977337" y="424395"/>
                  </a:lnTo>
                  <a:lnTo>
                    <a:pt x="2926486" y="145148"/>
                  </a:lnTo>
                  <a:lnTo>
                    <a:pt x="2902585" y="13944"/>
                  </a:lnTo>
                  <a:lnTo>
                    <a:pt x="2779890" y="13944"/>
                  </a:lnTo>
                  <a:lnTo>
                    <a:pt x="2779890" y="424395"/>
                  </a:lnTo>
                  <a:lnTo>
                    <a:pt x="2600261" y="424395"/>
                  </a:lnTo>
                  <a:lnTo>
                    <a:pt x="2750870" y="145148"/>
                  </a:lnTo>
                  <a:lnTo>
                    <a:pt x="2753652" y="145148"/>
                  </a:lnTo>
                  <a:lnTo>
                    <a:pt x="2779890" y="424395"/>
                  </a:lnTo>
                  <a:lnTo>
                    <a:pt x="2779890" y="13944"/>
                  </a:lnTo>
                  <a:lnTo>
                    <a:pt x="2675483" y="13944"/>
                  </a:lnTo>
                  <a:lnTo>
                    <a:pt x="2267356" y="685927"/>
                  </a:lnTo>
                  <a:lnTo>
                    <a:pt x="2453525" y="685927"/>
                  </a:lnTo>
                  <a:lnTo>
                    <a:pt x="2525179" y="554685"/>
                  </a:lnTo>
                  <a:lnTo>
                    <a:pt x="2797886" y="554685"/>
                  </a:lnTo>
                  <a:lnTo>
                    <a:pt x="2814637" y="685927"/>
                  </a:lnTo>
                  <a:lnTo>
                    <a:pt x="3024962" y="685927"/>
                  </a:lnTo>
                  <a:close/>
                </a:path>
                <a:path w="3693159" h="700405">
                  <a:moveTo>
                    <a:pt x="3424682" y="13944"/>
                  </a:moveTo>
                  <a:lnTo>
                    <a:pt x="3238563" y="13944"/>
                  </a:lnTo>
                  <a:lnTo>
                    <a:pt x="3095675" y="685927"/>
                  </a:lnTo>
                  <a:lnTo>
                    <a:pt x="3281832" y="685927"/>
                  </a:lnTo>
                  <a:lnTo>
                    <a:pt x="3424682" y="13944"/>
                  </a:lnTo>
                  <a:close/>
                </a:path>
                <a:path w="3693159" h="700405">
                  <a:moveTo>
                    <a:pt x="3692931" y="660984"/>
                  </a:moveTo>
                  <a:lnTo>
                    <a:pt x="3494570" y="660984"/>
                  </a:lnTo>
                  <a:lnTo>
                    <a:pt x="3494570" y="685812"/>
                  </a:lnTo>
                  <a:lnTo>
                    <a:pt x="3692931" y="685812"/>
                  </a:lnTo>
                  <a:lnTo>
                    <a:pt x="3692931" y="660984"/>
                  </a:lnTo>
                  <a:close/>
                </a:path>
                <a:path w="3693159" h="700405">
                  <a:moveTo>
                    <a:pt x="3692931" y="502246"/>
                  </a:moveTo>
                  <a:lnTo>
                    <a:pt x="3494570" y="502246"/>
                  </a:lnTo>
                  <a:lnTo>
                    <a:pt x="3494570" y="527050"/>
                  </a:lnTo>
                  <a:lnTo>
                    <a:pt x="3692931" y="527050"/>
                  </a:lnTo>
                  <a:lnTo>
                    <a:pt x="3692931" y="502246"/>
                  </a:lnTo>
                  <a:close/>
                </a:path>
                <a:path w="3693159" h="700405">
                  <a:moveTo>
                    <a:pt x="3692931" y="337540"/>
                  </a:moveTo>
                  <a:lnTo>
                    <a:pt x="3494570" y="337540"/>
                  </a:lnTo>
                  <a:lnTo>
                    <a:pt x="3494570" y="362356"/>
                  </a:lnTo>
                  <a:lnTo>
                    <a:pt x="3692931" y="362356"/>
                  </a:lnTo>
                  <a:lnTo>
                    <a:pt x="3692931" y="337540"/>
                  </a:lnTo>
                  <a:close/>
                </a:path>
                <a:path w="3693159" h="700405">
                  <a:moveTo>
                    <a:pt x="3692931" y="175044"/>
                  </a:moveTo>
                  <a:lnTo>
                    <a:pt x="3494570" y="175044"/>
                  </a:lnTo>
                  <a:lnTo>
                    <a:pt x="3494570" y="199898"/>
                  </a:lnTo>
                  <a:lnTo>
                    <a:pt x="3692931" y="199898"/>
                  </a:lnTo>
                  <a:lnTo>
                    <a:pt x="3692931" y="175044"/>
                  </a:lnTo>
                  <a:close/>
                </a:path>
                <a:path w="3693159" h="700405">
                  <a:moveTo>
                    <a:pt x="3692931" y="16789"/>
                  </a:moveTo>
                  <a:lnTo>
                    <a:pt x="3494570" y="16789"/>
                  </a:lnTo>
                  <a:lnTo>
                    <a:pt x="3494570" y="41592"/>
                  </a:lnTo>
                  <a:lnTo>
                    <a:pt x="3692931" y="41592"/>
                  </a:lnTo>
                  <a:lnTo>
                    <a:pt x="3692931" y="16789"/>
                  </a:lnTo>
                  <a:close/>
                </a:path>
              </a:pathLst>
            </a:custGeom>
            <a:solidFill>
              <a:srgbClr val="FFFFFF"/>
            </a:solidFill>
          </p:spPr>
          <p:txBody>
            <a:bodyPr wrap="square" lIns="0" tIns="0" rIns="0" bIns="0" rtlCol="0"/>
            <a:lstStyle/>
            <a:p>
              <a:endParaRPr/>
            </a:p>
          </p:txBody>
        </p:sp>
      </p:grpSp>
      <p:sp>
        <p:nvSpPr>
          <p:cNvPr id="71" name="object 71"/>
          <p:cNvSpPr txBox="1">
            <a:spLocks noGrp="1"/>
          </p:cNvSpPr>
          <p:nvPr>
            <p:ph type="title"/>
          </p:nvPr>
        </p:nvSpPr>
        <p:spPr>
          <a:xfrm>
            <a:off x="349676" y="82345"/>
            <a:ext cx="11531173" cy="1235595"/>
          </a:xfrm>
          <a:prstGeom prst="rect">
            <a:avLst/>
          </a:prstGeom>
        </p:spPr>
        <p:txBody>
          <a:bodyPr vert="horz" wrap="square" lIns="0" tIns="12065" rIns="0" bIns="0" rtlCol="0">
            <a:spAutoFit/>
          </a:bodyPr>
          <a:lstStyle/>
          <a:p>
            <a:pPr marL="12700">
              <a:lnSpc>
                <a:spcPct val="150000"/>
              </a:lnSpc>
              <a:spcBef>
                <a:spcPts val="95"/>
              </a:spcBef>
            </a:pPr>
            <a:r>
              <a:rPr lang="pt-BR" sz="4400" b="1" spc="-15" dirty="0" smtClean="0">
                <a:solidFill>
                  <a:schemeClr val="bg1"/>
                </a:solidFill>
                <a:latin typeface="Montserrat ExtraBold"/>
                <a:cs typeface="Montserrat ExtraBold"/>
              </a:rPr>
              <a:t>ATIVIDADE:SUA VEZ DE RESOLVER</a:t>
            </a:r>
            <a:endParaRPr sz="4400" dirty="0">
              <a:solidFill>
                <a:schemeClr val="bg1"/>
              </a:solidFill>
              <a:latin typeface="Montserrat ExtraBold"/>
              <a:cs typeface="Montserrat ExtraBold"/>
            </a:endParaRPr>
          </a:p>
          <a:p>
            <a:pPr marL="12700">
              <a:lnSpc>
                <a:spcPct val="150000"/>
              </a:lnSpc>
            </a:pPr>
            <a:endParaRPr sz="900" dirty="0">
              <a:solidFill>
                <a:schemeClr val="bg1"/>
              </a:solidFill>
              <a:latin typeface="Montserrat"/>
              <a:cs typeface="Montserrat"/>
            </a:endParaRPr>
          </a:p>
        </p:txBody>
      </p:sp>
      <p:sp>
        <p:nvSpPr>
          <p:cNvPr id="76" name="CaixaDeTexto 75"/>
          <p:cNvSpPr txBox="1"/>
          <p:nvPr/>
        </p:nvSpPr>
        <p:spPr>
          <a:xfrm>
            <a:off x="603251" y="1235076"/>
            <a:ext cx="8905576" cy="9017853"/>
          </a:xfrm>
          <a:prstGeom prst="rect">
            <a:avLst/>
          </a:prstGeom>
          <a:solidFill>
            <a:schemeClr val="tx1">
              <a:lumMod val="65000"/>
              <a:lumOff val="35000"/>
            </a:schemeClr>
          </a:solidFill>
          <a:ln>
            <a:solidFill>
              <a:schemeClr val="bg1"/>
            </a:solidFill>
          </a:ln>
        </p:spPr>
        <p:txBody>
          <a:bodyPr wrap="square" rtlCol="0">
            <a:spAutoFit/>
          </a:bodyPr>
          <a:lstStyle/>
          <a:p>
            <a:r>
              <a:rPr lang="pt-BR" sz="2000" spc="-25" dirty="0">
                <a:solidFill>
                  <a:schemeClr val="bg1"/>
                </a:solidFill>
                <a:latin typeface="Consolas" panose="020B0609020204030204" pitchFamily="49" charset="0"/>
                <a:cs typeface="Montserrat"/>
              </a:rPr>
              <a:t>CREATE TABLE MECANICO (</a:t>
            </a:r>
          </a:p>
          <a:p>
            <a:r>
              <a:rPr lang="pt-BR" sz="2000" spc="-25" dirty="0">
                <a:solidFill>
                  <a:schemeClr val="bg1"/>
                </a:solidFill>
                <a:latin typeface="Consolas" panose="020B0609020204030204" pitchFamily="49" charset="0"/>
                <a:cs typeface="Montserrat"/>
              </a:rPr>
              <a:t>    ID INT PRIMARY KEY,</a:t>
            </a:r>
          </a:p>
          <a:p>
            <a:r>
              <a:rPr lang="pt-BR" sz="2000" spc="-25" dirty="0">
                <a:solidFill>
                  <a:schemeClr val="bg1"/>
                </a:solidFill>
                <a:latin typeface="Consolas" panose="020B0609020204030204" pitchFamily="49" charset="0"/>
                <a:cs typeface="Montserrat"/>
              </a:rPr>
              <a:t>    NOME VARCHAR(100)</a:t>
            </a:r>
          </a:p>
          <a:p>
            <a:r>
              <a:rPr lang="pt-BR" sz="2000" spc="-25" dirty="0">
                <a:solidFill>
                  <a:schemeClr val="bg1"/>
                </a:solidFill>
                <a:latin typeface="Consolas" panose="020B0609020204030204" pitchFamily="49" charset="0"/>
                <a:cs typeface="Montserrat"/>
              </a:rPr>
              <a:t>);</a:t>
            </a:r>
          </a:p>
          <a:p>
            <a:endParaRPr lang="pt-BR" sz="2000" spc="-25" dirty="0">
              <a:solidFill>
                <a:schemeClr val="bg1"/>
              </a:solidFill>
              <a:latin typeface="Consolas" panose="020B0609020204030204" pitchFamily="49" charset="0"/>
              <a:cs typeface="Montserrat"/>
            </a:endParaRPr>
          </a:p>
          <a:p>
            <a:r>
              <a:rPr lang="pt-BR" sz="2000" spc="-25" dirty="0">
                <a:solidFill>
                  <a:schemeClr val="bg1"/>
                </a:solidFill>
                <a:latin typeface="Consolas" panose="020B0609020204030204" pitchFamily="49" charset="0"/>
                <a:cs typeface="Montserrat"/>
              </a:rPr>
              <a:t>CREATE TABLE VEICULO (</a:t>
            </a:r>
          </a:p>
          <a:p>
            <a:r>
              <a:rPr lang="pt-BR" sz="2000" spc="-25" dirty="0">
                <a:solidFill>
                  <a:schemeClr val="bg1"/>
                </a:solidFill>
                <a:latin typeface="Consolas" panose="020B0609020204030204" pitchFamily="49" charset="0"/>
                <a:cs typeface="Montserrat"/>
              </a:rPr>
              <a:t>    ID INT PRIMARY KEY,</a:t>
            </a:r>
          </a:p>
          <a:p>
            <a:r>
              <a:rPr lang="pt-BR" sz="2000" spc="-25" dirty="0">
                <a:solidFill>
                  <a:schemeClr val="bg1"/>
                </a:solidFill>
                <a:latin typeface="Consolas" panose="020B0609020204030204" pitchFamily="49" charset="0"/>
                <a:cs typeface="Montserrat"/>
              </a:rPr>
              <a:t>    PLACA VARCHAR(10),</a:t>
            </a:r>
          </a:p>
          <a:p>
            <a:r>
              <a:rPr lang="pt-BR" sz="2000" spc="-25" dirty="0">
                <a:solidFill>
                  <a:schemeClr val="bg1"/>
                </a:solidFill>
                <a:latin typeface="Consolas" panose="020B0609020204030204" pitchFamily="49" charset="0"/>
                <a:cs typeface="Montserrat"/>
              </a:rPr>
              <a:t>    MODELO VARCHAR(50),</a:t>
            </a:r>
          </a:p>
          <a:p>
            <a:r>
              <a:rPr lang="pt-BR" sz="2000" spc="-25" dirty="0">
                <a:solidFill>
                  <a:schemeClr val="bg1"/>
                </a:solidFill>
                <a:latin typeface="Consolas" panose="020B0609020204030204" pitchFamily="49" charset="0"/>
                <a:cs typeface="Montserrat"/>
              </a:rPr>
              <a:t>    MARCA VARCHAR(50),</a:t>
            </a:r>
          </a:p>
          <a:p>
            <a:r>
              <a:rPr lang="pt-BR" sz="2000" spc="-25" dirty="0">
                <a:solidFill>
                  <a:schemeClr val="bg1"/>
                </a:solidFill>
                <a:latin typeface="Consolas" panose="020B0609020204030204" pitchFamily="49" charset="0"/>
                <a:cs typeface="Montserrat"/>
              </a:rPr>
              <a:t>    MECANICO_ID INT NULL,</a:t>
            </a:r>
          </a:p>
          <a:p>
            <a:r>
              <a:rPr lang="pt-BR" sz="2000" spc="-25" dirty="0">
                <a:solidFill>
                  <a:schemeClr val="bg1"/>
                </a:solidFill>
                <a:latin typeface="Consolas" panose="020B0609020204030204" pitchFamily="49" charset="0"/>
                <a:cs typeface="Montserrat"/>
              </a:rPr>
              <a:t>    FOREIGN KEY (MECANICO_ID) REFERENCES MECANICO(ID)</a:t>
            </a:r>
          </a:p>
          <a:p>
            <a:r>
              <a:rPr lang="pt-BR" sz="2000" spc="-25" dirty="0">
                <a:solidFill>
                  <a:schemeClr val="bg1"/>
                </a:solidFill>
                <a:latin typeface="Consolas" panose="020B0609020204030204" pitchFamily="49" charset="0"/>
                <a:cs typeface="Montserrat"/>
              </a:rPr>
              <a:t>);</a:t>
            </a:r>
          </a:p>
          <a:p>
            <a:endParaRPr lang="pt-BR" sz="2000" spc="-25" dirty="0">
              <a:solidFill>
                <a:schemeClr val="bg1"/>
              </a:solidFill>
              <a:latin typeface="Consolas" panose="020B0609020204030204" pitchFamily="49" charset="0"/>
              <a:cs typeface="Montserrat"/>
            </a:endParaRPr>
          </a:p>
          <a:p>
            <a:endParaRPr lang="pt-BR" sz="2000" spc="-25" dirty="0">
              <a:solidFill>
                <a:schemeClr val="bg1"/>
              </a:solidFill>
              <a:latin typeface="Consolas" panose="020B0609020204030204" pitchFamily="49" charset="0"/>
              <a:cs typeface="Montserrat"/>
            </a:endParaRPr>
          </a:p>
          <a:p>
            <a:r>
              <a:rPr lang="pt-BR" sz="2000" spc="-25" dirty="0">
                <a:solidFill>
                  <a:schemeClr val="bg1"/>
                </a:solidFill>
                <a:latin typeface="Consolas" panose="020B0609020204030204" pitchFamily="49" charset="0"/>
                <a:cs typeface="Montserrat"/>
              </a:rPr>
              <a:t>INSERT INTO MECANICO VALUES</a:t>
            </a:r>
          </a:p>
          <a:p>
            <a:r>
              <a:rPr lang="pt-BR" sz="2000" spc="-25" dirty="0">
                <a:solidFill>
                  <a:schemeClr val="bg1"/>
                </a:solidFill>
                <a:latin typeface="Consolas" panose="020B0609020204030204" pitchFamily="49" charset="0"/>
                <a:cs typeface="Montserrat"/>
              </a:rPr>
              <a:t>(1, 'Carlos Silva'),</a:t>
            </a:r>
          </a:p>
          <a:p>
            <a:r>
              <a:rPr lang="pt-BR" sz="2000" spc="-25" dirty="0">
                <a:solidFill>
                  <a:schemeClr val="bg1"/>
                </a:solidFill>
                <a:latin typeface="Consolas" panose="020B0609020204030204" pitchFamily="49" charset="0"/>
                <a:cs typeface="Montserrat"/>
              </a:rPr>
              <a:t>(2, 'Fernanda Souza'),</a:t>
            </a:r>
          </a:p>
          <a:p>
            <a:r>
              <a:rPr lang="pt-BR" sz="2000" spc="-25" dirty="0">
                <a:solidFill>
                  <a:schemeClr val="bg1"/>
                </a:solidFill>
                <a:latin typeface="Consolas" panose="020B0609020204030204" pitchFamily="49" charset="0"/>
                <a:cs typeface="Montserrat"/>
              </a:rPr>
              <a:t>(3, 'João Pereira'),</a:t>
            </a:r>
          </a:p>
          <a:p>
            <a:r>
              <a:rPr lang="pt-BR" sz="2000" spc="-25" dirty="0">
                <a:solidFill>
                  <a:schemeClr val="bg1"/>
                </a:solidFill>
                <a:latin typeface="Consolas" panose="020B0609020204030204" pitchFamily="49" charset="0"/>
                <a:cs typeface="Montserrat"/>
              </a:rPr>
              <a:t>(4, 'Marcos Lima'),</a:t>
            </a:r>
          </a:p>
          <a:p>
            <a:r>
              <a:rPr lang="pt-BR" sz="2000" spc="-25" dirty="0">
                <a:solidFill>
                  <a:schemeClr val="bg1"/>
                </a:solidFill>
                <a:latin typeface="Consolas" panose="020B0609020204030204" pitchFamily="49" charset="0"/>
                <a:cs typeface="Montserrat"/>
              </a:rPr>
              <a:t>(5, 'Patrícia Alves');  </a:t>
            </a:r>
            <a:endParaRPr lang="pt-BR" sz="2000" spc="-25" dirty="0" smtClean="0">
              <a:solidFill>
                <a:schemeClr val="bg1"/>
              </a:solidFill>
              <a:latin typeface="Consolas" panose="020B0609020204030204" pitchFamily="49" charset="0"/>
              <a:cs typeface="Montserrat"/>
            </a:endParaRPr>
          </a:p>
          <a:p>
            <a:endParaRPr lang="pt-BR" sz="2000" spc="-25" dirty="0">
              <a:solidFill>
                <a:schemeClr val="bg1"/>
              </a:solidFill>
              <a:latin typeface="Consolas" panose="020B0609020204030204" pitchFamily="49" charset="0"/>
              <a:cs typeface="Montserrat"/>
            </a:endParaRPr>
          </a:p>
          <a:p>
            <a:r>
              <a:rPr lang="pt-BR" sz="2000" spc="-25" dirty="0">
                <a:solidFill>
                  <a:schemeClr val="bg1"/>
                </a:solidFill>
                <a:latin typeface="Consolas" panose="020B0609020204030204" pitchFamily="49" charset="0"/>
                <a:cs typeface="Montserrat"/>
              </a:rPr>
              <a:t>INSERT INTO VEICULO VALUES</a:t>
            </a:r>
          </a:p>
          <a:p>
            <a:r>
              <a:rPr lang="pt-BR" sz="2000" spc="-25" dirty="0">
                <a:solidFill>
                  <a:schemeClr val="bg1"/>
                </a:solidFill>
                <a:latin typeface="Consolas" panose="020B0609020204030204" pitchFamily="49" charset="0"/>
                <a:cs typeface="Montserrat"/>
              </a:rPr>
              <a:t>(101, 'ABC-1234', 'Civic', 'Honda', 1), </a:t>
            </a:r>
            <a:r>
              <a:rPr lang="pt-BR" sz="2000" spc="-25" dirty="0" smtClean="0">
                <a:solidFill>
                  <a:schemeClr val="bg1"/>
                </a:solidFill>
                <a:latin typeface="Consolas" panose="020B0609020204030204" pitchFamily="49" charset="0"/>
                <a:cs typeface="Montserrat"/>
              </a:rPr>
              <a:t>  </a:t>
            </a:r>
          </a:p>
          <a:p>
            <a:r>
              <a:rPr lang="pt-BR" sz="2000" spc="-25" dirty="0" smtClean="0">
                <a:solidFill>
                  <a:schemeClr val="bg1"/>
                </a:solidFill>
                <a:latin typeface="Consolas" panose="020B0609020204030204" pitchFamily="49" charset="0"/>
                <a:cs typeface="Montserrat"/>
              </a:rPr>
              <a:t>(102, 'XYZ-9876', 'Corolla', 'Toyota', 2),</a:t>
            </a:r>
          </a:p>
          <a:p>
            <a:r>
              <a:rPr lang="pt-BR" sz="2000" spc="-25" dirty="0" smtClean="0">
                <a:solidFill>
                  <a:schemeClr val="bg1"/>
                </a:solidFill>
                <a:latin typeface="Consolas" panose="020B0609020204030204" pitchFamily="49" charset="0"/>
                <a:cs typeface="Montserrat"/>
              </a:rPr>
              <a:t>(</a:t>
            </a:r>
            <a:r>
              <a:rPr lang="pt-BR" sz="2000" spc="-25" dirty="0">
                <a:solidFill>
                  <a:schemeClr val="bg1"/>
                </a:solidFill>
                <a:latin typeface="Consolas" panose="020B0609020204030204" pitchFamily="49" charset="0"/>
                <a:cs typeface="Montserrat"/>
              </a:rPr>
              <a:t>103, 'JKL-5555', '</a:t>
            </a:r>
            <a:r>
              <a:rPr lang="pt-BR" sz="2000" spc="-25" dirty="0" err="1">
                <a:solidFill>
                  <a:schemeClr val="bg1"/>
                </a:solidFill>
                <a:latin typeface="Consolas" panose="020B0609020204030204" pitchFamily="49" charset="0"/>
                <a:cs typeface="Montserrat"/>
              </a:rPr>
              <a:t>Onix</a:t>
            </a:r>
            <a:r>
              <a:rPr lang="pt-BR" sz="2000" spc="-25" dirty="0">
                <a:solidFill>
                  <a:schemeClr val="bg1"/>
                </a:solidFill>
                <a:latin typeface="Consolas" panose="020B0609020204030204" pitchFamily="49" charset="0"/>
                <a:cs typeface="Montserrat"/>
              </a:rPr>
              <a:t>', 'Chevrolet', 1</a:t>
            </a:r>
            <a:r>
              <a:rPr lang="pt-BR" sz="2000" spc="-25" dirty="0" smtClean="0">
                <a:solidFill>
                  <a:schemeClr val="bg1"/>
                </a:solidFill>
                <a:latin typeface="Consolas" panose="020B0609020204030204" pitchFamily="49" charset="0"/>
                <a:cs typeface="Montserrat"/>
              </a:rPr>
              <a:t>),</a:t>
            </a:r>
            <a:endParaRPr lang="pt-BR" sz="2000" spc="-25" dirty="0">
              <a:solidFill>
                <a:schemeClr val="bg1"/>
              </a:solidFill>
              <a:latin typeface="Consolas" panose="020B0609020204030204" pitchFamily="49" charset="0"/>
              <a:cs typeface="Montserrat"/>
            </a:endParaRPr>
          </a:p>
          <a:p>
            <a:r>
              <a:rPr lang="pt-BR" sz="2000" spc="-25" dirty="0">
                <a:solidFill>
                  <a:schemeClr val="bg1"/>
                </a:solidFill>
                <a:latin typeface="Consolas" panose="020B0609020204030204" pitchFamily="49" charset="0"/>
                <a:cs typeface="Montserrat"/>
              </a:rPr>
              <a:t>(104, 'MNO-4321', 'Gol', 'Volkswagen', NULL), </a:t>
            </a:r>
          </a:p>
          <a:p>
            <a:r>
              <a:rPr lang="pt-BR" sz="2000" spc="-25" dirty="0">
                <a:solidFill>
                  <a:schemeClr val="bg1"/>
                </a:solidFill>
                <a:latin typeface="Consolas" panose="020B0609020204030204" pitchFamily="49" charset="0"/>
                <a:cs typeface="Montserrat"/>
              </a:rPr>
              <a:t>(105, 'PQR-2468', 'HB20', 'Hyundai', 3), </a:t>
            </a:r>
          </a:p>
          <a:p>
            <a:r>
              <a:rPr lang="pt-BR" sz="2000" spc="-25" dirty="0">
                <a:solidFill>
                  <a:schemeClr val="bg1"/>
                </a:solidFill>
                <a:latin typeface="Consolas" panose="020B0609020204030204" pitchFamily="49" charset="0"/>
                <a:cs typeface="Montserrat"/>
              </a:rPr>
              <a:t>(106, 'STU-1357', 'Palio', 'Fiat', NULL</a:t>
            </a:r>
            <a:r>
              <a:rPr lang="pt-BR" sz="2000" spc="-25" dirty="0" smtClean="0">
                <a:solidFill>
                  <a:schemeClr val="bg1"/>
                </a:solidFill>
                <a:latin typeface="Consolas" panose="020B0609020204030204" pitchFamily="49" charset="0"/>
                <a:cs typeface="Montserrat"/>
              </a:rPr>
              <a:t>);</a:t>
            </a:r>
            <a:endParaRPr lang="pt-BR" sz="2000" dirty="0">
              <a:latin typeface="Consolas" panose="020B0609020204030204" pitchFamily="49" charset="0"/>
            </a:endParaRPr>
          </a:p>
        </p:txBody>
      </p:sp>
      <p:pic>
        <p:nvPicPr>
          <p:cNvPr id="72" name="Imagem 7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28262" y="1245657"/>
            <a:ext cx="9024988" cy="9024988"/>
          </a:xfrm>
          <a:prstGeom prst="rect">
            <a:avLst/>
          </a:prstGeom>
        </p:spPr>
      </p:pic>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00000"/>
          </a:solidFill>
        </p:spPr>
        <p:txBody>
          <a:bodyPr wrap="square" lIns="0" tIns="0" rIns="0" bIns="0" rtlCol="0"/>
          <a:lstStyle/>
          <a:p>
            <a:endParaRPr/>
          </a:p>
        </p:txBody>
      </p:sp>
    </p:spTree>
    <p:extLst>
      <p:ext uri="{BB962C8B-B14F-4D97-AF65-F5344CB8AC3E}">
        <p14:creationId xmlns:p14="http://schemas.microsoft.com/office/powerpoint/2010/main" val="26692714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20104100" cy="11308715"/>
            <a:chOff x="0" y="0"/>
            <a:chExt cx="20104100" cy="11308715"/>
          </a:xfrm>
        </p:grpSpPr>
        <p:pic>
          <p:nvPicPr>
            <p:cNvPr id="3" name="object 3"/>
            <p:cNvPicPr/>
            <p:nvPr/>
          </p:nvPicPr>
          <p:blipFill>
            <a:blip r:embed="rId2" cstate="print"/>
            <a:stretch>
              <a:fillRect/>
            </a:stretch>
          </p:blipFill>
          <p:spPr>
            <a:xfrm>
              <a:off x="0" y="0"/>
              <a:ext cx="20104100" cy="11308556"/>
            </a:xfrm>
            <a:prstGeom prst="rect">
              <a:avLst/>
            </a:prstGeom>
          </p:spPr>
        </p:pic>
        <p:sp>
          <p:nvSpPr>
            <p:cNvPr id="4" name="object 4"/>
            <p:cNvSpPr/>
            <p:nvPr/>
          </p:nvSpPr>
          <p:spPr>
            <a:xfrm>
              <a:off x="2912068" y="4985450"/>
              <a:ext cx="5242560" cy="1337945"/>
            </a:xfrm>
            <a:custGeom>
              <a:avLst/>
              <a:gdLst/>
              <a:ahLst/>
              <a:cxnLst/>
              <a:rect l="l" t="t" r="r" b="b"/>
              <a:pathLst>
                <a:path w="5242559" h="1337945">
                  <a:moveTo>
                    <a:pt x="5242028" y="0"/>
                  </a:moveTo>
                  <a:lnTo>
                    <a:pt x="0" y="0"/>
                  </a:lnTo>
                  <a:lnTo>
                    <a:pt x="0" y="1337655"/>
                  </a:lnTo>
                  <a:lnTo>
                    <a:pt x="5242028" y="1337655"/>
                  </a:lnTo>
                  <a:lnTo>
                    <a:pt x="5242028" y="0"/>
                  </a:lnTo>
                  <a:close/>
                </a:path>
              </a:pathLst>
            </a:custGeom>
            <a:solidFill>
              <a:srgbClr val="E21013"/>
            </a:solidFill>
          </p:spPr>
          <p:txBody>
            <a:bodyPr wrap="square" lIns="0" tIns="0" rIns="0" bIns="0" rtlCol="0"/>
            <a:lstStyle/>
            <a:p>
              <a:endParaRPr/>
            </a:p>
          </p:txBody>
        </p:sp>
        <p:sp>
          <p:nvSpPr>
            <p:cNvPr id="5" name="object 5"/>
            <p:cNvSpPr/>
            <p:nvPr/>
          </p:nvSpPr>
          <p:spPr>
            <a:xfrm>
              <a:off x="2911983" y="5156523"/>
              <a:ext cx="5242560" cy="993775"/>
            </a:xfrm>
            <a:custGeom>
              <a:avLst/>
              <a:gdLst/>
              <a:ahLst/>
              <a:cxnLst/>
              <a:rect l="l" t="t" r="r" b="b"/>
              <a:pathLst>
                <a:path w="5242559" h="993775">
                  <a:moveTo>
                    <a:pt x="281571" y="938250"/>
                  </a:moveTo>
                  <a:lnTo>
                    <a:pt x="0" y="938250"/>
                  </a:lnTo>
                  <a:lnTo>
                    <a:pt x="0" y="973455"/>
                  </a:lnTo>
                  <a:lnTo>
                    <a:pt x="281571" y="973455"/>
                  </a:lnTo>
                  <a:lnTo>
                    <a:pt x="281571" y="938250"/>
                  </a:lnTo>
                  <a:close/>
                </a:path>
                <a:path w="5242559" h="993775">
                  <a:moveTo>
                    <a:pt x="281571" y="712901"/>
                  </a:moveTo>
                  <a:lnTo>
                    <a:pt x="0" y="712901"/>
                  </a:lnTo>
                  <a:lnTo>
                    <a:pt x="0" y="748106"/>
                  </a:lnTo>
                  <a:lnTo>
                    <a:pt x="281571" y="748106"/>
                  </a:lnTo>
                  <a:lnTo>
                    <a:pt x="281571" y="712901"/>
                  </a:lnTo>
                  <a:close/>
                </a:path>
                <a:path w="5242559" h="993775">
                  <a:moveTo>
                    <a:pt x="281571" y="479120"/>
                  </a:moveTo>
                  <a:lnTo>
                    <a:pt x="0" y="479120"/>
                  </a:lnTo>
                  <a:lnTo>
                    <a:pt x="0" y="514324"/>
                  </a:lnTo>
                  <a:lnTo>
                    <a:pt x="281571" y="514324"/>
                  </a:lnTo>
                  <a:lnTo>
                    <a:pt x="281571" y="479120"/>
                  </a:lnTo>
                  <a:close/>
                </a:path>
                <a:path w="5242559" h="993775">
                  <a:moveTo>
                    <a:pt x="281571" y="248475"/>
                  </a:moveTo>
                  <a:lnTo>
                    <a:pt x="0" y="248475"/>
                  </a:lnTo>
                  <a:lnTo>
                    <a:pt x="0" y="283730"/>
                  </a:lnTo>
                  <a:lnTo>
                    <a:pt x="281571" y="283730"/>
                  </a:lnTo>
                  <a:lnTo>
                    <a:pt x="281571" y="248475"/>
                  </a:lnTo>
                  <a:close/>
                </a:path>
                <a:path w="5242559" h="993775">
                  <a:moveTo>
                    <a:pt x="281571" y="23812"/>
                  </a:moveTo>
                  <a:lnTo>
                    <a:pt x="0" y="23812"/>
                  </a:lnTo>
                  <a:lnTo>
                    <a:pt x="0" y="59016"/>
                  </a:lnTo>
                  <a:lnTo>
                    <a:pt x="281571" y="59016"/>
                  </a:lnTo>
                  <a:lnTo>
                    <a:pt x="281571" y="23812"/>
                  </a:lnTo>
                  <a:close/>
                </a:path>
                <a:path w="5242559" h="993775">
                  <a:moveTo>
                    <a:pt x="1289888" y="204787"/>
                  </a:moveTo>
                  <a:lnTo>
                    <a:pt x="1287195" y="184924"/>
                  </a:lnTo>
                  <a:lnTo>
                    <a:pt x="1284528" y="165150"/>
                  </a:lnTo>
                  <a:lnTo>
                    <a:pt x="1272222" y="130467"/>
                  </a:lnTo>
                  <a:lnTo>
                    <a:pt x="1229385" y="74917"/>
                  </a:lnTo>
                  <a:lnTo>
                    <a:pt x="1166685" y="36169"/>
                  </a:lnTo>
                  <a:lnTo>
                    <a:pt x="1129525" y="22491"/>
                  </a:lnTo>
                  <a:lnTo>
                    <a:pt x="1089393" y="12280"/>
                  </a:lnTo>
                  <a:lnTo>
                    <a:pt x="1046924" y="5295"/>
                  </a:lnTo>
                  <a:lnTo>
                    <a:pt x="1002792" y="1282"/>
                  </a:lnTo>
                  <a:lnTo>
                    <a:pt x="957656" y="0"/>
                  </a:lnTo>
                  <a:lnTo>
                    <a:pt x="911479" y="1143"/>
                  </a:lnTo>
                  <a:lnTo>
                    <a:pt x="865327" y="4775"/>
                  </a:lnTo>
                  <a:lnTo>
                    <a:pt x="819670" y="11163"/>
                  </a:lnTo>
                  <a:lnTo>
                    <a:pt x="774928" y="20586"/>
                  </a:lnTo>
                  <a:lnTo>
                    <a:pt x="731558" y="33324"/>
                  </a:lnTo>
                  <a:lnTo>
                    <a:pt x="690016" y="49669"/>
                  </a:lnTo>
                  <a:lnTo>
                    <a:pt x="650760" y="69875"/>
                  </a:lnTo>
                  <a:lnTo>
                    <a:pt x="614222" y="94221"/>
                  </a:lnTo>
                  <a:lnTo>
                    <a:pt x="580872" y="123012"/>
                  </a:lnTo>
                  <a:lnTo>
                    <a:pt x="551141" y="156489"/>
                  </a:lnTo>
                  <a:lnTo>
                    <a:pt x="525487" y="194970"/>
                  </a:lnTo>
                  <a:lnTo>
                    <a:pt x="504355" y="238696"/>
                  </a:lnTo>
                  <a:lnTo>
                    <a:pt x="488200" y="287972"/>
                  </a:lnTo>
                  <a:lnTo>
                    <a:pt x="481558" y="338035"/>
                  </a:lnTo>
                  <a:lnTo>
                    <a:pt x="483577" y="384644"/>
                  </a:lnTo>
                  <a:lnTo>
                    <a:pt x="494474" y="427012"/>
                  </a:lnTo>
                  <a:lnTo>
                    <a:pt x="514477" y="464312"/>
                  </a:lnTo>
                  <a:lnTo>
                    <a:pt x="543801" y="495744"/>
                  </a:lnTo>
                  <a:lnTo>
                    <a:pt x="582663" y="520509"/>
                  </a:lnTo>
                  <a:lnTo>
                    <a:pt x="634098" y="542620"/>
                  </a:lnTo>
                  <a:lnTo>
                    <a:pt x="685101" y="560095"/>
                  </a:lnTo>
                  <a:lnTo>
                    <a:pt x="734580" y="574154"/>
                  </a:lnTo>
                  <a:lnTo>
                    <a:pt x="824623" y="597027"/>
                  </a:lnTo>
                  <a:lnTo>
                    <a:pt x="863003" y="608342"/>
                  </a:lnTo>
                  <a:lnTo>
                    <a:pt x="895477" y="621220"/>
                  </a:lnTo>
                  <a:lnTo>
                    <a:pt x="920978" y="636917"/>
                  </a:lnTo>
                  <a:lnTo>
                    <a:pt x="938403" y="656678"/>
                  </a:lnTo>
                  <a:lnTo>
                    <a:pt x="946658" y="681748"/>
                  </a:lnTo>
                  <a:lnTo>
                    <a:pt x="944651" y="713359"/>
                  </a:lnTo>
                  <a:lnTo>
                    <a:pt x="922705" y="754976"/>
                  </a:lnTo>
                  <a:lnTo>
                    <a:pt x="882992" y="784707"/>
                  </a:lnTo>
                  <a:lnTo>
                    <a:pt x="834351" y="802538"/>
                  </a:lnTo>
                  <a:lnTo>
                    <a:pt x="785672" y="808482"/>
                  </a:lnTo>
                  <a:lnTo>
                    <a:pt x="733640" y="802678"/>
                  </a:lnTo>
                  <a:lnTo>
                    <a:pt x="692861" y="785520"/>
                  </a:lnTo>
                  <a:lnTo>
                    <a:pt x="665060" y="757402"/>
                  </a:lnTo>
                  <a:lnTo>
                    <a:pt x="651979" y="718680"/>
                  </a:lnTo>
                  <a:lnTo>
                    <a:pt x="655332" y="669772"/>
                  </a:lnTo>
                  <a:lnTo>
                    <a:pt x="391109" y="669772"/>
                  </a:lnTo>
                  <a:lnTo>
                    <a:pt x="383362" y="726135"/>
                  </a:lnTo>
                  <a:lnTo>
                    <a:pt x="383374" y="775970"/>
                  </a:lnTo>
                  <a:lnTo>
                    <a:pt x="390588" y="819632"/>
                  </a:lnTo>
                  <a:lnTo>
                    <a:pt x="404507" y="857453"/>
                  </a:lnTo>
                  <a:lnTo>
                    <a:pt x="450291" y="917028"/>
                  </a:lnTo>
                  <a:lnTo>
                    <a:pt x="481114" y="939482"/>
                  </a:lnTo>
                  <a:lnTo>
                    <a:pt x="516521" y="957503"/>
                  </a:lnTo>
                  <a:lnTo>
                    <a:pt x="555980" y="971473"/>
                  </a:lnTo>
                  <a:lnTo>
                    <a:pt x="598970" y="981722"/>
                  </a:lnTo>
                  <a:lnTo>
                    <a:pt x="644969" y="988606"/>
                  </a:lnTo>
                  <a:lnTo>
                    <a:pt x="693445" y="992466"/>
                  </a:lnTo>
                  <a:lnTo>
                    <a:pt x="743877" y="993686"/>
                  </a:lnTo>
                  <a:lnTo>
                    <a:pt x="794664" y="991984"/>
                  </a:lnTo>
                  <a:lnTo>
                    <a:pt x="844905" y="986878"/>
                  </a:lnTo>
                  <a:lnTo>
                    <a:pt x="894105" y="978331"/>
                  </a:lnTo>
                  <a:lnTo>
                    <a:pt x="941819" y="966304"/>
                  </a:lnTo>
                  <a:lnTo>
                    <a:pt x="987564" y="950798"/>
                  </a:lnTo>
                  <a:lnTo>
                    <a:pt x="1030846" y="931760"/>
                  </a:lnTo>
                  <a:lnTo>
                    <a:pt x="1071219" y="909167"/>
                  </a:lnTo>
                  <a:lnTo>
                    <a:pt x="1108189" y="883005"/>
                  </a:lnTo>
                  <a:lnTo>
                    <a:pt x="1141298" y="853224"/>
                  </a:lnTo>
                  <a:lnTo>
                    <a:pt x="1170063" y="819823"/>
                  </a:lnTo>
                  <a:lnTo>
                    <a:pt x="1194015" y="782751"/>
                  </a:lnTo>
                  <a:lnTo>
                    <a:pt x="1212672" y="741984"/>
                  </a:lnTo>
                  <a:lnTo>
                    <a:pt x="1225575" y="697509"/>
                  </a:lnTo>
                  <a:lnTo>
                    <a:pt x="1233309" y="642226"/>
                  </a:lnTo>
                  <a:lnTo>
                    <a:pt x="1231950" y="594804"/>
                  </a:lnTo>
                  <a:lnTo>
                    <a:pt x="1222514" y="554507"/>
                  </a:lnTo>
                  <a:lnTo>
                    <a:pt x="1183284" y="492379"/>
                  </a:lnTo>
                  <a:lnTo>
                    <a:pt x="1123530" y="449999"/>
                  </a:lnTo>
                  <a:lnTo>
                    <a:pt x="1088415" y="434390"/>
                  </a:lnTo>
                  <a:lnTo>
                    <a:pt x="1051115" y="421538"/>
                  </a:lnTo>
                  <a:lnTo>
                    <a:pt x="1012647" y="410718"/>
                  </a:lnTo>
                  <a:lnTo>
                    <a:pt x="936078" y="392214"/>
                  </a:lnTo>
                  <a:lnTo>
                    <a:pt x="899960" y="383082"/>
                  </a:lnTo>
                  <a:lnTo>
                    <a:pt x="849528" y="367804"/>
                  </a:lnTo>
                  <a:lnTo>
                    <a:pt x="804138" y="346938"/>
                  </a:lnTo>
                  <a:lnTo>
                    <a:pt x="773887" y="316407"/>
                  </a:lnTo>
                  <a:lnTo>
                    <a:pt x="768934" y="272110"/>
                  </a:lnTo>
                  <a:lnTo>
                    <a:pt x="785317" y="238429"/>
                  </a:lnTo>
                  <a:lnTo>
                    <a:pt x="816013" y="210680"/>
                  </a:lnTo>
                  <a:lnTo>
                    <a:pt x="856195" y="191858"/>
                  </a:lnTo>
                  <a:lnTo>
                    <a:pt x="901052" y="184924"/>
                  </a:lnTo>
                  <a:lnTo>
                    <a:pt x="932332" y="186893"/>
                  </a:lnTo>
                  <a:lnTo>
                    <a:pt x="980084" y="202222"/>
                  </a:lnTo>
                  <a:lnTo>
                    <a:pt x="1008494" y="231711"/>
                  </a:lnTo>
                  <a:lnTo>
                    <a:pt x="1016889" y="273837"/>
                  </a:lnTo>
                  <a:lnTo>
                    <a:pt x="1012901" y="299847"/>
                  </a:lnTo>
                  <a:lnTo>
                    <a:pt x="1277099" y="299847"/>
                  </a:lnTo>
                  <a:lnTo>
                    <a:pt x="1287627" y="249605"/>
                  </a:lnTo>
                  <a:lnTo>
                    <a:pt x="1289888" y="204787"/>
                  </a:lnTo>
                  <a:close/>
                </a:path>
                <a:path w="5242559" h="993775">
                  <a:moveTo>
                    <a:pt x="2244153" y="19761"/>
                  </a:moveTo>
                  <a:lnTo>
                    <a:pt x="1517561" y="19761"/>
                  </a:lnTo>
                  <a:lnTo>
                    <a:pt x="1314792" y="973645"/>
                  </a:lnTo>
                  <a:lnTo>
                    <a:pt x="2041398" y="973645"/>
                  </a:lnTo>
                  <a:lnTo>
                    <a:pt x="2080793" y="788670"/>
                  </a:lnTo>
                  <a:lnTo>
                    <a:pt x="1618399" y="788670"/>
                  </a:lnTo>
                  <a:lnTo>
                    <a:pt x="1661350" y="586536"/>
                  </a:lnTo>
                  <a:lnTo>
                    <a:pt x="2086737" y="586536"/>
                  </a:lnTo>
                  <a:lnTo>
                    <a:pt x="2125903" y="401612"/>
                  </a:lnTo>
                  <a:lnTo>
                    <a:pt x="1700504" y="401612"/>
                  </a:lnTo>
                  <a:lnTo>
                    <a:pt x="1742351" y="204736"/>
                  </a:lnTo>
                  <a:lnTo>
                    <a:pt x="2204758" y="204736"/>
                  </a:lnTo>
                  <a:lnTo>
                    <a:pt x="2244153" y="19761"/>
                  </a:lnTo>
                  <a:close/>
                </a:path>
                <a:path w="5242559" h="993775">
                  <a:moveTo>
                    <a:pt x="3323475" y="19761"/>
                  </a:moveTo>
                  <a:lnTo>
                    <a:pt x="3085681" y="19761"/>
                  </a:lnTo>
                  <a:lnTo>
                    <a:pt x="2935084" y="727875"/>
                  </a:lnTo>
                  <a:lnTo>
                    <a:pt x="2931998" y="730554"/>
                  </a:lnTo>
                  <a:lnTo>
                    <a:pt x="2816326" y="243078"/>
                  </a:lnTo>
                  <a:lnTo>
                    <a:pt x="2763329" y="19761"/>
                  </a:lnTo>
                  <a:lnTo>
                    <a:pt x="2393416" y="19761"/>
                  </a:lnTo>
                  <a:lnTo>
                    <a:pt x="2190648" y="973645"/>
                  </a:lnTo>
                  <a:lnTo>
                    <a:pt x="2428443" y="973645"/>
                  </a:lnTo>
                  <a:lnTo>
                    <a:pt x="2583700" y="243078"/>
                  </a:lnTo>
                  <a:lnTo>
                    <a:pt x="2586329" y="243078"/>
                  </a:lnTo>
                  <a:lnTo>
                    <a:pt x="2754757" y="973645"/>
                  </a:lnTo>
                  <a:lnTo>
                    <a:pt x="3120707" y="973645"/>
                  </a:lnTo>
                  <a:lnTo>
                    <a:pt x="3172383" y="730554"/>
                  </a:lnTo>
                  <a:lnTo>
                    <a:pt x="3323475" y="19761"/>
                  </a:lnTo>
                  <a:close/>
                </a:path>
                <a:path w="5242559" h="993775">
                  <a:moveTo>
                    <a:pt x="4293857" y="973645"/>
                  </a:moveTo>
                  <a:lnTo>
                    <a:pt x="4259923" y="787361"/>
                  </a:lnTo>
                  <a:lnTo>
                    <a:pt x="4226242" y="602399"/>
                  </a:lnTo>
                  <a:lnTo>
                    <a:pt x="4154043" y="206019"/>
                  </a:lnTo>
                  <a:lnTo>
                    <a:pt x="4120121" y="19761"/>
                  </a:lnTo>
                  <a:lnTo>
                    <a:pt x="3945966" y="19761"/>
                  </a:lnTo>
                  <a:lnTo>
                    <a:pt x="3945966" y="602399"/>
                  </a:lnTo>
                  <a:lnTo>
                    <a:pt x="3690988" y="602399"/>
                  </a:lnTo>
                  <a:lnTo>
                    <a:pt x="3904780" y="206019"/>
                  </a:lnTo>
                  <a:lnTo>
                    <a:pt x="3908729" y="206019"/>
                  </a:lnTo>
                  <a:lnTo>
                    <a:pt x="3945966" y="602399"/>
                  </a:lnTo>
                  <a:lnTo>
                    <a:pt x="3945966" y="19761"/>
                  </a:lnTo>
                  <a:lnTo>
                    <a:pt x="3797770" y="19761"/>
                  </a:lnTo>
                  <a:lnTo>
                    <a:pt x="3218446" y="973645"/>
                  </a:lnTo>
                  <a:lnTo>
                    <a:pt x="3482695" y="973645"/>
                  </a:lnTo>
                  <a:lnTo>
                    <a:pt x="3584397" y="787361"/>
                  </a:lnTo>
                  <a:lnTo>
                    <a:pt x="3971506" y="787361"/>
                  </a:lnTo>
                  <a:lnTo>
                    <a:pt x="3995280" y="973645"/>
                  </a:lnTo>
                  <a:lnTo>
                    <a:pt x="4293857" y="973645"/>
                  </a:lnTo>
                  <a:close/>
                </a:path>
                <a:path w="5242559" h="993775">
                  <a:moveTo>
                    <a:pt x="4861230" y="19761"/>
                  </a:moveTo>
                  <a:lnTo>
                    <a:pt x="4597044" y="19761"/>
                  </a:lnTo>
                  <a:lnTo>
                    <a:pt x="4394225" y="973645"/>
                  </a:lnTo>
                  <a:lnTo>
                    <a:pt x="4658461" y="973645"/>
                  </a:lnTo>
                  <a:lnTo>
                    <a:pt x="4861230" y="19761"/>
                  </a:lnTo>
                  <a:close/>
                </a:path>
                <a:path w="5242559" h="993775">
                  <a:moveTo>
                    <a:pt x="5242026" y="938250"/>
                  </a:moveTo>
                  <a:lnTo>
                    <a:pt x="4960455" y="938250"/>
                  </a:lnTo>
                  <a:lnTo>
                    <a:pt x="4960455" y="973455"/>
                  </a:lnTo>
                  <a:lnTo>
                    <a:pt x="5242026" y="973455"/>
                  </a:lnTo>
                  <a:lnTo>
                    <a:pt x="5242026" y="938250"/>
                  </a:lnTo>
                  <a:close/>
                </a:path>
                <a:path w="5242559" h="993775">
                  <a:moveTo>
                    <a:pt x="5242026" y="712901"/>
                  </a:moveTo>
                  <a:lnTo>
                    <a:pt x="4960455" y="712901"/>
                  </a:lnTo>
                  <a:lnTo>
                    <a:pt x="4960455" y="748106"/>
                  </a:lnTo>
                  <a:lnTo>
                    <a:pt x="5242026" y="748106"/>
                  </a:lnTo>
                  <a:lnTo>
                    <a:pt x="5242026" y="712901"/>
                  </a:lnTo>
                  <a:close/>
                </a:path>
                <a:path w="5242559" h="993775">
                  <a:moveTo>
                    <a:pt x="5242026" y="479120"/>
                  </a:moveTo>
                  <a:lnTo>
                    <a:pt x="4960455" y="479120"/>
                  </a:lnTo>
                  <a:lnTo>
                    <a:pt x="4960455" y="514324"/>
                  </a:lnTo>
                  <a:lnTo>
                    <a:pt x="5242026" y="514324"/>
                  </a:lnTo>
                  <a:lnTo>
                    <a:pt x="5242026" y="479120"/>
                  </a:lnTo>
                  <a:close/>
                </a:path>
                <a:path w="5242559" h="993775">
                  <a:moveTo>
                    <a:pt x="5242026" y="248475"/>
                  </a:moveTo>
                  <a:lnTo>
                    <a:pt x="4960455" y="248475"/>
                  </a:lnTo>
                  <a:lnTo>
                    <a:pt x="4960455" y="283730"/>
                  </a:lnTo>
                  <a:lnTo>
                    <a:pt x="5242026" y="283730"/>
                  </a:lnTo>
                  <a:lnTo>
                    <a:pt x="5242026" y="248475"/>
                  </a:lnTo>
                  <a:close/>
                </a:path>
                <a:path w="5242559" h="993775">
                  <a:moveTo>
                    <a:pt x="5242026" y="23812"/>
                  </a:moveTo>
                  <a:lnTo>
                    <a:pt x="4960455" y="23812"/>
                  </a:lnTo>
                  <a:lnTo>
                    <a:pt x="4960455" y="59016"/>
                  </a:lnTo>
                  <a:lnTo>
                    <a:pt x="5242026" y="59016"/>
                  </a:lnTo>
                  <a:lnTo>
                    <a:pt x="5242026" y="23812"/>
                  </a:lnTo>
                  <a:close/>
                </a:path>
              </a:pathLst>
            </a:custGeom>
            <a:solidFill>
              <a:srgbClr val="FFFFFF"/>
            </a:solidFill>
          </p:spPr>
          <p:txBody>
            <a:bodyPr wrap="square" lIns="0" tIns="0" rIns="0" bIns="0" rtlCol="0"/>
            <a:lstStyle/>
            <a:p>
              <a:endParaRPr/>
            </a:p>
          </p:txBody>
        </p:sp>
      </p:grpSp>
      <p:sp>
        <p:nvSpPr>
          <p:cNvPr id="6" name="object 6"/>
          <p:cNvSpPr txBox="1">
            <a:spLocks noGrp="1"/>
          </p:cNvSpPr>
          <p:nvPr>
            <p:ph type="title"/>
          </p:nvPr>
        </p:nvSpPr>
        <p:spPr>
          <a:xfrm>
            <a:off x="10235576" y="4635933"/>
            <a:ext cx="5114925" cy="452755"/>
          </a:xfrm>
          <a:prstGeom prst="rect">
            <a:avLst/>
          </a:prstGeom>
        </p:spPr>
        <p:txBody>
          <a:bodyPr vert="horz" wrap="square" lIns="0" tIns="12700" rIns="0" bIns="0" rtlCol="0">
            <a:spAutoFit/>
          </a:bodyPr>
          <a:lstStyle/>
          <a:p>
            <a:pPr marL="12700">
              <a:lnSpc>
                <a:spcPct val="100000"/>
              </a:lnSpc>
              <a:spcBef>
                <a:spcPts val="100"/>
              </a:spcBef>
            </a:pPr>
            <a:r>
              <a:rPr sz="2800" spc="-25" dirty="0">
                <a:solidFill>
                  <a:srgbClr val="FFFFFF"/>
                </a:solidFill>
              </a:rPr>
              <a:t>DEPARTAMENTO</a:t>
            </a:r>
            <a:r>
              <a:rPr sz="2800" spc="-55" dirty="0">
                <a:solidFill>
                  <a:srgbClr val="FFFFFF"/>
                </a:solidFill>
              </a:rPr>
              <a:t> </a:t>
            </a:r>
            <a:r>
              <a:rPr sz="2800" dirty="0">
                <a:solidFill>
                  <a:srgbClr val="FFFFFF"/>
                </a:solidFill>
              </a:rPr>
              <a:t>REGIONAL</a:t>
            </a:r>
            <a:endParaRPr sz="2800"/>
          </a:p>
        </p:txBody>
      </p:sp>
      <p:sp>
        <p:nvSpPr>
          <p:cNvPr id="7" name="object 7"/>
          <p:cNvSpPr txBox="1"/>
          <p:nvPr/>
        </p:nvSpPr>
        <p:spPr>
          <a:xfrm>
            <a:off x="10231201" y="5107290"/>
            <a:ext cx="6974205" cy="1459230"/>
          </a:xfrm>
          <a:prstGeom prst="rect">
            <a:avLst/>
          </a:prstGeom>
        </p:spPr>
        <p:txBody>
          <a:bodyPr vert="horz" wrap="square" lIns="0" tIns="12700" rIns="0" bIns="0" rtlCol="0">
            <a:spAutoFit/>
          </a:bodyPr>
          <a:lstStyle/>
          <a:p>
            <a:pPr marL="16510">
              <a:lnSpc>
                <a:spcPts val="3270"/>
              </a:lnSpc>
              <a:spcBef>
                <a:spcPts val="100"/>
              </a:spcBef>
            </a:pPr>
            <a:r>
              <a:rPr sz="2800" b="1" dirty="0">
                <a:solidFill>
                  <a:srgbClr val="FFFFFF"/>
                </a:solidFill>
                <a:latin typeface="Montserrat ExtraBold"/>
                <a:cs typeface="Montserrat ExtraBold"/>
              </a:rPr>
              <a:t>DE</a:t>
            </a:r>
            <a:r>
              <a:rPr sz="2800" b="1" spc="-30" dirty="0">
                <a:solidFill>
                  <a:srgbClr val="FFFFFF"/>
                </a:solidFill>
                <a:latin typeface="Montserrat ExtraBold"/>
                <a:cs typeface="Montserrat ExtraBold"/>
              </a:rPr>
              <a:t> </a:t>
            </a:r>
            <a:r>
              <a:rPr sz="2800" b="1" spc="-10" dirty="0">
                <a:solidFill>
                  <a:srgbClr val="FFFFFF"/>
                </a:solidFill>
                <a:latin typeface="Montserrat ExtraBold"/>
                <a:cs typeface="Montserrat ExtraBold"/>
              </a:rPr>
              <a:t>SÃO</a:t>
            </a:r>
            <a:r>
              <a:rPr sz="2800" b="1" spc="-25" dirty="0">
                <a:solidFill>
                  <a:srgbClr val="FFFFFF"/>
                </a:solidFill>
                <a:latin typeface="Montserrat ExtraBold"/>
                <a:cs typeface="Montserrat ExtraBold"/>
              </a:rPr>
              <a:t> </a:t>
            </a:r>
            <a:r>
              <a:rPr sz="2800" b="1" spc="-40" dirty="0">
                <a:solidFill>
                  <a:srgbClr val="FFFFFF"/>
                </a:solidFill>
                <a:latin typeface="Montserrat ExtraBold"/>
                <a:cs typeface="Montserrat ExtraBold"/>
              </a:rPr>
              <a:t>PAULO</a:t>
            </a:r>
            <a:endParaRPr sz="2800">
              <a:latin typeface="Montserrat ExtraBold"/>
              <a:cs typeface="Montserrat ExtraBold"/>
            </a:endParaRPr>
          </a:p>
          <a:p>
            <a:pPr marL="12700">
              <a:lnSpc>
                <a:spcPts val="8009"/>
              </a:lnSpc>
            </a:pPr>
            <a:r>
              <a:rPr sz="6750" spc="-25" dirty="0">
                <a:solidFill>
                  <a:srgbClr val="FFFFFF"/>
                </a:solidFill>
                <a:latin typeface="Montserrat"/>
                <a:cs typeface="Montserrat"/>
                <a:hlinkClick r:id="rId3"/>
              </a:rPr>
              <a:t>ww</a:t>
            </a:r>
            <a:r>
              <a:rPr sz="6750" spc="-220" dirty="0">
                <a:solidFill>
                  <a:srgbClr val="FFFFFF"/>
                </a:solidFill>
                <a:latin typeface="Montserrat"/>
                <a:cs typeface="Montserrat"/>
                <a:hlinkClick r:id="rId3"/>
              </a:rPr>
              <a:t>w</a:t>
            </a:r>
            <a:r>
              <a:rPr sz="6750" dirty="0">
                <a:solidFill>
                  <a:srgbClr val="FFFFFF"/>
                </a:solidFill>
                <a:latin typeface="Montserrat"/>
                <a:cs typeface="Montserrat"/>
                <a:hlinkClick r:id="rId3"/>
              </a:rPr>
              <a:t>.s</a:t>
            </a:r>
            <a:r>
              <a:rPr sz="6750" spc="-100" dirty="0">
                <a:solidFill>
                  <a:srgbClr val="FFFFFF"/>
                </a:solidFill>
                <a:latin typeface="Montserrat"/>
                <a:cs typeface="Montserrat"/>
                <a:hlinkClick r:id="rId3"/>
              </a:rPr>
              <a:t>p</a:t>
            </a:r>
            <a:r>
              <a:rPr sz="6750" spc="5" dirty="0">
                <a:solidFill>
                  <a:srgbClr val="FFFFFF"/>
                </a:solidFill>
                <a:latin typeface="Montserrat"/>
                <a:cs typeface="Montserrat"/>
                <a:hlinkClick r:id="rId3"/>
              </a:rPr>
              <a:t>.senai.br</a:t>
            </a:r>
            <a:endParaRPr sz="6750">
              <a:latin typeface="Montserrat"/>
              <a:cs typeface="Montserrat"/>
            </a:endParaRPr>
          </a:p>
        </p:txBody>
      </p:sp>
      <p:grpSp>
        <p:nvGrpSpPr>
          <p:cNvPr id="8" name="object 8"/>
          <p:cNvGrpSpPr/>
          <p:nvPr/>
        </p:nvGrpSpPr>
        <p:grpSpPr>
          <a:xfrm>
            <a:off x="0" y="4154076"/>
            <a:ext cx="20104100" cy="7154545"/>
            <a:chOff x="0" y="4154076"/>
            <a:chExt cx="20104100" cy="7154545"/>
          </a:xfrm>
        </p:grpSpPr>
        <p:sp>
          <p:nvSpPr>
            <p:cNvPr id="9" name="object 9"/>
            <p:cNvSpPr/>
            <p:nvPr/>
          </p:nvSpPr>
          <p:spPr>
            <a:xfrm>
              <a:off x="9201187" y="4154076"/>
              <a:ext cx="0" cy="3001010"/>
            </a:xfrm>
            <a:custGeom>
              <a:avLst/>
              <a:gdLst/>
              <a:ahLst/>
              <a:cxnLst/>
              <a:rect l="l" t="t" r="r" b="b"/>
              <a:pathLst>
                <a:path h="3001009">
                  <a:moveTo>
                    <a:pt x="0" y="3000400"/>
                  </a:moveTo>
                  <a:lnTo>
                    <a:pt x="0" y="0"/>
                  </a:lnTo>
                </a:path>
              </a:pathLst>
            </a:custGeom>
            <a:ln w="27831">
              <a:solidFill>
                <a:srgbClr val="FFFFFF"/>
              </a:solidFill>
            </a:ln>
          </p:spPr>
          <p:txBody>
            <a:bodyPr wrap="square" lIns="0" tIns="0" rIns="0" bIns="0" rtlCol="0"/>
            <a:lstStyle/>
            <a:p>
              <a:endParaRPr/>
            </a:p>
          </p:txBody>
        </p:sp>
        <p:sp>
          <p:nvSpPr>
            <p:cNvPr id="10" name="object 10"/>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62683b45-61c4-4cdf-aa44-14cf457257f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E28F3DA7C743224485A53C1B58CAF4DF" ma:contentTypeVersion="9" ma:contentTypeDescription="Crie um novo documento." ma:contentTypeScope="" ma:versionID="768895af51490883b819bf09e73dcd8e">
  <xsd:schema xmlns:xsd="http://www.w3.org/2001/XMLSchema" xmlns:xs="http://www.w3.org/2001/XMLSchema" xmlns:p="http://schemas.microsoft.com/office/2006/metadata/properties" xmlns:ns3="62683b45-61c4-4cdf-aa44-14cf457257fc" targetNamespace="http://schemas.microsoft.com/office/2006/metadata/properties" ma:root="true" ma:fieldsID="4e127245a2c3889ebd843725c3d98c8f" ns3:_="">
    <xsd:import namespace="62683b45-61c4-4cdf-aa44-14cf457257fc"/>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683b45-61c4-4cdf-aa44-14cf457257f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_activity" ma:index="16"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AA42D19-56A1-4D0B-AB84-67451006DC5A}">
  <ds:schemaRefs>
    <ds:schemaRef ds:uri="http://schemas.microsoft.com/office/2006/documentManagement/types"/>
    <ds:schemaRef ds:uri="http://purl.org/dc/terms/"/>
    <ds:schemaRef ds:uri="http://schemas.microsoft.com/office/2006/metadata/properties"/>
    <ds:schemaRef ds:uri="http://schemas.microsoft.com/office/infopath/2007/PartnerControls"/>
    <ds:schemaRef ds:uri="http://www.w3.org/XML/1998/namespace"/>
    <ds:schemaRef ds:uri="http://purl.org/dc/dcmitype/"/>
    <ds:schemaRef ds:uri="http://schemas.openxmlformats.org/package/2006/metadata/core-properties"/>
    <ds:schemaRef ds:uri="62683b45-61c4-4cdf-aa44-14cf457257fc"/>
    <ds:schemaRef ds:uri="http://purl.org/dc/elements/1.1/"/>
  </ds:schemaRefs>
</ds:datastoreItem>
</file>

<file path=customXml/itemProps2.xml><?xml version="1.0" encoding="utf-8"?>
<ds:datastoreItem xmlns:ds="http://schemas.openxmlformats.org/officeDocument/2006/customXml" ds:itemID="{65F35E67-04E6-4922-B19E-6681FBF95DE2}">
  <ds:schemaRefs>
    <ds:schemaRef ds:uri="http://schemas.microsoft.com/sharepoint/v3/contenttype/forms"/>
  </ds:schemaRefs>
</ds:datastoreItem>
</file>

<file path=customXml/itemProps3.xml><?xml version="1.0" encoding="utf-8"?>
<ds:datastoreItem xmlns:ds="http://schemas.openxmlformats.org/officeDocument/2006/customXml" ds:itemID="{3F1702D6-3569-4BF6-967B-C31CA83396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2683b45-61c4-4cdf-aa44-14cf457257f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347</TotalTime>
  <Words>991</Words>
  <Application>Microsoft Office PowerPoint</Application>
  <PresentationFormat>Personalizar</PresentationFormat>
  <Paragraphs>190</Paragraphs>
  <Slides>15</Slides>
  <Notes>1</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15</vt:i4>
      </vt:variant>
    </vt:vector>
  </HeadingPairs>
  <TitlesOfParts>
    <vt:vector size="22" baseType="lpstr">
      <vt:lpstr>Consolas</vt:lpstr>
      <vt:lpstr>Calibri</vt:lpstr>
      <vt:lpstr>Montserrat</vt:lpstr>
      <vt:lpstr>Montserrat Light</vt:lpstr>
      <vt:lpstr>Montserrat ExtraBold</vt:lpstr>
      <vt:lpstr>Arial</vt:lpstr>
      <vt:lpstr>Office Theme</vt:lpstr>
      <vt:lpstr>Apresentação do PowerPoint</vt:lpstr>
      <vt:lpstr>JUNÇÃO DE TABELAS NAS CONSULTAS  INNER JOIN, LEFT JOIN E RIGHT JOIN</vt:lpstr>
      <vt:lpstr>INTRODUÇÃO</vt:lpstr>
      <vt:lpstr>DIFERENTES TIPOS DE JOINS INNER, LEFT E RIGHT</vt:lpstr>
      <vt:lpstr>EXEMPLOS JUNÇÃO ENTRE ALUNOS E CURSOS</vt:lpstr>
      <vt:lpstr>EXEMPLOS JUNÇÃO ENTRE ALUNOS E CURSOS</vt:lpstr>
      <vt:lpstr>EXEMPLOS JUNÇÃO ENTRE ALUNOS E CURSOS</vt:lpstr>
      <vt:lpstr>EXEMPLOS JUNÇÃO ENTRE ALUNOS E CURSOS</vt:lpstr>
      <vt:lpstr>EXEMPLOS JUNÇÃO ENTRE ALUNOS E CURSOS</vt:lpstr>
      <vt:lpstr>EXEMPLOS JUNÇÃO ENTRE ALUNOS E CURSOS</vt:lpstr>
      <vt:lpstr>EXEMPLOS JUNÇÃO ENTRE ALUNOS E CURSOS</vt:lpstr>
      <vt:lpstr>VAMOS RESOLVER JUNTOS </vt:lpstr>
      <vt:lpstr>ATIVIDADE:SUA VEZ DE RESOLVER </vt:lpstr>
      <vt:lpstr>ATIVIDADE:SUA VEZ DE RESOLVER </vt:lpstr>
      <vt:lpstr>DEPARTAMENTO REGIONAL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template_ppt_senaisp</dc:title>
  <dc:creator>carlos</dc:creator>
  <cp:lastModifiedBy>Alexandre Vinicius Dias Simoes Brito</cp:lastModifiedBy>
  <cp:revision>31</cp:revision>
  <dcterms:created xsi:type="dcterms:W3CDTF">2021-08-24T16:20:14Z</dcterms:created>
  <dcterms:modified xsi:type="dcterms:W3CDTF">2025-10-22T19:14:11Z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2021-08-24T00:00:00Z</vt:filetime>
  </property>
  <property fmtid="{D5CDD505-2E9C-101B-9397-08002B2CF9AE}" pid="3" name="Creator">
    <vt:lpwstr>Adobe Illustrator 25.2 (Windows)</vt:lpwstr>
  </property>
  <property fmtid="{D5CDD505-2E9C-101B-9397-08002B2CF9AE}" pid="4" name="LastSaved">
    <vt:filetime>2021-08-24T00:00:00Z</vt:filetime>
  </property>
  <property fmtid="{D5CDD505-2E9C-101B-9397-08002B2CF9AE}" pid="5" name="ContentTypeId">
    <vt:lpwstr>0x010100E28F3DA7C743224485A53C1B58CAF4DF</vt:lpwstr>
  </property>
</Properties>
</file>